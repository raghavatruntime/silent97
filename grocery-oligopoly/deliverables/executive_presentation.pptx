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charts/chart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charts/chart5.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charts/chart6.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charts/chart7.xml" ContentType="application/vnd.openxmlformats-officedocument.drawingml.chart+xml"/>
  <Override PartName="/ppt/charts/chart8.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charts/chart9.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0.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062a9919-aa80-0d0f-1a09-d5e466f11922}">
          <p14:sldIdLst>
            <p14:sldId id="256"/>
            <p14:sldId id="257"/>
            <p14:sldId id="258"/>
            <p14:sldId id="259"/>
          </p14:sldIdLst>
        </p14:section>
        <p14:section name="Approach" id="{b6a6aa05-233f-15c7-2918-d9b9ab2aefea}">
          <p14:sldIdLst>
            <p14:sldId id="260"/>
          </p14:sldIdLst>
        </p14:section>
        <p14:section name="Findings" id="{0aa15fc7-26f4-8d6c-caae-502e979e77e2}">
          <p14:sldIdLst>
            <p14:sldId id="261"/>
            <p14:sldId id="262"/>
            <p14:sldId id="263"/>
            <p14:sldId id="264"/>
            <p14:sldId id="265"/>
            <p14:sldId id="266"/>
            <p14:sldId id="267"/>
          </p14:sldIdLst>
        </p14:section>
        <p14:section name="Implications" id="{9dd1ea00-4365-fbe2-57f9-7cd69bf865ff}">
          <p14:sldIdLst>
            <p14:sldId id="268"/>
            <p14:sldId id="269"/>
            <p14:sldId id="270"/>
            <p14:sldId id="271"/>
          </p14:sldIdLst>
        </p14:section>
        <p14:section name="Appendix" id="{c51c76d6-82ce-336a-2055-6f3a3d2d475a}">
          <p14:sldIdLst>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_rels/chart6.xml.rels><?xml version="1.0" encoding="UTF-8" standalone="yes"?><Relationships xmlns="http://schemas.openxmlformats.org/package/2006/relationships"><Relationship Id="rId1" Type="http://schemas.openxmlformats.org/officeDocument/2006/relationships/package" Target="../embeddings/Microsoft_Excel_Worksheet6.xlsx"/></Relationships>
</file>

<file path=ppt/charts/_rels/chart7.xml.rels><?xml version="1.0" encoding="UTF-8" standalone="yes"?><Relationships xmlns="http://schemas.openxmlformats.org/package/2006/relationships"><Relationship Id="rId1" Type="http://schemas.openxmlformats.org/officeDocument/2006/relationships/package" Target="../embeddings/Microsoft_Excel_Worksheet7.xlsx"/></Relationships>
</file>

<file path=ppt/charts/_rels/chart8.xml.rels><?xml version="1.0" encoding="UTF-8" standalone="yes"?><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Relationships xmlns="http://schemas.openxmlformats.org/package/2006/relationships"><Relationship Id="rId1" Type="http://schemas.openxmlformats.org/officeDocument/2006/relationships/package" Target="../embeddings/Microsoft_Excel_Worksheet9.xlsx"/></Relationships>
</file>

<file path=ppt/charts/_rels/chart10.xml.rels><?xml version="1.0" encoding="UTF-8" standalone="yes"?><Relationships xmlns="http://schemas.openxmlformats.org/package/2006/relationships"><Relationship Id="rId1" Type="http://schemas.openxmlformats.org/officeDocument/2006/relationships/package" Target="../embeddings/Microsoft_Excel_Worksheet10.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6202C"/>
                </a:solidFill>
                <a:latin typeface="+mn-lt"/>
              </a:defRPr>
            </a:pPr>
            <a:r>
              <a:rPr sz="1300" b="0" i="0" u="none" strike="noStrike">
                <a:solidFill>
                  <a:srgbClr val="16202C"/>
                </a:solidFill>
                <a:latin typeface="+mn-lt"/>
              </a:rPr>
              <a:t>Consumer Price Index, Canada (Jan 2020 = 100)</a:t>
            </a:r>
          </a:p>
        </c:rich>
      </c:tx>
      <c:layout/>
      <c:overlay val="0"/>
    </c:title>
    <c:autoTitleDeleted val="0"/>
    <c:plotArea>
      <c:layout/>
      <c:lineChart>
        <c:varyColors val="0"/>
        <c:ser>
          <c:idx val="0"/>
          <c:order val="0"/>
          <c:tx>
            <c:strRef>
              <c:f>Sheet1!$B$1</c:f>
              <c:strCache>
                <c:ptCount val="1"/>
                <c:pt idx="0">
                  <c:v>Food purchased from stores</c:v>
                </c:pt>
              </c:strCache>
            </c:strRef>
          </c:tx>
          <c:spPr>
            <a:solidFill>
              <a:srgbClr val="E4572E"/>
            </a:solidFill>
            <a:ln w="31750" cap="flat">
              <a:solidFill>
                <a:srgbClr val="E4572E"/>
              </a:solidFill>
              <a:prstDash val="solid"/>
              <a:round/>
            </a:ln>
            <a:effectLst/>
          </c:spPr>
          <c:invertIfNegative val="0"/>
          <c:dLbls>
            <c:numFmt formatCode="#,##0" sourceLinked="0"/>
            <c:txPr>
              <a:bodyPr/>
              <a:lstStyle/>
              <a:p>
                <a:pPr>
                  <a:defRPr b="0" i="0" strike="noStrike" sz="1100" u="none">
                    <a:solidFill>
                      <a:srgbClr val="16202C"/>
                    </a:solidFill>
                    <a:latin typeface="+mn-lt"/>
                  </a:defRPr>
                </a:pPr>
              </a:p>
            </c:txPr>
            <c:showLegendKey val="0"/>
            <c:showVal val="0"/>
            <c:showCatName val="0"/>
            <c:showSerName val="0"/>
            <c:showPercent val="0"/>
            <c:showBubbleSize val="0"/>
            <c:showLeaderLines val="0"/>
          </c:dLbls>
          <c:marker>
            <c:symbol val="none"/>
            <c:size val="6"/>
            <c:spPr>
              <a:solidFill>
                <a:srgbClr val="E4572E"/>
              </a:solidFill>
              <a:ln w="9525" cap="flat">
                <a:solidFill>
                  <a:srgbClr val="E4572E"/>
                </a:solidFill>
                <a:prstDash val="solid"/>
                <a:round/>
              </a:ln>
              <a:effectLst/>
            </c:spPr>
          </c:marker>
          <c:cat>
            <c:multiLvlStrRef>
              <c:f>Sheet1!$A$2:$A$93</c:f>
              <c:multiLvlStrCache>
                <c:ptCount val="92"/>
                <c:lvl>
                  <c:pt idx="0">
                    <c:v>2019-01</c:v>
                  </c:pt>
                  <c:pt idx="1">
                    <c:v>2019-02</c:v>
                  </c:pt>
                  <c:pt idx="2">
                    <c:v>2019-03</c:v>
                  </c:pt>
                  <c:pt idx="3">
                    <c:v>2019-04</c:v>
                  </c:pt>
                  <c:pt idx="4">
                    <c:v>2019-05</c:v>
                  </c:pt>
                  <c:pt idx="5">
                    <c:v>2019-06</c:v>
                  </c:pt>
                  <c:pt idx="6">
                    <c:v>2019-07</c:v>
                  </c:pt>
                  <c:pt idx="7">
                    <c:v>2019-08</c:v>
                  </c:pt>
                  <c:pt idx="8">
                    <c:v>2019-09</c:v>
                  </c:pt>
                  <c:pt idx="9">
                    <c:v>2019-10</c:v>
                  </c:pt>
                  <c:pt idx="10">
                    <c:v>2019-11</c:v>
                  </c:pt>
                  <c:pt idx="11">
                    <c:v>2019-12</c:v>
                  </c:pt>
                  <c:pt idx="12">
                    <c:v>2020-01</c:v>
                  </c:pt>
                  <c:pt idx="13">
                    <c:v>2020-02</c:v>
                  </c:pt>
                  <c:pt idx="14">
                    <c:v>2020-03</c:v>
                  </c:pt>
                  <c:pt idx="15">
                    <c:v>2020-04</c:v>
                  </c:pt>
                  <c:pt idx="16">
                    <c:v>2020-05</c:v>
                  </c:pt>
                  <c:pt idx="17">
                    <c:v>2020-06</c:v>
                  </c:pt>
                  <c:pt idx="18">
                    <c:v>2020-07</c:v>
                  </c:pt>
                  <c:pt idx="19">
                    <c:v>2020-08</c:v>
                  </c:pt>
                  <c:pt idx="20">
                    <c:v>2020-09</c:v>
                  </c:pt>
                  <c:pt idx="21">
                    <c:v>2020-10</c:v>
                  </c:pt>
                  <c:pt idx="22">
                    <c:v>2020-11</c:v>
                  </c:pt>
                  <c:pt idx="23">
                    <c:v>2020-12</c:v>
                  </c:pt>
                  <c:pt idx="24">
                    <c:v>2021-01</c:v>
                  </c:pt>
                  <c:pt idx="25">
                    <c:v>2021-02</c:v>
                  </c:pt>
                  <c:pt idx="26">
                    <c:v>2021-03</c:v>
                  </c:pt>
                  <c:pt idx="27">
                    <c:v>2021-04</c:v>
                  </c:pt>
                  <c:pt idx="28">
                    <c:v>2021-05</c:v>
                  </c:pt>
                  <c:pt idx="29">
                    <c:v>2021-06</c:v>
                  </c:pt>
                  <c:pt idx="30">
                    <c:v>2021-07</c:v>
                  </c:pt>
                  <c:pt idx="31">
                    <c:v>2021-08</c:v>
                  </c:pt>
                  <c:pt idx="32">
                    <c:v>2021-09</c:v>
                  </c:pt>
                  <c:pt idx="33">
                    <c:v>2021-10</c:v>
                  </c:pt>
                  <c:pt idx="34">
                    <c:v>2021-11</c:v>
                  </c:pt>
                  <c:pt idx="35">
                    <c:v>2021-12</c:v>
                  </c:pt>
                  <c:pt idx="36">
                    <c:v>2022-01</c:v>
                  </c:pt>
                  <c:pt idx="37">
                    <c:v>2022-02</c:v>
                  </c:pt>
                  <c:pt idx="38">
                    <c:v>2022-03</c:v>
                  </c:pt>
                  <c:pt idx="39">
                    <c:v>2022-04</c:v>
                  </c:pt>
                  <c:pt idx="40">
                    <c:v>2022-05</c:v>
                  </c:pt>
                  <c:pt idx="41">
                    <c:v>2022-06</c:v>
                  </c:pt>
                  <c:pt idx="42">
                    <c:v>2022-07</c:v>
                  </c:pt>
                  <c:pt idx="43">
                    <c:v>2022-08</c:v>
                  </c:pt>
                  <c:pt idx="44">
                    <c:v>2022-09</c:v>
                  </c:pt>
                  <c:pt idx="45">
                    <c:v>2022-10</c:v>
                  </c:pt>
                  <c:pt idx="46">
                    <c:v>2022-11</c:v>
                  </c:pt>
                  <c:pt idx="47">
                    <c:v>2022-12</c:v>
                  </c:pt>
                  <c:pt idx="48">
                    <c:v>2023-01</c:v>
                  </c:pt>
                  <c:pt idx="49">
                    <c:v>2023-02</c:v>
                  </c:pt>
                  <c:pt idx="50">
                    <c:v>2023-03</c:v>
                  </c:pt>
                  <c:pt idx="51">
                    <c:v>2023-04</c:v>
                  </c:pt>
                  <c:pt idx="52">
                    <c:v>2023-05</c:v>
                  </c:pt>
                  <c:pt idx="53">
                    <c:v>2023-06</c:v>
                  </c:pt>
                  <c:pt idx="54">
                    <c:v>2023-07</c:v>
                  </c:pt>
                  <c:pt idx="55">
                    <c:v>2023-08</c:v>
                  </c:pt>
                  <c:pt idx="56">
                    <c:v>2023-09</c:v>
                  </c:pt>
                  <c:pt idx="57">
                    <c:v>2023-10</c:v>
                  </c:pt>
                  <c:pt idx="58">
                    <c:v>2023-11</c:v>
                  </c:pt>
                  <c:pt idx="59">
                    <c:v>2023-12</c:v>
                  </c:pt>
                  <c:pt idx="60">
                    <c:v>2024-01</c:v>
                  </c:pt>
                  <c:pt idx="61">
                    <c:v>2024-02</c:v>
                  </c:pt>
                  <c:pt idx="62">
                    <c:v>2024-03</c:v>
                  </c:pt>
                  <c:pt idx="63">
                    <c:v>2024-04</c:v>
                  </c:pt>
                  <c:pt idx="64">
                    <c:v>2024-05</c:v>
                  </c:pt>
                  <c:pt idx="65">
                    <c:v>2024-06</c:v>
                  </c:pt>
                  <c:pt idx="66">
                    <c:v>2024-07</c:v>
                  </c:pt>
                  <c:pt idx="67">
                    <c:v>2024-08</c:v>
                  </c:pt>
                  <c:pt idx="68">
                    <c:v>2024-09</c:v>
                  </c:pt>
                  <c:pt idx="69">
                    <c:v>2024-10</c:v>
                  </c:pt>
                  <c:pt idx="70">
                    <c:v>2024-11</c:v>
                  </c:pt>
                  <c:pt idx="71">
                    <c:v>2024-12</c:v>
                  </c:pt>
                  <c:pt idx="72">
                    <c:v>2025-01</c:v>
                  </c:pt>
                  <c:pt idx="73">
                    <c:v>2025-02</c:v>
                  </c:pt>
                  <c:pt idx="74">
                    <c:v>2025-03</c:v>
                  </c:pt>
                  <c:pt idx="75">
                    <c:v>2025-04</c:v>
                  </c:pt>
                  <c:pt idx="76">
                    <c:v>2025-05</c:v>
                  </c:pt>
                  <c:pt idx="77">
                    <c:v>2025-06</c:v>
                  </c:pt>
                  <c:pt idx="78">
                    <c:v>2025-07</c:v>
                  </c:pt>
                  <c:pt idx="79">
                    <c:v>2025-08</c:v>
                  </c:pt>
                  <c:pt idx="80">
                    <c:v>2025-09</c:v>
                  </c:pt>
                  <c:pt idx="81">
                    <c:v>2025-10</c:v>
                  </c:pt>
                  <c:pt idx="82">
                    <c:v>2025-11</c:v>
                  </c:pt>
                  <c:pt idx="83">
                    <c:v>2025-12</c:v>
                  </c:pt>
                  <c:pt idx="84">
                    <c:v>2026-01</c:v>
                  </c:pt>
                  <c:pt idx="85">
                    <c:v>2026-02</c:v>
                  </c:pt>
                  <c:pt idx="86">
                    <c:v>2026-03</c:v>
                  </c:pt>
                  <c:pt idx="87">
                    <c:v>2026-04</c:v>
                  </c:pt>
                  <c:pt idx="88">
                    <c:v>2026-05</c:v>
                  </c:pt>
                  <c:pt idx="89">
                    <c:v>2026-06</c:v>
                  </c:pt>
                  <c:pt idx="90">
                    <c:v>2026-07</c:v>
                  </c:pt>
                  <c:pt idx="91">
                    <c:v>2026-08</c:v>
                  </c:pt>
                </c:lvl>
              </c:multiLvlStrCache>
            </c:multiLvlStrRef>
          </c:cat>
          <c:val>
            <c:numRef>
              <c:f>Sheet1!$B$2:$B$93</c:f>
              <c:numCache>
                <c:formatCode>General</c:formatCode>
                <c:ptCount val="92"/>
                <c:pt idx="0">
                  <c:v>96.4</c:v>
                </c:pt>
                <c:pt idx="1">
                  <c:v>97</c:v>
                </c:pt>
                <c:pt idx="2">
                  <c:v>97</c:v>
                </c:pt>
                <c:pt idx="3">
                  <c:v>96.4</c:v>
                </c:pt>
                <c:pt idx="4">
                  <c:v>97</c:v>
                </c:pt>
                <c:pt idx="5">
                  <c:v>97.8</c:v>
                </c:pt>
                <c:pt idx="6">
                  <c:v>98.5</c:v>
                </c:pt>
                <c:pt idx="7">
                  <c:v>97.9</c:v>
                </c:pt>
                <c:pt idx="8">
                  <c:v>97.1</c:v>
                </c:pt>
                <c:pt idx="9">
                  <c:v>96.6</c:v>
                </c:pt>
                <c:pt idx="10">
                  <c:v>97.8</c:v>
                </c:pt>
                <c:pt idx="11">
                  <c:v>98.5</c:v>
                </c:pt>
                <c:pt idx="12">
                  <c:v>100</c:v>
                </c:pt>
                <c:pt idx="13">
                  <c:v>99.3</c:v>
                </c:pt>
                <c:pt idx="14">
                  <c:v>99.3</c:v>
                </c:pt>
                <c:pt idx="15">
                  <c:v>100.2</c:v>
                </c:pt>
                <c:pt idx="16">
                  <c:v>100.5</c:v>
                </c:pt>
                <c:pt idx="17">
                  <c:v>100.8</c:v>
                </c:pt>
                <c:pt idx="18">
                  <c:v>100.9</c:v>
                </c:pt>
                <c:pt idx="19">
                  <c:v>99.5</c:v>
                </c:pt>
                <c:pt idx="20">
                  <c:v>98.4</c:v>
                </c:pt>
                <c:pt idx="21">
                  <c:v>98.9</c:v>
                </c:pt>
                <c:pt idx="22">
                  <c:v>99.3</c:v>
                </c:pt>
                <c:pt idx="23">
                  <c:v>99.1</c:v>
                </c:pt>
                <c:pt idx="24">
                  <c:v>100.1</c:v>
                </c:pt>
                <c:pt idx="25">
                  <c:v>100.7</c:v>
                </c:pt>
                <c:pt idx="26">
                  <c:v>100.6</c:v>
                </c:pt>
                <c:pt idx="27">
                  <c:v>100.3</c:v>
                </c:pt>
                <c:pt idx="28">
                  <c:v>101.3</c:v>
                </c:pt>
                <c:pt idx="29">
                  <c:v>101.5</c:v>
                </c:pt>
                <c:pt idx="30">
                  <c:v>101.8</c:v>
                </c:pt>
                <c:pt idx="31">
                  <c:v>102</c:v>
                </c:pt>
                <c:pt idx="32">
                  <c:v>102.5</c:v>
                </c:pt>
                <c:pt idx="33">
                  <c:v>102.8</c:v>
                </c:pt>
                <c:pt idx="34">
                  <c:v>104</c:v>
                </c:pt>
                <c:pt idx="35">
                  <c:v>104.7</c:v>
                </c:pt>
                <c:pt idx="36">
                  <c:v>106.5</c:v>
                </c:pt>
                <c:pt idx="37">
                  <c:v>108.1</c:v>
                </c:pt>
                <c:pt idx="38">
                  <c:v>109.3</c:v>
                </c:pt>
                <c:pt idx="39">
                  <c:v>110</c:v>
                </c:pt>
                <c:pt idx="40">
                  <c:v>111.1</c:v>
                </c:pt>
                <c:pt idx="41">
                  <c:v>111</c:v>
                </c:pt>
                <c:pt idx="42">
                  <c:v>111.9</c:v>
                </c:pt>
                <c:pt idx="43">
                  <c:v>113.1</c:v>
                </c:pt>
                <c:pt idx="44">
                  <c:v>114.2</c:v>
                </c:pt>
                <c:pt idx="45">
                  <c:v>114.1</c:v>
                </c:pt>
                <c:pt idx="46">
                  <c:v>115.9</c:v>
                </c:pt>
                <c:pt idx="47">
                  <c:v>116.3</c:v>
                </c:pt>
                <c:pt idx="48">
                  <c:v>118.7</c:v>
                </c:pt>
                <c:pt idx="49">
                  <c:v>119.5</c:v>
                </c:pt>
                <c:pt idx="50">
                  <c:v>119.9</c:v>
                </c:pt>
                <c:pt idx="51">
                  <c:v>120.1</c:v>
                </c:pt>
                <c:pt idx="52">
                  <c:v>121.2</c:v>
                </c:pt>
                <c:pt idx="53">
                  <c:v>121.1</c:v>
                </c:pt>
                <c:pt idx="54">
                  <c:v>121.4</c:v>
                </c:pt>
                <c:pt idx="55">
                  <c:v>120.9</c:v>
                </c:pt>
                <c:pt idx="56">
                  <c:v>120.8</c:v>
                </c:pt>
                <c:pt idx="57">
                  <c:v>120.3</c:v>
                </c:pt>
                <c:pt idx="58">
                  <c:v>121.3</c:v>
                </c:pt>
                <c:pt idx="59">
                  <c:v>121.7</c:v>
                </c:pt>
                <c:pt idx="60">
                  <c:v>122.7</c:v>
                </c:pt>
                <c:pt idx="61">
                  <c:v>122.4</c:v>
                </c:pt>
                <c:pt idx="62">
                  <c:v>122.1</c:v>
                </c:pt>
                <c:pt idx="63">
                  <c:v>121.7</c:v>
                </c:pt>
                <c:pt idx="64">
                  <c:v>123</c:v>
                </c:pt>
                <c:pt idx="65">
                  <c:v>123.7</c:v>
                </c:pt>
                <c:pt idx="66">
                  <c:v>124</c:v>
                </c:pt>
                <c:pt idx="67">
                  <c:v>123.8</c:v>
                </c:pt>
                <c:pt idx="68">
                  <c:v>123.7</c:v>
                </c:pt>
                <c:pt idx="69">
                  <c:v>123.6</c:v>
                </c:pt>
                <c:pt idx="70">
                  <c:v>124.4</c:v>
                </c:pt>
                <c:pt idx="71">
                  <c:v>124</c:v>
                </c:pt>
                <c:pt idx="72">
                  <c:v>125</c:v>
                </c:pt>
                <c:pt idx="73">
                  <c:v>125.9</c:v>
                </c:pt>
                <c:pt idx="74">
                  <c:v>126</c:v>
                </c:pt>
                <c:pt idx="75">
                  <c:v>126.4</c:v>
                </c:pt>
                <c:pt idx="76">
                  <c:v>127.1</c:v>
                </c:pt>
                <c:pt idx="77">
                  <c:v>127.2</c:v>
                </c:pt>
                <c:pt idx="78">
                  <c:v>128.2</c:v>
                </c:pt>
                <c:pt idx="79">
                  <c:v>128.1</c:v>
                </c:pt>
                <c:pt idx="80">
                  <c:v>128.6</c:v>
                </c:pt>
                <c:pt idx="81">
                  <c:v>127.8</c:v>
                </c:pt>
                <c:pt idx="82">
                  <c:v>130.2</c:v>
                </c:pt>
                <c:pt idx="83">
                  <c:v>130.2</c:v>
                </c:pt>
                <c:pt idx="84">
                  <c:v>131</c:v>
                </c:pt>
                <c:pt idx="85">
                  <c:v>131</c:v>
                </c:pt>
                <c:pt idx="86">
                  <c:v>131.5</c:v>
                </c:pt>
                <c:pt idx="87">
                  <c:v>131.2</c:v>
                </c:pt>
                <c:pt idx="88">
                  <c:v>132.5</c:v>
                </c:pt>
                <c:pt idx="89">
                  <c:v>132.1</c:v>
                </c:pt>
                <c:pt idx="90">
                  <c:v>132.3</c:v>
                </c:pt>
                <c:pt idx="91">
                  <c:v>131.7</c:v>
                </c:pt>
              </c:numCache>
            </c:numRef>
          </c:val>
          <c:smooth val="0"/>
        </c:ser>
        <c:ser>
          <c:idx val="1"/>
          <c:order val="1"/>
          <c:tx>
            <c:strRef>
              <c:f>Sheet1!$C$1</c:f>
              <c:strCache>
                <c:ptCount val="1"/>
                <c:pt idx="0">
                  <c:v>All items</c:v>
                </c:pt>
              </c:strCache>
            </c:strRef>
          </c:tx>
          <c:spPr>
            <a:solidFill>
              <a:srgbClr val="8A8F98"/>
            </a:solidFill>
            <a:ln w="31750" cap="flat">
              <a:solidFill>
                <a:srgbClr val="8A8F98"/>
              </a:solidFill>
              <a:prstDash val="solid"/>
              <a:round/>
            </a:ln>
            <a:effectLst/>
          </c:spPr>
          <c:invertIfNegative val="0"/>
          <c:dLbls>
            <c:numFmt formatCode="#,##0" sourceLinked="0"/>
            <c:txPr>
              <a:bodyPr/>
              <a:lstStyle/>
              <a:p>
                <a:pPr>
                  <a:defRPr b="0" i="0" strike="noStrike" sz="1100" u="none">
                    <a:solidFill>
                      <a:srgbClr val="16202C"/>
                    </a:solidFill>
                    <a:latin typeface="+mn-lt"/>
                  </a:defRPr>
                </a:pPr>
              </a:p>
            </c:txPr>
            <c:showLegendKey val="0"/>
            <c:showVal val="0"/>
            <c:showCatName val="0"/>
            <c:showSerName val="0"/>
            <c:showPercent val="0"/>
            <c:showBubbleSize val="0"/>
            <c:showLeaderLines val="0"/>
          </c:dLbls>
          <c:marker>
            <c:symbol val="none"/>
            <c:size val="6"/>
            <c:spPr>
              <a:solidFill>
                <a:srgbClr val="8A8F98"/>
              </a:solidFill>
              <a:ln w="9525" cap="flat">
                <a:solidFill>
                  <a:srgbClr val="8A8F98"/>
                </a:solidFill>
                <a:prstDash val="solid"/>
                <a:round/>
              </a:ln>
              <a:effectLst/>
            </c:spPr>
          </c:marker>
          <c:cat>
            <c:multiLvlStrRef>
              <c:f>Sheet1!$A$2:$A$93</c:f>
              <c:multiLvlStrCache>
                <c:ptCount val="92"/>
                <c:lvl>
                  <c:pt idx="0">
                    <c:v>2019-01</c:v>
                  </c:pt>
                  <c:pt idx="1">
                    <c:v>2019-02</c:v>
                  </c:pt>
                  <c:pt idx="2">
                    <c:v>2019-03</c:v>
                  </c:pt>
                  <c:pt idx="3">
                    <c:v>2019-04</c:v>
                  </c:pt>
                  <c:pt idx="4">
                    <c:v>2019-05</c:v>
                  </c:pt>
                  <c:pt idx="5">
                    <c:v>2019-06</c:v>
                  </c:pt>
                  <c:pt idx="6">
                    <c:v>2019-07</c:v>
                  </c:pt>
                  <c:pt idx="7">
                    <c:v>2019-08</c:v>
                  </c:pt>
                  <c:pt idx="8">
                    <c:v>2019-09</c:v>
                  </c:pt>
                  <c:pt idx="9">
                    <c:v>2019-10</c:v>
                  </c:pt>
                  <c:pt idx="10">
                    <c:v>2019-11</c:v>
                  </c:pt>
                  <c:pt idx="11">
                    <c:v>2019-12</c:v>
                  </c:pt>
                  <c:pt idx="12">
                    <c:v>2020-01</c:v>
                  </c:pt>
                  <c:pt idx="13">
                    <c:v>2020-02</c:v>
                  </c:pt>
                  <c:pt idx="14">
                    <c:v>2020-03</c:v>
                  </c:pt>
                  <c:pt idx="15">
                    <c:v>2020-04</c:v>
                  </c:pt>
                  <c:pt idx="16">
                    <c:v>2020-05</c:v>
                  </c:pt>
                  <c:pt idx="17">
                    <c:v>2020-06</c:v>
                  </c:pt>
                  <c:pt idx="18">
                    <c:v>2020-07</c:v>
                  </c:pt>
                  <c:pt idx="19">
                    <c:v>2020-08</c:v>
                  </c:pt>
                  <c:pt idx="20">
                    <c:v>2020-09</c:v>
                  </c:pt>
                  <c:pt idx="21">
                    <c:v>2020-10</c:v>
                  </c:pt>
                  <c:pt idx="22">
                    <c:v>2020-11</c:v>
                  </c:pt>
                  <c:pt idx="23">
                    <c:v>2020-12</c:v>
                  </c:pt>
                  <c:pt idx="24">
                    <c:v>2021-01</c:v>
                  </c:pt>
                  <c:pt idx="25">
                    <c:v>2021-02</c:v>
                  </c:pt>
                  <c:pt idx="26">
                    <c:v>2021-03</c:v>
                  </c:pt>
                  <c:pt idx="27">
                    <c:v>2021-04</c:v>
                  </c:pt>
                  <c:pt idx="28">
                    <c:v>2021-05</c:v>
                  </c:pt>
                  <c:pt idx="29">
                    <c:v>2021-06</c:v>
                  </c:pt>
                  <c:pt idx="30">
                    <c:v>2021-07</c:v>
                  </c:pt>
                  <c:pt idx="31">
                    <c:v>2021-08</c:v>
                  </c:pt>
                  <c:pt idx="32">
                    <c:v>2021-09</c:v>
                  </c:pt>
                  <c:pt idx="33">
                    <c:v>2021-10</c:v>
                  </c:pt>
                  <c:pt idx="34">
                    <c:v>2021-11</c:v>
                  </c:pt>
                  <c:pt idx="35">
                    <c:v>2021-12</c:v>
                  </c:pt>
                  <c:pt idx="36">
                    <c:v>2022-01</c:v>
                  </c:pt>
                  <c:pt idx="37">
                    <c:v>2022-02</c:v>
                  </c:pt>
                  <c:pt idx="38">
                    <c:v>2022-03</c:v>
                  </c:pt>
                  <c:pt idx="39">
                    <c:v>2022-04</c:v>
                  </c:pt>
                  <c:pt idx="40">
                    <c:v>2022-05</c:v>
                  </c:pt>
                  <c:pt idx="41">
                    <c:v>2022-06</c:v>
                  </c:pt>
                  <c:pt idx="42">
                    <c:v>2022-07</c:v>
                  </c:pt>
                  <c:pt idx="43">
                    <c:v>2022-08</c:v>
                  </c:pt>
                  <c:pt idx="44">
                    <c:v>2022-09</c:v>
                  </c:pt>
                  <c:pt idx="45">
                    <c:v>2022-10</c:v>
                  </c:pt>
                  <c:pt idx="46">
                    <c:v>2022-11</c:v>
                  </c:pt>
                  <c:pt idx="47">
                    <c:v>2022-12</c:v>
                  </c:pt>
                  <c:pt idx="48">
                    <c:v>2023-01</c:v>
                  </c:pt>
                  <c:pt idx="49">
                    <c:v>2023-02</c:v>
                  </c:pt>
                  <c:pt idx="50">
                    <c:v>2023-03</c:v>
                  </c:pt>
                  <c:pt idx="51">
                    <c:v>2023-04</c:v>
                  </c:pt>
                  <c:pt idx="52">
                    <c:v>2023-05</c:v>
                  </c:pt>
                  <c:pt idx="53">
                    <c:v>2023-06</c:v>
                  </c:pt>
                  <c:pt idx="54">
                    <c:v>2023-07</c:v>
                  </c:pt>
                  <c:pt idx="55">
                    <c:v>2023-08</c:v>
                  </c:pt>
                  <c:pt idx="56">
                    <c:v>2023-09</c:v>
                  </c:pt>
                  <c:pt idx="57">
                    <c:v>2023-10</c:v>
                  </c:pt>
                  <c:pt idx="58">
                    <c:v>2023-11</c:v>
                  </c:pt>
                  <c:pt idx="59">
                    <c:v>2023-12</c:v>
                  </c:pt>
                  <c:pt idx="60">
                    <c:v>2024-01</c:v>
                  </c:pt>
                  <c:pt idx="61">
                    <c:v>2024-02</c:v>
                  </c:pt>
                  <c:pt idx="62">
                    <c:v>2024-03</c:v>
                  </c:pt>
                  <c:pt idx="63">
                    <c:v>2024-04</c:v>
                  </c:pt>
                  <c:pt idx="64">
                    <c:v>2024-05</c:v>
                  </c:pt>
                  <c:pt idx="65">
                    <c:v>2024-06</c:v>
                  </c:pt>
                  <c:pt idx="66">
                    <c:v>2024-07</c:v>
                  </c:pt>
                  <c:pt idx="67">
                    <c:v>2024-08</c:v>
                  </c:pt>
                  <c:pt idx="68">
                    <c:v>2024-09</c:v>
                  </c:pt>
                  <c:pt idx="69">
                    <c:v>2024-10</c:v>
                  </c:pt>
                  <c:pt idx="70">
                    <c:v>2024-11</c:v>
                  </c:pt>
                  <c:pt idx="71">
                    <c:v>2024-12</c:v>
                  </c:pt>
                  <c:pt idx="72">
                    <c:v>2025-01</c:v>
                  </c:pt>
                  <c:pt idx="73">
                    <c:v>2025-02</c:v>
                  </c:pt>
                  <c:pt idx="74">
                    <c:v>2025-03</c:v>
                  </c:pt>
                  <c:pt idx="75">
                    <c:v>2025-04</c:v>
                  </c:pt>
                  <c:pt idx="76">
                    <c:v>2025-05</c:v>
                  </c:pt>
                  <c:pt idx="77">
                    <c:v>2025-06</c:v>
                  </c:pt>
                  <c:pt idx="78">
                    <c:v>2025-07</c:v>
                  </c:pt>
                  <c:pt idx="79">
                    <c:v>2025-08</c:v>
                  </c:pt>
                  <c:pt idx="80">
                    <c:v>2025-09</c:v>
                  </c:pt>
                  <c:pt idx="81">
                    <c:v>2025-10</c:v>
                  </c:pt>
                  <c:pt idx="82">
                    <c:v>2025-11</c:v>
                  </c:pt>
                  <c:pt idx="83">
                    <c:v>2025-12</c:v>
                  </c:pt>
                  <c:pt idx="84">
                    <c:v>2026-01</c:v>
                  </c:pt>
                  <c:pt idx="85">
                    <c:v>2026-02</c:v>
                  </c:pt>
                  <c:pt idx="86">
                    <c:v>2026-03</c:v>
                  </c:pt>
                  <c:pt idx="87">
                    <c:v>2026-04</c:v>
                  </c:pt>
                  <c:pt idx="88">
                    <c:v>2026-05</c:v>
                  </c:pt>
                  <c:pt idx="89">
                    <c:v>2026-06</c:v>
                  </c:pt>
                  <c:pt idx="90">
                    <c:v>2026-07</c:v>
                  </c:pt>
                  <c:pt idx="91">
                    <c:v>2026-08</c:v>
                  </c:pt>
                </c:lvl>
              </c:multiLvlStrCache>
            </c:multiLvlStrRef>
          </c:cat>
          <c:val>
            <c:numRef>
              <c:f>Sheet1!$C$2:$C$93</c:f>
              <c:numCache>
                <c:formatCode>General</c:formatCode>
                <c:ptCount val="92"/>
                <c:pt idx="0">
                  <c:v>97.7</c:v>
                </c:pt>
                <c:pt idx="1">
                  <c:v>98.3</c:v>
                </c:pt>
                <c:pt idx="2">
                  <c:v>99</c:v>
                </c:pt>
                <c:pt idx="3">
                  <c:v>99.4</c:v>
                </c:pt>
                <c:pt idx="4">
                  <c:v>99.9</c:v>
                </c:pt>
                <c:pt idx="5">
                  <c:v>99.6</c:v>
                </c:pt>
                <c:pt idx="6">
                  <c:v>100.1</c:v>
                </c:pt>
                <c:pt idx="7">
                  <c:v>100</c:v>
                </c:pt>
                <c:pt idx="8">
                  <c:v>99.6</c:v>
                </c:pt>
                <c:pt idx="9">
                  <c:v>99.9</c:v>
                </c:pt>
                <c:pt idx="10">
                  <c:v>99.7</c:v>
                </c:pt>
                <c:pt idx="11">
                  <c:v>99.7</c:v>
                </c:pt>
                <c:pt idx="12">
                  <c:v>100</c:v>
                </c:pt>
                <c:pt idx="13">
                  <c:v>100.4</c:v>
                </c:pt>
                <c:pt idx="14">
                  <c:v>99.9</c:v>
                </c:pt>
                <c:pt idx="15">
                  <c:v>99.2</c:v>
                </c:pt>
                <c:pt idx="16">
                  <c:v>99.5</c:v>
                </c:pt>
                <c:pt idx="17">
                  <c:v>100.3</c:v>
                </c:pt>
                <c:pt idx="18">
                  <c:v>100.3</c:v>
                </c:pt>
                <c:pt idx="19">
                  <c:v>100.1</c:v>
                </c:pt>
                <c:pt idx="20">
                  <c:v>100.1</c:v>
                </c:pt>
                <c:pt idx="21">
                  <c:v>100.5</c:v>
                </c:pt>
                <c:pt idx="22">
                  <c:v>100.7</c:v>
                </c:pt>
                <c:pt idx="23">
                  <c:v>100.4</c:v>
                </c:pt>
                <c:pt idx="24">
                  <c:v>101</c:v>
                </c:pt>
                <c:pt idx="25">
                  <c:v>101.5</c:v>
                </c:pt>
                <c:pt idx="26">
                  <c:v>102</c:v>
                </c:pt>
                <c:pt idx="27">
                  <c:v>102.6</c:v>
                </c:pt>
                <c:pt idx="28">
                  <c:v>103.1</c:v>
                </c:pt>
                <c:pt idx="29">
                  <c:v>103.4</c:v>
                </c:pt>
                <c:pt idx="30">
                  <c:v>104</c:v>
                </c:pt>
                <c:pt idx="31">
                  <c:v>104.2</c:v>
                </c:pt>
                <c:pt idx="32">
                  <c:v>104.5</c:v>
                </c:pt>
                <c:pt idx="33">
                  <c:v>105.2</c:v>
                </c:pt>
                <c:pt idx="34">
                  <c:v>105.4</c:v>
                </c:pt>
                <c:pt idx="35">
                  <c:v>105.3</c:v>
                </c:pt>
                <c:pt idx="36">
                  <c:v>106.2</c:v>
                </c:pt>
                <c:pt idx="37">
                  <c:v>107.3</c:v>
                </c:pt>
                <c:pt idx="38">
                  <c:v>108.8</c:v>
                </c:pt>
                <c:pt idx="39">
                  <c:v>109.5</c:v>
                </c:pt>
                <c:pt idx="40">
                  <c:v>111</c:v>
                </c:pt>
                <c:pt idx="41">
                  <c:v>111.8</c:v>
                </c:pt>
                <c:pt idx="42">
                  <c:v>111.9</c:v>
                </c:pt>
                <c:pt idx="43">
                  <c:v>111.5</c:v>
                </c:pt>
                <c:pt idx="44">
                  <c:v>111.6</c:v>
                </c:pt>
                <c:pt idx="45">
                  <c:v>112.4</c:v>
                </c:pt>
                <c:pt idx="46">
                  <c:v>112.6</c:v>
                </c:pt>
                <c:pt idx="47">
                  <c:v>111.9</c:v>
                </c:pt>
                <c:pt idx="48">
                  <c:v>112.5</c:v>
                </c:pt>
                <c:pt idx="49">
                  <c:v>112.9</c:v>
                </c:pt>
                <c:pt idx="50">
                  <c:v>113.5</c:v>
                </c:pt>
                <c:pt idx="51">
                  <c:v>114.3</c:v>
                </c:pt>
                <c:pt idx="52">
                  <c:v>114.8</c:v>
                </c:pt>
                <c:pt idx="53">
                  <c:v>114.9</c:v>
                </c:pt>
                <c:pt idx="54">
                  <c:v>115.6</c:v>
                </c:pt>
                <c:pt idx="55">
                  <c:v>116</c:v>
                </c:pt>
                <c:pt idx="56">
                  <c:v>115.9</c:v>
                </c:pt>
                <c:pt idx="57">
                  <c:v>115.9</c:v>
                </c:pt>
                <c:pt idx="58">
                  <c:v>116.1</c:v>
                </c:pt>
                <c:pt idx="59">
                  <c:v>115.7</c:v>
                </c:pt>
                <c:pt idx="60">
                  <c:v>115.7</c:v>
                </c:pt>
                <c:pt idx="61">
                  <c:v>116.1</c:v>
                </c:pt>
                <c:pt idx="62">
                  <c:v>116.8</c:v>
                </c:pt>
                <c:pt idx="63">
                  <c:v>117.4</c:v>
                </c:pt>
                <c:pt idx="64">
                  <c:v>118.1</c:v>
                </c:pt>
                <c:pt idx="65">
                  <c:v>118</c:v>
                </c:pt>
                <c:pt idx="66">
                  <c:v>118.5</c:v>
                </c:pt>
                <c:pt idx="67">
                  <c:v>118.3</c:v>
                </c:pt>
                <c:pt idx="68">
                  <c:v>117.8</c:v>
                </c:pt>
                <c:pt idx="69">
                  <c:v>118.3</c:v>
                </c:pt>
                <c:pt idx="70">
                  <c:v>118.3</c:v>
                </c:pt>
                <c:pt idx="71">
                  <c:v>117.8</c:v>
                </c:pt>
                <c:pt idx="72">
                  <c:v>117.9</c:v>
                </c:pt>
                <c:pt idx="73">
                  <c:v>119.2</c:v>
                </c:pt>
                <c:pt idx="74">
                  <c:v>119.5</c:v>
                </c:pt>
                <c:pt idx="75">
                  <c:v>119.4</c:v>
                </c:pt>
                <c:pt idx="76">
                  <c:v>120.1</c:v>
                </c:pt>
                <c:pt idx="77">
                  <c:v>120.2</c:v>
                </c:pt>
                <c:pt idx="78">
                  <c:v>120.5</c:v>
                </c:pt>
                <c:pt idx="79">
                  <c:v>120.5</c:v>
                </c:pt>
                <c:pt idx="80">
                  <c:v>120.5</c:v>
                </c:pt>
                <c:pt idx="81">
                  <c:v>120.8</c:v>
                </c:pt>
                <c:pt idx="82">
                  <c:v>120.9</c:v>
                </c:pt>
                <c:pt idx="83">
                  <c:v>120.6</c:v>
                </c:pt>
                <c:pt idx="84">
                  <c:v>120.6</c:v>
                </c:pt>
                <c:pt idx="85">
                  <c:v>121.3</c:v>
                </c:pt>
                <c:pt idx="86">
                  <c:v>122.4</c:v>
                </c:pt>
                <c:pt idx="87">
                  <c:v>122.8</c:v>
                </c:pt>
                <c:pt idx="88">
                  <c:v>124</c:v>
                </c:pt>
                <c:pt idx="89">
                  <c:v>123.5</c:v>
                </c:pt>
                <c:pt idx="90">
                  <c:v>124.2</c:v>
                </c:pt>
                <c:pt idx="91">
                  <c:v>124.1</c:v>
                </c:pt>
              </c:numCache>
            </c:numRef>
          </c:val>
          <c:smooth val="0"/>
        </c:ser>
        <c:dLbls>
          <c:numFmt formatCode="#,##0" sourceLinked="0"/>
          <c:txPr>
            <a:bodyPr/>
            <a:lstStyle/>
            <a:p>
              <a:pPr>
                <a:defRPr b="0" i="0" strike="noStrike" sz="1100" u="none">
                  <a:solidFill>
                    <a:srgbClr val="16202C"/>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4A5563"/>
                </a:solidFill>
                <a:latin typeface="+mn-lt"/>
              </a:defRPr>
            </a:pPr>
            <a:endParaRPr lang="en-US"/>
          </a:p>
        </c:txPr>
        <c:crossAx val="2094734552"/>
        <c:crosses val="autoZero"/>
        <c:auto val="1"/>
        <c:lblAlgn val="ctr"/>
        <c:noMultiLvlLbl val="1"/>
        <c:tickLblSkip val="12"/>
      </c:catAx>
      <c:valAx>
        <c:axId val="2094734552"/>
        <c:scaling>
          <c:orientation val="minMax"/>
          <c:min val="90"/>
        </c:scaling>
        <c:delete val="0"/>
        <c:axPos val="l"/>
        <c:majorGridlines>
          <c:spPr>
            <a:ln w="9525" cap="flat">
              <a:solidFill>
                <a:srgbClr val="E3E6EA"/>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4A556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4A556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6202C"/>
                </a:solidFill>
                <a:latin typeface="+mn-lt"/>
              </a:defRPr>
            </a:pPr>
            <a:r>
              <a:rPr sz="1300" b="0" i="0" u="none" strike="noStrike">
                <a:solidFill>
                  <a:srgbClr val="16202C"/>
                </a:solidFill>
                <a:latin typeface="+mn-lt"/>
              </a:rPr>
              <a:t>Validation: price change Aug 2024 → latest (%)</a:t>
            </a:r>
          </a:p>
        </c:rich>
      </c:tx>
      <c:layout/>
      <c:overlay val="0"/>
    </c:title>
    <c:autoTitleDeleted val="0"/>
    <c:plotArea>
      <c:layout/>
      <c:barChart>
        <c:barDir val="bar"/>
        <c:grouping val="clustered"/>
        <c:varyColors val="0"/>
        <c:ser>
          <c:idx val="0"/>
          <c:order val="0"/>
          <c:tx>
            <c:strRef>
              <c:f>Sheet1!$B$1</c:f>
              <c:strCache>
                <c:ptCount val="1"/>
                <c:pt idx="0">
                  <c:v>Change since Aug 2024</c:v>
                </c:pt>
              </c:strCache>
            </c:strRef>
          </c:tx>
          <c:spPr>
            <a:solidFill>
              <a:srgbClr val="1BAF7A"/>
            </a:solidFill>
            <a:effectLst/>
          </c:spPr>
          <c:invertIfNegative val="0"/>
          <c:dLbls>
            <c:numFmt formatCode="0.0&quot;%&quot;" sourceLinked="0"/>
            <c:txPr>
              <a:bodyPr/>
              <a:lstStyle/>
              <a:p>
                <a:pPr>
                  <a:defRPr b="0" i="0" strike="noStrike" sz="1100" u="none">
                    <a:solidFill>
                      <a:srgbClr val="16202C"/>
                    </a:solidFill>
                    <a:latin typeface="+mn-lt"/>
                  </a:defRPr>
                </a:pPr>
              </a:p>
            </c:txPr>
            <c:showLegendKey val="0"/>
            <c:showVal val="1"/>
            <c:showCatName val="0"/>
            <c:showSerName val="0"/>
            <c:showPercent val="0"/>
            <c:showBubbleSize val="0"/>
            <c:showLeaderLines val="0"/>
          </c:dLbls>
          <c:dPt>
            <c:idx val="0"/>
            <c:invertIfNegative val="0"/>
            <c:bubble3D val="0"/>
            <c:spPr>
              <a:solidFill>
                <a:srgbClr val="1BAF7A"/>
              </a:solidFill>
              <a:effectLst/>
            </c:spPr>
          </c:dPt>
          <c:dPt>
            <c:idx val="1"/>
            <c:invertIfNegative val="0"/>
            <c:bubble3D val="0"/>
            <c:spPr>
              <a:solidFill>
                <a:srgbClr val="EB6834"/>
              </a:solidFill>
              <a:effectLst/>
            </c:spPr>
          </c:dPt>
          <c:dPt>
            <c:idx val="2"/>
            <c:invertIfNegative val="0"/>
            <c:bubble3D val="0"/>
            <c:spPr>
              <a:solidFill>
                <a:srgbClr val="2A78D6"/>
              </a:solidFill>
              <a:effectLst/>
            </c:spPr>
          </c:dPt>
          <c:dPt>
            <c:idx val="3"/>
            <c:invertIfNegative val="0"/>
            <c:bubble3D val="0"/>
            <c:spPr>
              <a:solidFill>
                <a:srgbClr val="184F95"/>
              </a:solidFill>
              <a:effectLst/>
            </c:spPr>
          </c:dPt>
          <c:dPt>
            <c:idx val="4"/>
            <c:invertIfNegative val="0"/>
            <c:bubble3D val="0"/>
            <c:spPr>
              <a:solidFill>
                <a:srgbClr val="6250D6"/>
              </a:solidFill>
              <a:effectLst/>
            </c:spPr>
          </c:dPt>
          <c:dPt>
            <c:idx val="5"/>
            <c:invertIfNegative val="0"/>
            <c:bubble3D val="0"/>
            <c:spPr>
              <a:solidFill>
                <a:srgbClr val="16202C"/>
              </a:solidFill>
              <a:effectLst/>
            </c:spPr>
          </c:dPt>
          <c:cat>
            <c:multiLvlStrRef>
              <c:f>Sheet1!$A$2:$A$7</c:f>
              <c:multiLvlStrCache>
                <c:ptCount val="6"/>
                <c:lvl>
                  <c:pt idx="0">
                    <c:v>Voilà</c:v>
                  </c:pt>
                  <c:pt idx="1">
                    <c:v>Metro</c:v>
                  </c:pt>
                  <c:pt idx="2">
                    <c:v>Loblaws</c:v>
                  </c:pt>
                  <c:pt idx="3">
                    <c:v>No Frills</c:v>
                  </c:pt>
                  <c:pt idx="4">
                    <c:v>Walmart</c:v>
                  </c:pt>
                  <c:pt idx="5">
                    <c:v>StatCan CPI (ON)</c:v>
                  </c:pt>
                </c:lvl>
              </c:multiLvlStrCache>
            </c:multiLvlStrRef>
          </c:cat>
          <c:val>
            <c:numRef>
              <c:f>Sheet1!$B$2:$B$7</c:f>
              <c:numCache>
                <c:formatCode>General</c:formatCode>
                <c:ptCount val="6"/>
                <c:pt idx="0">
                  <c:v>6.3</c:v>
                </c:pt>
                <c:pt idx="1">
                  <c:v>5</c:v>
                </c:pt>
                <c:pt idx="2">
                  <c:v>4</c:v>
                </c:pt>
                <c:pt idx="3">
                  <c:v>3.9</c:v>
                </c:pt>
                <c:pt idx="4">
                  <c:v>3.4</c:v>
                </c:pt>
                <c:pt idx="5">
                  <c:v>6</c:v>
                </c:pt>
              </c:numCache>
            </c:numRef>
          </c:val>
        </c:ser>
        <c:dLbls>
          <c:numFmt formatCode="0.0&quot;%&quot;" sourceLinked="0"/>
          <c:txPr>
            <a:bodyPr/>
            <a:lstStyle/>
            <a:p>
              <a:pPr>
                <a:defRPr b="0" i="0" strike="noStrike" sz="1100" u="none">
                  <a:solidFill>
                    <a:srgbClr val="16202C"/>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4A5563"/>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4A556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6202C"/>
                </a:solidFill>
                <a:latin typeface="+mn-lt"/>
              </a:defRPr>
            </a:pPr>
            <a:r>
              <a:rPr sz="1300" b="0" i="0" u="none" strike="noStrike">
                <a:solidFill>
                  <a:srgbClr val="16202C"/>
                </a:solidFill>
                <a:latin typeface="+mn-lt"/>
              </a:rPr>
              <a:t>Identical-basket price index (4-banner regular average = 100)</a:t>
            </a:r>
          </a:p>
        </c:rich>
      </c:tx>
      <c:layout/>
      <c:overlay val="0"/>
    </c:title>
    <c:autoTitleDeleted val="0"/>
    <c:plotArea>
      <c:layout/>
      <c:barChart>
        <c:barDir val="col"/>
        <c:grouping val="clustered"/>
        <c:varyColors val="0"/>
        <c:ser>
          <c:idx val="0"/>
          <c:order val="0"/>
          <c:tx>
            <c:strRef>
              <c:f>Sheet1!$B$1</c:f>
              <c:strCache>
                <c:ptCount val="1"/>
                <c:pt idx="0">
                  <c:v>Regular price</c:v>
                </c:pt>
              </c:strCache>
            </c:strRef>
          </c:tx>
          <c:spPr>
            <a:solidFill>
              <a:srgbClr val="1F3A5F"/>
            </a:solidFill>
            <a:effectLst/>
          </c:spPr>
          <c:invertIfNegative val="0"/>
          <c:dLbls>
            <c:numFmt formatCode="0" sourceLinked="0"/>
            <c:txPr>
              <a:bodyPr/>
              <a:lstStyle/>
              <a:p>
                <a:pPr>
                  <a:defRPr b="0" i="0" strike="noStrike" sz="1100" u="none">
                    <a:solidFill>
                      <a:srgbClr val="16202C"/>
                    </a:solidFill>
                    <a:latin typeface="+mn-lt"/>
                  </a:defRPr>
                </a:pPr>
              </a:p>
            </c:txPr>
            <c:showLegendKey val="0"/>
            <c:showVal val="1"/>
            <c:showCatName val="0"/>
            <c:showSerName val="0"/>
            <c:showPercent val="0"/>
            <c:showBubbleSize val="0"/>
            <c:showLeaderLines val="0"/>
          </c:dLbls>
          <c:cat>
            <c:multiLvlStrRef>
              <c:f>Sheet1!$A$2:$A$5</c:f>
              <c:multiLvlStrCache>
                <c:ptCount val="4"/>
                <c:lvl>
                  <c:pt idx="0">
                    <c:v>Metro</c:v>
                  </c:pt>
                  <c:pt idx="1">
                    <c:v>Loblaws</c:v>
                  </c:pt>
                  <c:pt idx="2">
                    <c:v>No Frills</c:v>
                  </c:pt>
                  <c:pt idx="3">
                    <c:v>Walmart</c:v>
                  </c:pt>
                </c:lvl>
              </c:multiLvlStrCache>
            </c:multiLvlStrRef>
          </c:cat>
          <c:val>
            <c:numRef>
              <c:f>Sheet1!$B$2:$B$5</c:f>
              <c:numCache>
                <c:formatCode>General</c:formatCode>
                <c:ptCount val="4"/>
                <c:pt idx="0">
                  <c:v>113.3</c:v>
                </c:pt>
                <c:pt idx="1">
                  <c:v>109.7</c:v>
                </c:pt>
                <c:pt idx="2">
                  <c:v>89.9</c:v>
                </c:pt>
                <c:pt idx="3">
                  <c:v>89.5</c:v>
                </c:pt>
              </c:numCache>
            </c:numRef>
          </c:val>
        </c:ser>
        <c:ser>
          <c:idx val="1"/>
          <c:order val="1"/>
          <c:tx>
            <c:strRef>
              <c:f>Sheet1!$C$1</c:f>
              <c:strCache>
                <c:ptCount val="1"/>
                <c:pt idx="0">
                  <c:v>After promotions</c:v>
                </c:pt>
              </c:strCache>
            </c:strRef>
          </c:tx>
          <c:spPr>
            <a:solidFill>
              <a:srgbClr val="9FB0C6"/>
            </a:solidFill>
            <a:effectLst/>
          </c:spPr>
          <c:invertIfNegative val="0"/>
          <c:dLbls>
            <c:numFmt formatCode="0" sourceLinked="0"/>
            <c:txPr>
              <a:bodyPr/>
              <a:lstStyle/>
              <a:p>
                <a:pPr>
                  <a:defRPr b="0" i="0" strike="noStrike" sz="1100" u="none">
                    <a:solidFill>
                      <a:srgbClr val="16202C"/>
                    </a:solidFill>
                    <a:latin typeface="+mn-lt"/>
                  </a:defRPr>
                </a:pPr>
              </a:p>
            </c:txPr>
            <c:showLegendKey val="0"/>
            <c:showVal val="1"/>
            <c:showCatName val="0"/>
            <c:showSerName val="0"/>
            <c:showPercent val="0"/>
            <c:showBubbleSize val="0"/>
            <c:showLeaderLines val="0"/>
          </c:dLbls>
          <c:cat>
            <c:multiLvlStrRef>
              <c:f>Sheet1!$A$2:$A$5</c:f>
              <c:multiLvlStrCache>
                <c:ptCount val="4"/>
                <c:lvl>
                  <c:pt idx="0">
                    <c:v>Metro</c:v>
                  </c:pt>
                  <c:pt idx="1">
                    <c:v>Loblaws</c:v>
                  </c:pt>
                  <c:pt idx="2">
                    <c:v>No Frills</c:v>
                  </c:pt>
                  <c:pt idx="3">
                    <c:v>Walmart</c:v>
                  </c:pt>
                </c:lvl>
              </c:multiLvlStrCache>
            </c:multiLvlStrRef>
          </c:cat>
          <c:val>
            <c:numRef>
              <c:f>Sheet1!$C$2:$C$5</c:f>
              <c:numCache>
                <c:formatCode>General</c:formatCode>
                <c:ptCount val="4"/>
                <c:pt idx="0">
                  <c:v>102.2</c:v>
                </c:pt>
                <c:pt idx="1">
                  <c:v>99.7</c:v>
                </c:pt>
                <c:pt idx="2">
                  <c:v>85.8</c:v>
                </c:pt>
                <c:pt idx="3">
                  <c:v>83</c:v>
                </c:pt>
              </c:numCache>
            </c:numRef>
          </c:val>
        </c:ser>
        <c:dLbls>
          <c:numFmt formatCode="0" sourceLinked="0"/>
          <c:txPr>
            <a:bodyPr/>
            <a:lstStyle/>
            <a:p>
              <a:pPr>
                <a:defRPr b="0" i="0" strike="noStrike" sz="1100" u="none">
                  <a:solidFill>
                    <a:srgbClr val="16202C"/>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4A5563"/>
                </a:solidFill>
                <a:latin typeface="+mn-lt"/>
              </a:defRPr>
            </a:pPr>
            <a:endParaRPr lang="en-US"/>
          </a:p>
        </c:txPr>
        <c:crossAx val="2094734552"/>
        <c:crosses val="autoZero"/>
        <c:auto val="1"/>
        <c:lblAlgn val="ctr"/>
        <c:noMultiLvlLbl val="1"/>
      </c:catAx>
      <c:valAx>
        <c:axId val="2094734552"/>
        <c:scaling>
          <c:orientation val="minMax"/>
          <c:max val="120"/>
          <c:min val="70"/>
        </c:scaling>
        <c:delete val="0"/>
        <c:axPos val="l"/>
        <c:majorGridlines>
          <c:spPr>
            <a:ln w="9525" cap="flat">
              <a:solidFill>
                <a:srgbClr val="E3E6EA"/>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100" b="0" i="0" u="none" strike="noStrike">
                <a:solidFill>
                  <a:srgbClr val="4A556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4A556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6202C"/>
                </a:solidFill>
                <a:latin typeface="+mn-lt"/>
              </a:defRPr>
            </a:pPr>
            <a:r>
              <a:rPr sz="1300" b="0" i="0" u="none" strike="noStrike">
                <a:solidFill>
                  <a:srgbClr val="16202C"/>
                </a:solidFill>
                <a:latin typeface="+mn-lt"/>
              </a:rPr>
              <a:t>Median Loblaws premium over No Frills, identical SKU (%)</a:t>
            </a:r>
          </a:p>
        </c:rich>
      </c:tx>
      <c:layout/>
      <c:overlay val="0"/>
    </c:title>
    <c:autoTitleDeleted val="0"/>
    <c:plotArea>
      <c:layout/>
      <c:barChart>
        <c:barDir val="bar"/>
        <c:grouping val="clustered"/>
        <c:varyColors val="0"/>
        <c:ser>
          <c:idx val="0"/>
          <c:order val="0"/>
          <c:tx>
            <c:strRef>
              <c:f>Sheet1!$B$1</c:f>
              <c:strCache>
                <c:ptCount val="1"/>
                <c:pt idx="0">
                  <c:v>National brands</c:v>
                </c:pt>
              </c:strCache>
            </c:strRef>
          </c:tx>
          <c:spPr>
            <a:solidFill>
              <a:srgbClr val="2A78D6"/>
            </a:solidFill>
            <a:effectLst/>
          </c:spPr>
          <c:invertIfNegative val="0"/>
          <c:dLbls>
            <c:numFmt formatCode="0&quot;%&quot;" sourceLinked="0"/>
            <c:txPr>
              <a:bodyPr/>
              <a:lstStyle/>
              <a:p>
                <a:pPr>
                  <a:defRPr b="0" i="0" strike="noStrike" sz="1100" u="none">
                    <a:solidFill>
                      <a:srgbClr val="16202C"/>
                    </a:solidFill>
                    <a:latin typeface="+mn-lt"/>
                  </a:defRPr>
                </a:pPr>
              </a:p>
            </c:txPr>
            <c:showLegendKey val="0"/>
            <c:showVal val="1"/>
            <c:showCatName val="0"/>
            <c:showSerName val="0"/>
            <c:showPercent val="0"/>
            <c:showBubbleSize val="0"/>
            <c:showLeaderLines val="0"/>
          </c:dLbls>
          <c:cat>
            <c:multiLvlStrRef>
              <c:f>Sheet1!$A$2:$A$9</c:f>
              <c:multiLvlStrCache>
                <c:ptCount val="8"/>
                <c:lvl>
                  <c:pt idx="0">
                    <c:v>Produce</c:v>
                  </c:pt>
                  <c:pt idx="1">
                    <c:v>Snacks &amp; confectionery</c:v>
                  </c:pt>
                  <c:pt idx="2">
                    <c:v>Beverages</c:v>
                  </c:pt>
                  <c:pt idx="3">
                    <c:v>Frozen</c:v>
                  </c:pt>
                  <c:pt idx="4">
                    <c:v>Pantry</c:v>
                  </c:pt>
                  <c:pt idx="5">
                    <c:v>Meat &amp; seafood</c:v>
                  </c:pt>
                  <c:pt idx="6">
                    <c:v>Bakery</c:v>
                  </c:pt>
                  <c:pt idx="7">
                    <c:v>Dairy &amp; eggs</c:v>
                  </c:pt>
                </c:lvl>
              </c:multiLvlStrCache>
            </c:multiLvlStrRef>
          </c:cat>
          <c:val>
            <c:numRef>
              <c:f>Sheet1!$B$2:$B$9</c:f>
              <c:numCache>
                <c:formatCode>General</c:formatCode>
                <c:ptCount val="8"/>
                <c:pt idx="0">
                  <c:v>15.4</c:v>
                </c:pt>
                <c:pt idx="1">
                  <c:v>14.4</c:v>
                </c:pt>
                <c:pt idx="2">
                  <c:v>14.3</c:v>
                </c:pt>
                <c:pt idx="3">
                  <c:v>13.3</c:v>
                </c:pt>
                <c:pt idx="4">
                  <c:v>13.2</c:v>
                </c:pt>
                <c:pt idx="5">
                  <c:v>12.7</c:v>
                </c:pt>
                <c:pt idx="6">
                  <c:v>11.7</c:v>
                </c:pt>
                <c:pt idx="7">
                  <c:v>10.9</c:v>
                </c:pt>
              </c:numCache>
            </c:numRef>
          </c:val>
        </c:ser>
        <c:ser>
          <c:idx val="1"/>
          <c:order val="1"/>
          <c:tx>
            <c:strRef>
              <c:f>Sheet1!$C$1</c:f>
              <c:strCache>
                <c:ptCount val="1"/>
                <c:pt idx="0">
                  <c:v>Loblaw private label (PC, No Name)</c:v>
                </c:pt>
              </c:strCache>
            </c:strRef>
          </c:tx>
          <c:spPr>
            <a:solidFill>
              <a:srgbClr val="86B6EF"/>
            </a:solidFill>
            <a:effectLst/>
          </c:spPr>
          <c:invertIfNegative val="0"/>
          <c:dLbls>
            <c:numFmt formatCode="0&quot;%&quot;" sourceLinked="0"/>
            <c:txPr>
              <a:bodyPr/>
              <a:lstStyle/>
              <a:p>
                <a:pPr>
                  <a:defRPr b="0" i="0" strike="noStrike" sz="1100" u="none">
                    <a:solidFill>
                      <a:srgbClr val="16202C"/>
                    </a:solidFill>
                    <a:latin typeface="+mn-lt"/>
                  </a:defRPr>
                </a:pPr>
              </a:p>
            </c:txPr>
            <c:showLegendKey val="0"/>
            <c:showVal val="1"/>
            <c:showCatName val="0"/>
            <c:showSerName val="0"/>
            <c:showPercent val="0"/>
            <c:showBubbleSize val="0"/>
            <c:showLeaderLines val="0"/>
          </c:dLbls>
          <c:cat>
            <c:multiLvlStrRef>
              <c:f>Sheet1!$A$2:$A$9</c:f>
              <c:multiLvlStrCache>
                <c:ptCount val="8"/>
                <c:lvl>
                  <c:pt idx="0">
                    <c:v>Produce</c:v>
                  </c:pt>
                  <c:pt idx="1">
                    <c:v>Snacks &amp; confectionery</c:v>
                  </c:pt>
                  <c:pt idx="2">
                    <c:v>Beverages</c:v>
                  </c:pt>
                  <c:pt idx="3">
                    <c:v>Frozen</c:v>
                  </c:pt>
                  <c:pt idx="4">
                    <c:v>Pantry</c:v>
                  </c:pt>
                  <c:pt idx="5">
                    <c:v>Meat &amp; seafood</c:v>
                  </c:pt>
                  <c:pt idx="6">
                    <c:v>Bakery</c:v>
                  </c:pt>
                  <c:pt idx="7">
                    <c:v>Dairy &amp; eggs</c:v>
                  </c:pt>
                </c:lvl>
              </c:multiLvlStrCache>
            </c:multiLvlStrRef>
          </c:cat>
          <c:val>
            <c:numRef>
              <c:f>Sheet1!$C$2:$C$9</c:f>
              <c:numCache>
                <c:formatCode>General</c:formatCode>
                <c:ptCount val="8"/>
                <c:pt idx="0">
                  <c:v>13.2</c:v>
                </c:pt>
                <c:pt idx="1">
                  <c:v>14</c:v>
                </c:pt>
                <c:pt idx="2">
                  <c:v>12.3</c:v>
                </c:pt>
                <c:pt idx="3">
                  <c:v>7.1</c:v>
                </c:pt>
                <c:pt idx="4">
                  <c:v>14.9</c:v>
                </c:pt>
                <c:pt idx="5">
                  <c:v>10.5</c:v>
                </c:pt>
                <c:pt idx="6">
                  <c:v>10</c:v>
                </c:pt>
                <c:pt idx="7">
                  <c:v>9.1</c:v>
                </c:pt>
              </c:numCache>
            </c:numRef>
          </c:val>
        </c:ser>
        <c:dLbls>
          <c:numFmt formatCode="0&quot;%&quot;" sourceLinked="0"/>
          <c:txPr>
            <a:bodyPr/>
            <a:lstStyle/>
            <a:p>
              <a:pPr>
                <a:defRPr b="0" i="0" strike="noStrike" sz="1100" u="none">
                  <a:solidFill>
                    <a:srgbClr val="16202C"/>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4A5563"/>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4A556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4A5563"/>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6202C"/>
                </a:solidFill>
                <a:latin typeface="+mn-lt"/>
              </a:defRPr>
            </a:pPr>
            <a:r>
              <a:rPr sz="1300" b="0" i="0" u="none" strike="noStrike">
                <a:solidFill>
                  <a:srgbClr val="16202C"/>
                </a:solidFill>
                <a:latin typeface="+mn-lt"/>
              </a:rPr>
              <a:t>Share of matched item-days at the identical regular price (%)</a:t>
            </a:r>
          </a:p>
        </c:rich>
      </c:tx>
      <c:layout/>
      <c:overlay val="0"/>
    </c:title>
    <c:autoTitleDeleted val="0"/>
    <c:plotArea>
      <c:layout/>
      <c:barChart>
        <c:barDir val="bar"/>
        <c:grouping val="clustered"/>
        <c:varyColors val="0"/>
        <c:ser>
          <c:idx val="0"/>
          <c:order val="0"/>
          <c:tx>
            <c:strRef>
              <c:f>Sheet1!$B$1</c:f>
              <c:strCache>
                <c:ptCount val="1"/>
                <c:pt idx="0">
                  <c:v>Identical regular price</c:v>
                </c:pt>
              </c:strCache>
            </c:strRef>
          </c:tx>
          <c:spPr>
            <a:solidFill>
              <a:srgbClr val="EB6834"/>
            </a:solidFill>
            <a:effectLst/>
          </c:spPr>
          <c:invertIfNegative val="0"/>
          <c:dLbls>
            <c:numFmt formatCode="0&quot;%&quot;" sourceLinked="0"/>
            <c:txPr>
              <a:bodyPr/>
              <a:lstStyle/>
              <a:p>
                <a:pPr>
                  <a:defRPr b="0" i="0" strike="noStrike" sz="1100" u="none">
                    <a:solidFill>
                      <a:srgbClr val="16202C"/>
                    </a:solidFill>
                    <a:latin typeface="+mn-lt"/>
                  </a:defRPr>
                </a:pPr>
              </a:p>
            </c:txPr>
            <c:showLegendKey val="0"/>
            <c:showVal val="1"/>
            <c:showCatName val="0"/>
            <c:showSerName val="0"/>
            <c:showPercent val="0"/>
            <c:showBubbleSize val="0"/>
            <c:showLeaderLines val="0"/>
          </c:dLbls>
          <c:dPt>
            <c:idx val="0"/>
            <c:invertIfNegative val="0"/>
            <c:bubble3D val="0"/>
            <c:spPr>
              <a:solidFill>
                <a:srgbClr val="EB6834"/>
              </a:solidFill>
              <a:effectLst/>
            </c:spPr>
          </c:dPt>
          <c:dPt>
            <c:idx val="1"/>
            <c:invertIfNegative val="0"/>
            <c:bubble3D val="0"/>
            <c:spPr>
              <a:solidFill>
                <a:srgbClr val="EB6834"/>
              </a:solidFill>
              <a:effectLst/>
            </c:spPr>
          </c:dPt>
          <c:dPt>
            <c:idx val="2"/>
            <c:invertIfNegative val="0"/>
            <c:bubble3D val="0"/>
            <c:spPr>
              <a:solidFill>
                <a:srgbClr val="EB6834"/>
              </a:solidFill>
              <a:effectLst/>
            </c:spPr>
          </c:dPt>
          <c:dPt>
            <c:idx val="3"/>
            <c:invertIfNegative val="0"/>
            <c:bubble3D val="0"/>
            <c:spPr>
              <a:solidFill>
                <a:srgbClr val="2A78D6"/>
              </a:solidFill>
              <a:effectLst/>
            </c:spPr>
          </c:dPt>
          <c:dPt>
            <c:idx val="4"/>
            <c:invertIfNegative val="0"/>
            <c:bubble3D val="0"/>
            <c:spPr>
              <a:solidFill>
                <a:srgbClr val="EB6834"/>
              </a:solidFill>
              <a:effectLst/>
            </c:spPr>
          </c:dPt>
          <c:dPt>
            <c:idx val="5"/>
            <c:invertIfNegative val="0"/>
            <c:bubble3D val="0"/>
            <c:spPr>
              <a:solidFill>
                <a:srgbClr val="EB6834"/>
              </a:solidFill>
              <a:effectLst/>
            </c:spPr>
          </c:dPt>
          <c:dPt>
            <c:idx val="6"/>
            <c:invertIfNegative val="0"/>
            <c:bubble3D val="0"/>
            <c:spPr>
              <a:solidFill>
                <a:srgbClr val="EB6834"/>
              </a:solidFill>
              <a:effectLst/>
            </c:spPr>
          </c:dPt>
          <c:dPt>
            <c:idx val="7"/>
            <c:invertIfNegative val="0"/>
            <c:bubble3D val="0"/>
            <c:spPr>
              <a:solidFill>
                <a:srgbClr val="EB6834"/>
              </a:solidFill>
              <a:effectLst/>
            </c:spPr>
          </c:dPt>
          <c:cat>
            <c:multiLvlStrRef>
              <c:f>Sheet1!$A$2:$A$9</c:f>
              <c:multiLvlStrCache>
                <c:ptCount val="8"/>
                <c:lvl>
                  <c:pt idx="0">
                    <c:v>Loblaws – Metro</c:v>
                  </c:pt>
                  <c:pt idx="1">
                    <c:v>Metro – Voilà</c:v>
                  </c:pt>
                  <c:pt idx="2">
                    <c:v>Loblaws – Voilà</c:v>
                  </c:pt>
                  <c:pt idx="3">
                    <c:v>Loblaws – No Frills</c:v>
                  </c:pt>
                  <c:pt idx="4">
                    <c:v>No Frills – Metro</c:v>
                  </c:pt>
                  <c:pt idx="5">
                    <c:v>No Frills – Walmart</c:v>
                  </c:pt>
                  <c:pt idx="6">
                    <c:v>Loblaws – Walmart</c:v>
                  </c:pt>
                  <c:pt idx="7">
                    <c:v>Metro – Walmart</c:v>
                  </c:pt>
                </c:lvl>
              </c:multiLvlStrCache>
            </c:multiLvlStrRef>
          </c:cat>
          <c:val>
            <c:numRef>
              <c:f>Sheet1!$B$2:$B$9</c:f>
              <c:numCache>
                <c:formatCode>General</c:formatCode>
                <c:ptCount val="8"/>
                <c:pt idx="0">
                  <c:v>40.4</c:v>
                </c:pt>
                <c:pt idx="1">
                  <c:v>28.3</c:v>
                </c:pt>
                <c:pt idx="2">
                  <c:v>22.3</c:v>
                </c:pt>
                <c:pt idx="3">
                  <c:v>12.8</c:v>
                </c:pt>
                <c:pt idx="4">
                  <c:v>6.6</c:v>
                </c:pt>
                <c:pt idx="5">
                  <c:v>0.5</c:v>
                </c:pt>
                <c:pt idx="6">
                  <c:v>0.1</c:v>
                </c:pt>
                <c:pt idx="7">
                  <c:v>0</c:v>
                </c:pt>
              </c:numCache>
            </c:numRef>
          </c:val>
        </c:ser>
        <c:dLbls>
          <c:numFmt formatCode="0&quot;%&quot;" sourceLinked="0"/>
          <c:txPr>
            <a:bodyPr/>
            <a:lstStyle/>
            <a:p>
              <a:pPr>
                <a:defRPr b="0" i="0" strike="noStrike" sz="1100" u="none">
                  <a:solidFill>
                    <a:srgbClr val="16202C"/>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4A5563"/>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1100" b="0" i="0" u="none" strike="noStrike">
                <a:solidFill>
                  <a:srgbClr val="4A556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6202C"/>
                </a:solidFill>
                <a:latin typeface="+mn-lt"/>
              </a:defRPr>
            </a:pPr>
            <a:r>
              <a:rPr sz="1300" b="0" i="0" u="none" strike="noStrike">
                <a:solidFill>
                  <a:srgbClr val="16202C"/>
                </a:solidFill>
                <a:latin typeface="+mn-lt"/>
              </a:rPr>
              <a:t>Synchronisation lift, ±1 day (1.0 = chance; blue same parent, orange rivals, grey control)</a:t>
            </a:r>
          </a:p>
        </c:rich>
      </c:tx>
      <c:layout/>
      <c:overlay val="0"/>
    </c:title>
    <c:autoTitleDeleted val="0"/>
    <c:plotArea>
      <c:layout/>
      <c:barChart>
        <c:barDir val="bar"/>
        <c:grouping val="clustered"/>
        <c:varyColors val="0"/>
        <c:ser>
          <c:idx val="0"/>
          <c:order val="0"/>
          <c:tx>
            <c:strRef>
              <c:f>Sheet1!$B$1</c:f>
              <c:strCache>
                <c:ptCount val="1"/>
                <c:pt idx="0">
                  <c:v>Lift</c:v>
                </c:pt>
              </c:strCache>
            </c:strRef>
          </c:tx>
          <c:spPr>
            <a:solidFill>
              <a:srgbClr val="2A78D6"/>
            </a:solidFill>
            <a:effectLst/>
          </c:spPr>
          <c:invertIfNegative val="0"/>
          <c:dLbls>
            <c:numFmt formatCode="0.00&quot;×&quot;" sourceLinked="0"/>
            <c:txPr>
              <a:bodyPr/>
              <a:lstStyle/>
              <a:p>
                <a:pPr>
                  <a:defRPr b="0" i="0" strike="noStrike" sz="1100" u="none">
                    <a:solidFill>
                      <a:srgbClr val="16202C"/>
                    </a:solidFill>
                    <a:latin typeface="+mn-lt"/>
                  </a:defRPr>
                </a:pPr>
              </a:p>
            </c:txPr>
            <c:showLegendKey val="0"/>
            <c:showVal val="1"/>
            <c:showCatName val="0"/>
            <c:showSerName val="0"/>
            <c:showPercent val="0"/>
            <c:showBubbleSize val="0"/>
            <c:showLeaderLines val="0"/>
          </c:dLbls>
          <c:dPt>
            <c:idx val="0"/>
            <c:invertIfNegative val="0"/>
            <c:bubble3D val="0"/>
            <c:spPr>
              <a:solidFill>
                <a:srgbClr val="2A78D6"/>
              </a:solidFill>
              <a:effectLst/>
            </c:spPr>
          </c:dPt>
          <c:dPt>
            <c:idx val="1"/>
            <c:invertIfNegative val="0"/>
            <c:bubble3D val="0"/>
            <c:spPr>
              <a:solidFill>
                <a:srgbClr val="EB6834"/>
              </a:solidFill>
              <a:effectLst/>
            </c:spPr>
          </c:dPt>
          <c:dPt>
            <c:idx val="2"/>
            <c:invertIfNegative val="0"/>
            <c:bubble3D val="0"/>
            <c:spPr>
              <a:solidFill>
                <a:srgbClr val="EB6834"/>
              </a:solidFill>
              <a:effectLst/>
            </c:spPr>
          </c:dPt>
          <c:dPt>
            <c:idx val="3"/>
            <c:invertIfNegative val="0"/>
            <c:bubble3D val="0"/>
            <c:spPr>
              <a:solidFill>
                <a:srgbClr val="EB6834"/>
              </a:solidFill>
              <a:effectLst/>
            </c:spPr>
          </c:dPt>
          <c:dPt>
            <c:idx val="4"/>
            <c:invertIfNegative val="0"/>
            <c:bubble3D val="0"/>
            <c:spPr>
              <a:solidFill>
                <a:srgbClr val="EB6834"/>
              </a:solidFill>
              <a:effectLst/>
            </c:spPr>
          </c:dPt>
          <c:dPt>
            <c:idx val="5"/>
            <c:invertIfNegative val="0"/>
            <c:bubble3D val="0"/>
            <c:spPr>
              <a:solidFill>
                <a:srgbClr val="EB6834"/>
              </a:solidFill>
              <a:effectLst/>
            </c:spPr>
          </c:dPt>
          <c:dPt>
            <c:idx val="6"/>
            <c:invertIfNegative val="0"/>
            <c:bubble3D val="0"/>
            <c:spPr>
              <a:solidFill>
                <a:srgbClr val="8A8984"/>
              </a:solidFill>
              <a:effectLst/>
            </c:spPr>
          </c:dPt>
          <c:dPt>
            <c:idx val="7"/>
            <c:invertIfNegative val="0"/>
            <c:bubble3D val="0"/>
            <c:spPr>
              <a:solidFill>
                <a:srgbClr val="8A8984"/>
              </a:solidFill>
              <a:effectLst/>
            </c:spPr>
          </c:dPt>
          <c:dPt>
            <c:idx val="8"/>
            <c:invertIfNegative val="0"/>
            <c:bubble3D val="0"/>
            <c:spPr>
              <a:solidFill>
                <a:srgbClr val="8A8984"/>
              </a:solidFill>
              <a:effectLst/>
            </c:spPr>
          </c:dPt>
          <c:cat>
            <c:multiLvlStrRef>
              <c:f>Sheet1!$A$2:$A$10</c:f>
              <c:multiLvlStrCache>
                <c:ptCount val="9"/>
                <c:lvl>
                  <c:pt idx="0">
                    <c:v>Loblaws – No Frills</c:v>
                  </c:pt>
                  <c:pt idx="1">
                    <c:v>Metro – Walmart</c:v>
                  </c:pt>
                  <c:pt idx="2">
                    <c:v>No Frills – Walmart</c:v>
                  </c:pt>
                  <c:pt idx="3">
                    <c:v>No Frills – Metro</c:v>
                  </c:pt>
                  <c:pt idx="4">
                    <c:v>Loblaws – Walmart</c:v>
                  </c:pt>
                  <c:pt idx="5">
                    <c:v>Loblaws – Metro</c:v>
                  </c:pt>
                  <c:pt idx="6">
                    <c:v>Metro – Save-On-Foods</c:v>
                  </c:pt>
                  <c:pt idx="7">
                    <c:v>No Frills – Save-On-Foods</c:v>
                  </c:pt>
                  <c:pt idx="8">
                    <c:v>Loblaws – Save-On-Foods</c:v>
                  </c:pt>
                </c:lvl>
              </c:multiLvlStrCache>
            </c:multiLvlStrRef>
          </c:cat>
          <c:val>
            <c:numRef>
              <c:f>Sheet1!$B$2:$B$10</c:f>
              <c:numCache>
                <c:formatCode>General</c:formatCode>
                <c:ptCount val="9"/>
                <c:pt idx="0">
                  <c:v>1.94</c:v>
                </c:pt>
                <c:pt idx="1">
                  <c:v>1.4</c:v>
                </c:pt>
                <c:pt idx="2">
                  <c:v>1.16</c:v>
                </c:pt>
                <c:pt idx="3">
                  <c:v>1.08</c:v>
                </c:pt>
                <c:pt idx="4">
                  <c:v>1.09</c:v>
                </c:pt>
                <c:pt idx="5">
                  <c:v>0.92</c:v>
                </c:pt>
                <c:pt idx="6">
                  <c:v>1.98</c:v>
                </c:pt>
                <c:pt idx="7">
                  <c:v>1.15</c:v>
                </c:pt>
                <c:pt idx="8">
                  <c:v>1.04</c:v>
                </c:pt>
              </c:numCache>
            </c:numRef>
          </c:val>
        </c:ser>
        <c:dLbls>
          <c:numFmt formatCode="0.00&quot;×&quot;" sourceLinked="0"/>
          <c:txPr>
            <a:bodyPr/>
            <a:lstStyle/>
            <a:p>
              <a:pPr>
                <a:defRPr b="0" i="0" strike="noStrike" sz="1100" u="none">
                  <a:solidFill>
                    <a:srgbClr val="16202C"/>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4A5563"/>
                </a:solidFill>
                <a:latin typeface="+mn-lt"/>
              </a:defRPr>
            </a:pPr>
            <a:endParaRPr lang="en-US"/>
          </a:p>
        </c:txPr>
        <c:crossAx val="2094734552"/>
        <c:crosses val="autoZero"/>
        <c:auto val="1"/>
        <c:lblAlgn val="ctr"/>
        <c:noMultiLvlLbl val="1"/>
      </c:catAx>
      <c:valAx>
        <c:axId val="2094734552"/>
        <c:scaling>
          <c:orientation val="minMax"/>
          <c:max val="2.5"/>
          <c:min val="0"/>
        </c:scaling>
        <c:delete val="0"/>
        <c:axPos val="b"/>
        <c:majorGridlines>
          <c:spPr>
            <a:ln w="9525" cap="flat">
              <a:solidFill>
                <a:srgbClr val="E3E6EA"/>
              </a:solidFill>
              <a:prstDash val="solid"/>
              <a:round/>
            </a:ln>
          </c:spPr>
        </c:majorGridlines>
        <c:numFmt formatCode="0.0&quot;×&quot;" sourceLinked="0"/>
        <c:majorTickMark val="out"/>
        <c:minorTickMark val="none"/>
        <c:tickLblPos val="low"/>
        <c:spPr>
          <a:ln w="12700" cap="flat">
            <a:noFill/>
            <a:prstDash val="solid"/>
            <a:round/>
          </a:ln>
        </c:spPr>
        <c:txPr>
          <a:bodyPr/>
          <a:lstStyle/>
          <a:p>
            <a:pPr>
              <a:defRPr sz="1100" b="0" i="0" u="none" strike="noStrike">
                <a:solidFill>
                  <a:srgbClr val="4A556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6202C"/>
                </a:solidFill>
                <a:latin typeface="+mn-lt"/>
              </a:defRPr>
            </a:pPr>
            <a:r>
              <a:rPr sz="1300" b="0" i="0" u="none" strike="noStrike">
                <a:solidFill>
                  <a:srgbClr val="16202C"/>
                </a:solidFill>
                <a:latin typeface="+mn-lt"/>
              </a:rPr>
              <a:t>Share of product-days on promotion (%)</a:t>
            </a:r>
          </a:p>
        </c:rich>
      </c:tx>
      <c:layout/>
      <c:overlay val="0"/>
    </c:title>
    <c:autoTitleDeleted val="0"/>
    <c:plotArea>
      <c:layout/>
      <c:barChart>
        <c:barDir val="col"/>
        <c:grouping val="clustered"/>
        <c:varyColors val="0"/>
        <c:ser>
          <c:idx val="0"/>
          <c:order val="0"/>
          <c:tx>
            <c:strRef>
              <c:f>Sheet1!$B$1</c:f>
              <c:strCache>
                <c:ptCount val="1"/>
                <c:pt idx="0">
                  <c:v>Promo share</c:v>
                </c:pt>
              </c:strCache>
            </c:strRef>
          </c:tx>
          <c:spPr>
            <a:solidFill>
              <a:srgbClr val="EB6834"/>
            </a:solidFill>
            <a:effectLst/>
          </c:spPr>
          <c:invertIfNegative val="0"/>
          <c:dLbls>
            <c:numFmt formatCode="0&quot;%&quot;" sourceLinked="0"/>
            <c:txPr>
              <a:bodyPr/>
              <a:lstStyle/>
              <a:p>
                <a:pPr>
                  <a:defRPr b="0" i="0" strike="noStrike" sz="1100" u="none">
                    <a:solidFill>
                      <a:srgbClr val="16202C"/>
                    </a:solidFill>
                    <a:latin typeface="+mn-lt"/>
                  </a:defRPr>
                </a:pPr>
              </a:p>
            </c:txPr>
            <c:showLegendKey val="0"/>
            <c:showVal val="1"/>
            <c:showCatName val="0"/>
            <c:showSerName val="0"/>
            <c:showPercent val="0"/>
            <c:showBubbleSize val="0"/>
            <c:showLeaderLines val="0"/>
          </c:dLbls>
          <c:dPt>
            <c:idx val="0"/>
            <c:invertIfNegative val="0"/>
            <c:bubble3D val="0"/>
            <c:spPr>
              <a:solidFill>
                <a:srgbClr val="EB6834"/>
              </a:solidFill>
              <a:effectLst/>
            </c:spPr>
          </c:dPt>
          <c:dPt>
            <c:idx val="1"/>
            <c:invertIfNegative val="0"/>
            <c:bubble3D val="0"/>
            <c:spPr>
              <a:solidFill>
                <a:srgbClr val="2A78D6"/>
              </a:solidFill>
              <a:effectLst/>
            </c:spPr>
          </c:dPt>
          <c:dPt>
            <c:idx val="2"/>
            <c:invertIfNegative val="0"/>
            <c:bubble3D val="0"/>
            <c:spPr>
              <a:solidFill>
                <a:srgbClr val="6250D6"/>
              </a:solidFill>
              <a:effectLst/>
            </c:spPr>
          </c:dPt>
          <c:dPt>
            <c:idx val="3"/>
            <c:invertIfNegative val="0"/>
            <c:bubble3D val="0"/>
            <c:spPr>
              <a:solidFill>
                <a:srgbClr val="1BAF7A"/>
              </a:solidFill>
              <a:effectLst/>
            </c:spPr>
          </c:dPt>
          <c:dPt>
            <c:idx val="4"/>
            <c:invertIfNegative val="0"/>
            <c:bubble3D val="0"/>
            <c:spPr>
              <a:solidFill>
                <a:srgbClr val="184F95"/>
              </a:solidFill>
              <a:effectLst/>
            </c:spPr>
          </c:dPt>
          <c:cat>
            <c:multiLvlStrRef>
              <c:f>Sheet1!$A$2:$A$6</c:f>
              <c:multiLvlStrCache>
                <c:ptCount val="5"/>
                <c:lvl>
                  <c:pt idx="0">
                    <c:v>Metro</c:v>
                  </c:pt>
                  <c:pt idx="1">
                    <c:v>Loblaws</c:v>
                  </c:pt>
                  <c:pt idx="2">
                    <c:v>Walmart</c:v>
                  </c:pt>
                  <c:pt idx="3">
                    <c:v>Voilà</c:v>
                  </c:pt>
                  <c:pt idx="4">
                    <c:v>No Frills</c:v>
                  </c:pt>
                </c:lvl>
              </c:multiLvlStrCache>
            </c:multiLvlStrRef>
          </c:cat>
          <c:val>
            <c:numRef>
              <c:f>Sheet1!$B$2:$B$6</c:f>
              <c:numCache>
                <c:formatCode>General</c:formatCode>
                <c:ptCount val="5"/>
                <c:pt idx="0">
                  <c:v>33.8</c:v>
                </c:pt>
                <c:pt idx="1">
                  <c:v>25.7</c:v>
                </c:pt>
                <c:pt idx="2">
                  <c:v>19.4</c:v>
                </c:pt>
                <c:pt idx="3">
                  <c:v>19.2</c:v>
                </c:pt>
                <c:pt idx="4">
                  <c:v>13.8</c:v>
                </c:pt>
              </c:numCache>
            </c:numRef>
          </c:val>
        </c:ser>
        <c:dLbls>
          <c:numFmt formatCode="0&quot;%&quot;" sourceLinked="0"/>
          <c:txPr>
            <a:bodyPr/>
            <a:lstStyle/>
            <a:p>
              <a:pPr>
                <a:defRPr b="0" i="0" strike="noStrike" sz="1100" u="none">
                  <a:solidFill>
                    <a:srgbClr val="16202C"/>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4A5563"/>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4A556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6202C"/>
                </a:solidFill>
                <a:latin typeface="+mn-lt"/>
              </a:defRPr>
            </a:pPr>
            <a:r>
              <a:rPr sz="1300" b="0" i="0" u="none" strike="noStrike">
                <a:solidFill>
                  <a:srgbClr val="16202C"/>
                </a:solidFill>
                <a:latin typeface="+mn-lt"/>
              </a:rPr>
              <a:t>Avg basket saving from promos (%)</a:t>
            </a:r>
          </a:p>
        </c:rich>
      </c:tx>
      <c:layout/>
      <c:overlay val="0"/>
    </c:title>
    <c:autoTitleDeleted val="0"/>
    <c:plotArea>
      <c:layout/>
      <c:barChart>
        <c:barDir val="col"/>
        <c:grouping val="clustered"/>
        <c:varyColors val="0"/>
        <c:ser>
          <c:idx val="0"/>
          <c:order val="0"/>
          <c:tx>
            <c:strRef>
              <c:f>Sheet1!$B$1</c:f>
              <c:strCache>
                <c:ptCount val="1"/>
                <c:pt idx="0">
                  <c:v>Realised promo discount</c:v>
                </c:pt>
              </c:strCache>
            </c:strRef>
          </c:tx>
          <c:spPr>
            <a:solidFill>
              <a:srgbClr val="EB6834"/>
            </a:solidFill>
            <a:effectLst/>
          </c:spPr>
          <c:invertIfNegative val="0"/>
          <c:dLbls>
            <c:numFmt formatCode="0.0&quot;%&quot;" sourceLinked="0"/>
            <c:txPr>
              <a:bodyPr/>
              <a:lstStyle/>
              <a:p>
                <a:pPr>
                  <a:defRPr b="0" i="0" strike="noStrike" sz="1100" u="none">
                    <a:solidFill>
                      <a:srgbClr val="16202C"/>
                    </a:solidFill>
                    <a:latin typeface="+mn-lt"/>
                  </a:defRPr>
                </a:pPr>
              </a:p>
            </c:txPr>
            <c:showLegendKey val="0"/>
            <c:showVal val="1"/>
            <c:showCatName val="0"/>
            <c:showSerName val="0"/>
            <c:showPercent val="0"/>
            <c:showBubbleSize val="0"/>
            <c:showLeaderLines val="0"/>
          </c:dLbls>
          <c:dPt>
            <c:idx val="0"/>
            <c:invertIfNegative val="0"/>
            <c:bubble3D val="0"/>
            <c:spPr>
              <a:solidFill>
                <a:srgbClr val="EB6834"/>
              </a:solidFill>
              <a:effectLst/>
            </c:spPr>
          </c:dPt>
          <c:dPt>
            <c:idx val="1"/>
            <c:invertIfNegative val="0"/>
            <c:bubble3D val="0"/>
            <c:spPr>
              <a:solidFill>
                <a:srgbClr val="2A78D6"/>
              </a:solidFill>
              <a:effectLst/>
            </c:spPr>
          </c:dPt>
          <c:dPt>
            <c:idx val="2"/>
            <c:invertIfNegative val="0"/>
            <c:bubble3D val="0"/>
            <c:spPr>
              <a:solidFill>
                <a:srgbClr val="184F95"/>
              </a:solidFill>
              <a:effectLst/>
            </c:spPr>
          </c:dPt>
          <c:dPt>
            <c:idx val="3"/>
            <c:invertIfNegative val="0"/>
            <c:bubble3D val="0"/>
            <c:spPr>
              <a:solidFill>
                <a:srgbClr val="6250D6"/>
              </a:solidFill>
              <a:effectLst/>
            </c:spPr>
          </c:dPt>
          <c:cat>
            <c:multiLvlStrRef>
              <c:f>Sheet1!$A$2:$A$5</c:f>
              <c:multiLvlStrCache>
                <c:ptCount val="4"/>
                <c:lvl>
                  <c:pt idx="0">
                    <c:v>Metro</c:v>
                  </c:pt>
                  <c:pt idx="1">
                    <c:v>Loblaws</c:v>
                  </c:pt>
                  <c:pt idx="2">
                    <c:v>No Frills</c:v>
                  </c:pt>
                  <c:pt idx="3">
                    <c:v>Walmart</c:v>
                  </c:pt>
                </c:lvl>
              </c:multiLvlStrCache>
            </c:multiLvlStrRef>
          </c:cat>
          <c:val>
            <c:numRef>
              <c:f>Sheet1!$B$2:$B$5</c:f>
              <c:numCache>
                <c:formatCode>General</c:formatCode>
                <c:ptCount val="4"/>
                <c:pt idx="0">
                  <c:v>9.8</c:v>
                </c:pt>
                <c:pt idx="1">
                  <c:v>9.1</c:v>
                </c:pt>
                <c:pt idx="2">
                  <c:v>4.5</c:v>
                </c:pt>
                <c:pt idx="3">
                  <c:v>7.3</c:v>
                </c:pt>
              </c:numCache>
            </c:numRef>
          </c:val>
        </c:ser>
        <c:dLbls>
          <c:numFmt formatCode="0.0&quot;%&quot;" sourceLinked="0"/>
          <c:txPr>
            <a:bodyPr/>
            <a:lstStyle/>
            <a:p>
              <a:pPr>
                <a:defRPr b="0" i="0" strike="noStrike" sz="1100" u="none">
                  <a:solidFill>
                    <a:srgbClr val="16202C"/>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100" b="0" i="0" u="none" strike="noStrike">
                <a:solidFill>
                  <a:srgbClr val="4A5563"/>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4A556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6202C"/>
                </a:solidFill>
                <a:latin typeface="+mn-lt"/>
              </a:defRPr>
            </a:pPr>
            <a:r>
              <a:rPr sz="1300" b="0" i="0" u="none" strike="noStrike">
                <a:solidFill>
                  <a:srgbClr val="16202C"/>
                </a:solidFill>
                <a:latin typeface="+mn-lt"/>
              </a:rPr>
              <a:t>Rate of regular-price increases: Nov 1–Feb 5 window vs rest of year (1.0 = no difference)</a:t>
            </a:r>
          </a:p>
        </c:rich>
      </c:tx>
      <c:layout/>
      <c:overlay val="0"/>
    </c:title>
    <c:autoTitleDeleted val="0"/>
    <c:plotArea>
      <c:layout/>
      <c:barChart>
        <c:barDir val="col"/>
        <c:grouping val="clustered"/>
        <c:varyColors val="0"/>
        <c:ser>
          <c:idx val="0"/>
          <c:order val="0"/>
          <c:tx>
            <c:strRef>
              <c:f>Sheet1!$B$1</c:f>
              <c:strCache>
                <c:ptCount val="1"/>
                <c:pt idx="0">
                  <c:v>Ratio</c:v>
                </c:pt>
              </c:strCache>
            </c:strRef>
          </c:tx>
          <c:spPr>
            <a:solidFill>
              <a:srgbClr val="2A78D6"/>
            </a:solidFill>
            <a:effectLst/>
          </c:spPr>
          <c:invertIfNegative val="0"/>
          <c:dLbls>
            <c:numFmt formatCode="0.00&quot;×&quot;" sourceLinked="0"/>
            <c:txPr>
              <a:bodyPr/>
              <a:lstStyle/>
              <a:p>
                <a:pPr>
                  <a:defRPr b="0" i="0" strike="noStrike" sz="1100" u="none">
                    <a:solidFill>
                      <a:srgbClr val="16202C"/>
                    </a:solidFill>
                    <a:latin typeface="+mn-lt"/>
                  </a:defRPr>
                </a:pPr>
              </a:p>
            </c:txPr>
            <c:showLegendKey val="0"/>
            <c:showVal val="1"/>
            <c:showCatName val="0"/>
            <c:showSerName val="0"/>
            <c:showPercent val="0"/>
            <c:showBubbleSize val="0"/>
            <c:showLeaderLines val="0"/>
          </c:dLbls>
          <c:dPt>
            <c:idx val="0"/>
            <c:invertIfNegative val="0"/>
            <c:bubble3D val="0"/>
            <c:spPr>
              <a:solidFill>
                <a:srgbClr val="2A78D6"/>
              </a:solidFill>
              <a:effectLst/>
            </c:spPr>
          </c:dPt>
          <c:dPt>
            <c:idx val="1"/>
            <c:invertIfNegative val="0"/>
            <c:bubble3D val="0"/>
            <c:spPr>
              <a:solidFill>
                <a:srgbClr val="184F95"/>
              </a:solidFill>
              <a:effectLst/>
            </c:spPr>
          </c:dPt>
          <c:dPt>
            <c:idx val="2"/>
            <c:invertIfNegative val="0"/>
            <c:bubble3D val="0"/>
            <c:spPr>
              <a:solidFill>
                <a:srgbClr val="EB6834"/>
              </a:solidFill>
              <a:effectLst/>
            </c:spPr>
          </c:dPt>
          <c:dPt>
            <c:idx val="3"/>
            <c:invertIfNegative val="0"/>
            <c:bubble3D val="0"/>
            <c:spPr>
              <a:solidFill>
                <a:srgbClr val="6250D6"/>
              </a:solidFill>
              <a:effectLst/>
            </c:spPr>
          </c:dPt>
          <c:dPt>
            <c:idx val="4"/>
            <c:invertIfNegative val="0"/>
            <c:bubble3D val="0"/>
            <c:spPr>
              <a:solidFill>
                <a:srgbClr val="1BAF7A"/>
              </a:solidFill>
              <a:effectLst/>
            </c:spPr>
          </c:dPt>
          <c:cat>
            <c:multiLvlStrRef>
              <c:f>Sheet1!$A$2:$A$6</c:f>
              <c:multiLvlStrCache>
                <c:ptCount val="5"/>
                <c:lvl>
                  <c:pt idx="0">
                    <c:v>Loblaws</c:v>
                  </c:pt>
                  <c:pt idx="1">
                    <c:v>No Frills</c:v>
                  </c:pt>
                  <c:pt idx="2">
                    <c:v>Metro</c:v>
                  </c:pt>
                  <c:pt idx="3">
                    <c:v>Walmart</c:v>
                  </c:pt>
                  <c:pt idx="4">
                    <c:v>Voilà</c:v>
                  </c:pt>
                </c:lvl>
              </c:multiLvlStrCache>
            </c:multiLvlStrRef>
          </c:cat>
          <c:val>
            <c:numRef>
              <c:f>Sheet1!$B$2:$B$6</c:f>
              <c:numCache>
                <c:formatCode>General</c:formatCode>
                <c:ptCount val="5"/>
                <c:pt idx="0">
                  <c:v>0.97</c:v>
                </c:pt>
                <c:pt idx="1">
                  <c:v>0.84</c:v>
                </c:pt>
                <c:pt idx="2">
                  <c:v>1.09</c:v>
                </c:pt>
                <c:pt idx="3">
                  <c:v>0.9</c:v>
                </c:pt>
                <c:pt idx="4">
                  <c:v>1.59</c:v>
                </c:pt>
              </c:numCache>
            </c:numRef>
          </c:val>
        </c:ser>
        <c:dLbls>
          <c:numFmt formatCode="0.00&quot;×&quot;" sourceLinked="0"/>
          <c:txPr>
            <a:bodyPr/>
            <a:lstStyle/>
            <a:p>
              <a:pPr>
                <a:defRPr b="0" i="0" strike="noStrike" sz="1100" u="none">
                  <a:solidFill>
                    <a:srgbClr val="16202C"/>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4A5563"/>
                </a:solidFill>
                <a:latin typeface="+mn-lt"/>
              </a:defRPr>
            </a:pPr>
            <a:endParaRPr lang="en-US"/>
          </a:p>
        </c:txPr>
        <c:crossAx val="2094734552"/>
        <c:crosses val="autoZero"/>
        <c:auto val="1"/>
        <c:lblAlgn val="ctr"/>
        <c:noMultiLvlLbl val="1"/>
      </c:catAx>
      <c:valAx>
        <c:axId val="2094734552"/>
        <c:scaling>
          <c:orientation val="minMax"/>
          <c:max val="2"/>
          <c:min val="0"/>
        </c:scaling>
        <c:delete val="0"/>
        <c:axPos val="l"/>
        <c:majorGridlines>
          <c:spPr>
            <a:ln w="9525" cap="flat">
              <a:solidFill>
                <a:srgbClr val="E3E6EA"/>
              </a:solidFill>
              <a:prstDash val="solid"/>
              <a:round/>
            </a:ln>
          </c:spPr>
        </c:majorGridlines>
        <c:numFmt formatCode="0.0&quot;×&quot;" sourceLinked="0"/>
        <c:majorTickMark val="out"/>
        <c:minorTickMark val="none"/>
        <c:tickLblPos val="nextTo"/>
        <c:spPr>
          <a:ln w="12700" cap="flat">
            <a:noFill/>
            <a:prstDash val="solid"/>
            <a:round/>
          </a:ln>
        </c:spPr>
        <c:txPr>
          <a:bodyPr/>
          <a:lstStyle/>
          <a:p>
            <a:pPr>
              <a:defRPr sz="1100" b="0" i="0" u="none" strike="noStrike">
                <a:solidFill>
                  <a:srgbClr val="4A5563"/>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6202C"/>
                </a:solidFill>
                <a:latin typeface="+mn-lt"/>
              </a:defRPr>
            </a:pPr>
            <a:r>
              <a:rPr sz="1300" b="0" i="0" u="none" strike="noStrike">
                <a:solidFill>
                  <a:srgbClr val="16202C"/>
                </a:solidFill>
                <a:latin typeface="+mn-lt"/>
              </a:rPr>
              <a:t>Private-label share by banner (%)</a:t>
            </a:r>
          </a:p>
        </c:rich>
      </c:tx>
      <c:layout/>
      <c:overlay val="0"/>
    </c:title>
    <c:autoTitleDeleted val="0"/>
    <c:plotArea>
      <c:layout/>
      <c:barChart>
        <c:barDir val="col"/>
        <c:grouping val="clustered"/>
        <c:varyColors val="0"/>
        <c:ser>
          <c:idx val="0"/>
          <c:order val="0"/>
          <c:tx>
            <c:strRef>
              <c:f>Sheet1!$B$1</c:f>
              <c:strCache>
                <c:ptCount val="1"/>
                <c:pt idx="0">
                  <c:v>Share of assortment</c:v>
                </c:pt>
              </c:strCache>
            </c:strRef>
          </c:tx>
          <c:spPr>
            <a:solidFill>
              <a:srgbClr val="1F3A5F"/>
            </a:solidFill>
            <a:effectLst/>
          </c:spPr>
          <c:invertIfNegative val="0"/>
          <c:dLbls>
            <c:numFmt formatCode="0&quot;%&quot;" sourceLinked="0"/>
            <c:txPr>
              <a:bodyPr/>
              <a:lstStyle/>
              <a:p>
                <a:pPr>
                  <a:defRPr b="0" i="0" strike="noStrike" sz="1100" u="none">
                    <a:solidFill>
                      <a:srgbClr val="16202C"/>
                    </a:solidFill>
                    <a:latin typeface="+mn-lt"/>
                  </a:defRPr>
                </a:pPr>
              </a:p>
            </c:txPr>
            <c:showLegendKey val="0"/>
            <c:showVal val="1"/>
            <c:showCatName val="0"/>
            <c:showSerName val="0"/>
            <c:showPercent val="0"/>
            <c:showBubbleSize val="0"/>
            <c:showLeaderLines val="0"/>
          </c:dLbls>
          <c:cat>
            <c:multiLvlStrRef>
              <c:f>Sheet1!$A$2:$A$7</c:f>
              <c:multiLvlStrCache>
                <c:ptCount val="6"/>
                <c:lvl>
                  <c:pt idx="0">
                    <c:v>Voilà</c:v>
                  </c:pt>
                  <c:pt idx="1">
                    <c:v>No Frills</c:v>
                  </c:pt>
                  <c:pt idx="2">
                    <c:v>Loblaws</c:v>
                  </c:pt>
                  <c:pt idx="3">
                    <c:v>Metro</c:v>
                  </c:pt>
                  <c:pt idx="4">
                    <c:v>T&amp;T</c:v>
                  </c:pt>
                  <c:pt idx="5">
                    <c:v>Walmart</c:v>
                  </c:pt>
                </c:lvl>
              </c:multiLvlStrCache>
            </c:multiLvlStrRef>
          </c:cat>
          <c:val>
            <c:numRef>
              <c:f>Sheet1!$B$2:$B$7</c:f>
              <c:numCache>
                <c:formatCode>General</c:formatCode>
                <c:ptCount val="6"/>
                <c:pt idx="0">
                  <c:v>20.3</c:v>
                </c:pt>
                <c:pt idx="1">
                  <c:v>16.7</c:v>
                </c:pt>
                <c:pt idx="2">
                  <c:v>15.2</c:v>
                </c:pt>
                <c:pt idx="3">
                  <c:v>13.3</c:v>
                </c:pt>
                <c:pt idx="4">
                  <c:v>13</c:v>
                </c:pt>
                <c:pt idx="5">
                  <c:v>8</c:v>
                </c:pt>
              </c:numCache>
            </c:numRef>
          </c:val>
        </c:ser>
        <c:ser>
          <c:idx val="1"/>
          <c:order val="1"/>
          <c:tx>
            <c:strRef>
              <c:f>Sheet1!$C$1</c:f>
              <c:strCache>
                <c:ptCount val="1"/>
                <c:pt idx="0">
                  <c:v>Share of promotion-days</c:v>
                </c:pt>
              </c:strCache>
            </c:strRef>
          </c:tx>
          <c:spPr>
            <a:solidFill>
              <a:srgbClr val="E4572E"/>
            </a:solidFill>
            <a:effectLst/>
          </c:spPr>
          <c:invertIfNegative val="0"/>
          <c:dLbls>
            <c:numFmt formatCode="0&quot;%&quot;" sourceLinked="0"/>
            <c:txPr>
              <a:bodyPr/>
              <a:lstStyle/>
              <a:p>
                <a:pPr>
                  <a:defRPr b="0" i="0" strike="noStrike" sz="1100" u="none">
                    <a:solidFill>
                      <a:srgbClr val="16202C"/>
                    </a:solidFill>
                    <a:latin typeface="+mn-lt"/>
                  </a:defRPr>
                </a:pPr>
              </a:p>
            </c:txPr>
            <c:showLegendKey val="0"/>
            <c:showVal val="1"/>
            <c:showCatName val="0"/>
            <c:showSerName val="0"/>
            <c:showPercent val="0"/>
            <c:showBubbleSize val="0"/>
            <c:showLeaderLines val="0"/>
          </c:dLbls>
          <c:cat>
            <c:multiLvlStrRef>
              <c:f>Sheet1!$A$2:$A$7</c:f>
              <c:multiLvlStrCache>
                <c:ptCount val="6"/>
                <c:lvl>
                  <c:pt idx="0">
                    <c:v>Voilà</c:v>
                  </c:pt>
                  <c:pt idx="1">
                    <c:v>No Frills</c:v>
                  </c:pt>
                  <c:pt idx="2">
                    <c:v>Loblaws</c:v>
                  </c:pt>
                  <c:pt idx="3">
                    <c:v>Metro</c:v>
                  </c:pt>
                  <c:pt idx="4">
                    <c:v>T&amp;T</c:v>
                  </c:pt>
                  <c:pt idx="5">
                    <c:v>Walmart</c:v>
                  </c:pt>
                </c:lvl>
              </c:multiLvlStrCache>
            </c:multiLvlStrRef>
          </c:cat>
          <c:val>
            <c:numRef>
              <c:f>Sheet1!$C$2:$C$7</c:f>
              <c:numCache>
                <c:formatCode>General</c:formatCode>
                <c:ptCount val="6"/>
                <c:pt idx="0">
                  <c:v>14.2</c:v>
                </c:pt>
                <c:pt idx="1">
                  <c:v>13.3</c:v>
                </c:pt>
                <c:pt idx="2">
                  <c:v>17.3</c:v>
                </c:pt>
                <c:pt idx="3">
                  <c:v>15.1</c:v>
                </c:pt>
                <c:pt idx="4">
                  <c:v>15.7</c:v>
                </c:pt>
                <c:pt idx="5">
                  <c:v>5.1</c:v>
                </c:pt>
              </c:numCache>
            </c:numRef>
          </c:val>
        </c:ser>
        <c:dLbls>
          <c:numFmt formatCode="0&quot;%&quot;" sourceLinked="0"/>
          <c:txPr>
            <a:bodyPr/>
            <a:lstStyle/>
            <a:p>
              <a:pPr>
                <a:defRPr b="0" i="0" strike="noStrike" sz="1100" u="none">
                  <a:solidFill>
                    <a:srgbClr val="16202C"/>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200" b="0" i="0" u="none" strike="noStrike">
                <a:solidFill>
                  <a:srgbClr val="4A5563"/>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noFill/>
            <a:prstDash val="solid"/>
            <a:round/>
          </a:ln>
        </c:spPr>
        <c:txPr>
          <a:bodyPr/>
          <a:lstStyle/>
          <a:p>
            <a:pPr>
              <a:defRPr sz="1100" b="0" i="0" u="none" strike="noStrike">
                <a:solidFill>
                  <a:srgbClr val="4A5563"/>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4A5563"/>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summarises an independent research project on how Canada's large grocery parents price across their banners. It uses daily online shelf prices for eight Toronto banners from Project Hammer, matched product by product, plus Statistics Canada CPI and average retail prices for context. The question: do these firms behave like independent merchants competing item by item, or like portfolio managers who segment shoppers by value proposition?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numbers carry the story. First, inside Loblaw the identical SKU is about 12% dearer under the Loblaws banner than at No Frills: the banner itself is a price signal. Second, across owners, the two conventional banners, Loblaws and Metro, sit on the identical regular price on roughly 40% of matched item-days, whereas Loblaws and Walmart almost never do. Third, timing coordination is visible inside the Loblaw portfolio but across owners it is no higher than chance. Fourth, we tested a publicly described Nov–Feb price freeze and could not detect it in the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Context: StatCan's CPI for food purchased from stores is up 32% since January 2020, versus 24% for all items. The Competition Bureau's 2023 market study described an industry concentrated in five large chains with modestly rising margins. That combination is what makes the consumer question sharp: in a concentrated market, store choice may not be the competitive check shoppers think it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structural fact behind the analysis: each large parent runs a discount banner, a conventional banner and often specialty or online formats. The asterisks mark banners in our price data. Loblaw is unusually well covered: we observe its conventional banner, its discount banner and T&amp;T, which share a product catalogue and so can be compared SKU for SKU.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 in one line: clean the scrape, separate the regular shelf price from promotions, match identical items, then measure levels, timing and promotions. The validation chart shows the scraped banners' regular-price inflation lands in the same range as StatCan's CPI for food purchased from stores, which gives confidence the data reflect real shelf prices. Synchronised or identical prices are descriptive evidence only; they are also consistent with common supplier costs.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an identical basket of roughly 1,700 UPCs carried by all four banners, prices sort into two tiers. Metro and Loblaws are about 10-13% above the four-banner average; No Frills and Walmart about 10% below. Promotions bring the conventional banners down to roughly the average but do not close the gap with the discount tier. The structurally interesting point is that Loblaw occupies both tiers.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cleanest test of portfolio pricing because both banners share one catalogue. The identical SKU is a median 12-13% dearer at Loblaws; about four in five SKUs are dearer there, and the gap is present in every category, including President's Choice and No Name. For a shopper, trading down from Loblaws to No Frills is a real saving - but the revenue stays with the same parent. That is the portfolio logic: margin from the conventional banner, volume defence from the discount banner.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Across owners, Loblaws and Metro charge the identical regular price on 40% of matched item-days and have a median gap of zero. Against Walmart, the same Loblaws items are a median +21% dearer and almost never identical. When Loblaws and Metro both change an item's price within two weeks, about 29% of the time they land on the exact same new price. We are careful: this is consistent with suggested retail prices from suppliers, not proof of collusion.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asked whether regular-price changes on identical items happen at the same time, relative to a placebo where the dates are shifted by months. Inside Loblaw, synchronisation is about twice chance. Across rival owners, it ranges from slightly below to about 1.4 times chance - the same range we see with Save-On-Foods, which does not operate in Toronto and therefore only shares supplier cost shocks. So the data do not show rivals reacting to each other day by day; the structure is maintained through tiers and price points, not rapid matching. Lead-lag analysis shows no consistent price leader.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Metro has about 34% of product-days on promotion and Loblaws 26%, versus 14% at No Frills. On the identical basket, promotions save shoppers roughly 9-10% at the conventional banners and 4-7% at the discount banners. Behaviourally, promotions work through reference prices: the higher the regular price, the bigger the visible 'saving', which keeps the conventional banners' price image competitive without moving the regular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good research habit is to test public claims. Metro has said a November-to-February freeze is an industry practice. If so, regular-price increases should drop in that window. They do not, in any meaningful way, at Loblaws, No Frills, Metro or Walmart, across two winters. A freeze may apply to supplier cost increases rather than shelf prices, or to specific items; but shoppers should not assume holiday prices are protected.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Private label is 15% of the Loblaws assortment and 20% at Voilà, versus 8% at Walmart. At Loblaws, store brands take a larger share of promotion-days than of the shelf, meaning promotions tilt shoppers toward the retailer's own margin-rich products.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the consumer-behaviour lens adds to the economics. The same price data look different once we remember that shoppers do not compare 1,700 items; they choose stores using heuristics. Banner proliferation creates an illusion of choice; the conventional tier anchors reference prices; shoppers sort themselves into tiers; and price image substitutes for price facts. None of these require explicit coordination to sustain margins - the architecture does the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Implications by audience. For regulators, the unit of analysis should be the parent, because the banner is a marketing device. For challengers, the opportunity is the conventional tier, where rivals share price points. For manufacturers, suggested prices become shared focal points. For shoppers, the practical advice is to compare across owners and to treat 'was' prices as anchors.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explicit about limits: these are online prices for one neighbourhood, there are no costs or volumes, and the timing and price-point evidence is descriptive. The most valuable extension is a shopper survey to measure awareness of banner ownership and perceived price image directly, which would test the behavioural mechanisms rather than infer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single idea: in Canadian grocery, the decision shoppers think they are making - which store - is largely a choice of tier within a small number of portfolios.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source list and the key definitions used throughout.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4263D"/>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960120"/>
          </a:xfrm>
          <a:prstGeom prst="rect">
            <a:avLst/>
          </a:prstGeom>
          <a:noFill/>
          <a:ln/>
        </p:spPr>
        <p:txBody>
          <a:bodyPr wrap="square" rtlCol="0"/>
          <a:lstStyle>
            <a:lvl1pPr algn="l" indent="0" marL="0">
              <a:buNone/>
              <a:defRPr lang="en-US" sz="2800" b="1" dirty="0">
                <a:solidFill>
                  <a:srgbClr val="16202C"/>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3" name="Text 0"/>
          <p:cNvSpPr/>
          <p:nvPr/>
        </p:nvSpPr>
        <p:spPr>
          <a:xfrm>
            <a:off x="548640" y="6473952"/>
            <a:ext cx="6400800" cy="274320"/>
          </a:xfrm>
          <a:prstGeom prst="rect">
            <a:avLst/>
          </a:prstGeom>
          <a:noFill/>
          <a:ln/>
        </p:spPr>
        <p:txBody>
          <a:bodyPr wrap="square" lIns="0" tIns="0" rIns="0" bIns="0" rtlCol="0" anchor="ctr"/>
          <a:lstStyle/>
          <a:p>
            <a:pPr indent="0" marL="0">
              <a:buNone/>
            </a:pPr>
            <a:r>
              <a:rPr lang="en-US" sz="900" dirty="0">
                <a:solidFill>
                  <a:srgbClr val="8A8F98"/>
                </a:solidFill>
                <a:latin typeface="Calibri" pitchFamily="34" charset="0"/>
                <a:ea typeface="Calibri" pitchFamily="34" charset="-122"/>
                <a:cs typeface="Calibri" pitchFamily="34" charset="-120"/>
              </a:rPr>
              <a:t>Same Owner, Different Shelf · Canada grocery pricing</a:t>
            </a:r>
            <a:endParaRPr lang="en-US" sz="900" dirty="0"/>
          </a:p>
        </p:txBody>
      </p:sp>
      <p:sp>
        <p:nvSpPr>
          <p:cNvPr id="25" name="Slide Number Placeholder 0"/>
          <p:cNvSpPr>
            <a:spLocks noGrp="1"/>
          </p:cNvSpPr>
          <p:nvPr>
            <p:ph type="sldNum" sz="quarter" idx="4294967295"/>
          </p:nvPr>
        </p:nvSpPr>
        <p:spPr>
          <a:xfrm>
            <a:off x="1118585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F98"/>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_DARK">
    <p:bg>
      <p:bgPr>
        <a:solidFill>
          <a:srgbClr val="1F3A5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377440"/>
            <a:ext cx="11094415" cy="1097280"/>
          </a:xfrm>
          <a:prstGeom prst="rect">
            <a:avLst/>
          </a:prstGeom>
          <a:noFill/>
          <a:ln/>
        </p:spPr>
        <p:txBody>
          <a:bodyPr wrap="square" rtlCol="0"/>
          <a:lstStyle>
            <a:lvl1pPr algn="l" indent="0" marL="0">
              <a:buNone/>
              <a:defRPr lang="en-US" sz="4000" b="1" dirty="0">
                <a:solidFill>
                  <a:srgbClr val="FFFFFF"/>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3566160"/>
            <a:ext cx="11094415" cy="914400"/>
          </a:xfrm>
          <a:prstGeom prst="rect">
            <a:avLst/>
          </a:prstGeom>
          <a:noFill/>
          <a:ln/>
        </p:spPr>
        <p:txBody>
          <a:bodyPr wrap="square" rtlCol="0"/>
          <a:lstStyle>
            <a:lvl1pPr algn="l" indent="0" marL="0">
              <a:buNone/>
              <a:defRPr lang="en-US" sz="1800" dirty="0">
                <a:solidFill>
                  <a:srgbClr val="C9D4E3"/>
                </a:solidFill>
                <a:latin typeface="Calibri" pitchFamily="34" charset="0"/>
                <a:ea typeface="Calibri" pitchFamily="34" charset="-122"/>
                <a:cs typeface="Calibri" pitchFamily="34" charset="-120"/>
              </a:defRPr>
            </a:lvl1pPr>
          </a:lstStyle>
          <a:p>
            <a:pPr algn="l" indent="0" marL="0">
              <a:buNone/>
            </a:pP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585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F9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6.xml"/><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7.xml"/><Relationship Id="rId2" Type="http://schemas.openxmlformats.org/officeDocument/2006/relationships/chart" Target="/ppt/charts/chart8.xml"/><Relationship Id="rId3" Type="http://schemas.openxmlformats.org/officeDocument/2006/relationships/slideLayout" Target="../slideLayouts/slideLayout3.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9.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0.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280160"/>
            <a:ext cx="10058400" cy="365760"/>
          </a:xfrm>
          <a:prstGeom prst="rect">
            <a:avLst/>
          </a:prstGeom>
          <a:noFill/>
          <a:ln/>
        </p:spPr>
        <p:txBody>
          <a:bodyPr wrap="square" lIns="0" tIns="0" rIns="0" bIns="0" rtlCol="0" anchor="ctr"/>
          <a:lstStyle/>
          <a:p>
            <a:pPr indent="0" marL="0">
              <a:buNone/>
            </a:pPr>
            <a:r>
              <a:rPr lang="en-US" sz="1400" b="1" spc="200" kern="0" dirty="0">
                <a:solidFill>
                  <a:srgbClr val="E4572E"/>
                </a:solidFill>
                <a:latin typeface="Calibri" pitchFamily="34" charset="0"/>
                <a:ea typeface="Calibri" pitchFamily="34" charset="-122"/>
                <a:cs typeface="Calibri" pitchFamily="34" charset="-120"/>
              </a:rPr>
              <a:t>CONSUMER BEHAVIOUR · PRICING STRATEGY · MARKET STRUCTURE</a:t>
            </a:r>
            <a:endParaRPr lang="en-US" sz="1400" dirty="0"/>
          </a:p>
        </p:txBody>
      </p:sp>
      <p:sp>
        <p:nvSpPr>
          <p:cNvPr id="3" name="Text 1"/>
          <p:cNvSpPr txBox="1"/>
          <p:nvPr/>
        </p:nvSpPr>
        <p:spPr>
          <a:xfrm>
            <a:off x="548640" y="1783080"/>
            <a:ext cx="10972800" cy="109728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Same Owner, Different Shelf</a:t>
            </a:r>
            <a:endParaRPr lang="en-US" sz="5400" dirty="0"/>
          </a:p>
        </p:txBody>
      </p:sp>
      <p:sp>
        <p:nvSpPr>
          <p:cNvPr id="4" name="Text 2"/>
          <p:cNvSpPr txBox="1"/>
          <p:nvPr/>
        </p:nvSpPr>
        <p:spPr>
          <a:xfrm>
            <a:off x="548640" y="2880360"/>
            <a:ext cx="10515600" cy="822960"/>
          </a:xfrm>
          <a:prstGeom prst="rect">
            <a:avLst/>
          </a:prstGeom>
          <a:noFill/>
          <a:ln/>
        </p:spPr>
        <p:txBody>
          <a:bodyPr wrap="square" lIns="0" tIns="0" rIns="0" bIns="0" rtlCol="0" anchor="ctr"/>
          <a:lstStyle/>
          <a:p>
            <a:pPr indent="0" marL="0">
              <a:buNone/>
            </a:pPr>
            <a:r>
              <a:rPr lang="en-US" sz="2200" dirty="0">
                <a:solidFill>
                  <a:srgbClr val="C9D4E3"/>
                </a:solidFill>
                <a:latin typeface="Calibri" pitchFamily="34" charset="0"/>
                <a:ea typeface="Calibri" pitchFamily="34" charset="-122"/>
                <a:cs typeface="Calibri" pitchFamily="34" charset="-120"/>
              </a:rPr>
              <a:t>How Canada's grocery oligopoly prices a portfolio of banners — and what shoppers actually see</a:t>
            </a:r>
            <a:endParaRPr lang="en-US" sz="2200" dirty="0"/>
          </a:p>
        </p:txBody>
      </p:sp>
      <p:sp>
        <p:nvSpPr>
          <p:cNvPr id="5" name="Text 3"/>
          <p:cNvSpPr txBox="1"/>
          <p:nvPr/>
        </p:nvSpPr>
        <p:spPr>
          <a:xfrm>
            <a:off x="548640" y="4937760"/>
            <a:ext cx="10515600" cy="822960"/>
          </a:xfrm>
          <a:prstGeom prst="rect">
            <a:avLst/>
          </a:prstGeom>
          <a:noFill/>
          <a:ln/>
        </p:spPr>
        <p:txBody>
          <a:bodyPr wrap="square" lIns="0" tIns="0" rIns="0" bIns="0" rtlCol="0" anchor="ctr"/>
          <a:lstStyle/>
          <a:p>
            <a:pPr indent="0" marL="0">
              <a:buNone/>
            </a:pPr>
            <a:r>
              <a:rPr lang="en-US" sz="1400" dirty="0">
                <a:solidFill>
                  <a:srgbClr val="9FB0C6"/>
                </a:solidFill>
                <a:latin typeface="Calibri" pitchFamily="34" charset="0"/>
                <a:ea typeface="Calibri" pitchFamily="34" charset="-122"/>
                <a:cs typeface="Calibri" pitchFamily="34" charset="-120"/>
              </a:rPr>
              <a:t>76.8M shelf-price observations · 8 Toronto banners · Feb 2024–Oct 2026</a:t>
            </a:r>
            <a:endParaRPr lang="en-US" sz="1400" dirty="0"/>
          </a:p>
          <a:p>
            <a:pPr indent="0" marL="0">
              <a:buNone/>
            </a:pPr>
            <a:r>
              <a:rPr lang="en-US" sz="1400" dirty="0">
                <a:solidFill>
                  <a:srgbClr val="9FB0C6"/>
                </a:solidFill>
                <a:latin typeface="Calibri" pitchFamily="34" charset="0"/>
                <a:ea typeface="Calibri" pitchFamily="34" charset="-122"/>
                <a:cs typeface="Calibri" pitchFamily="34" charset="-120"/>
              </a:rPr>
              <a:t>Data: Project Hammer (banner prices) · Statistics Canada Tables 18-10-0004 and 18-10-0245</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960120"/>
          </a:xfrm>
          <a:prstGeom prst="rect">
            <a:avLst/>
          </a:prstGeom>
          <a:noFill/>
          <a:ln/>
        </p:spPr>
        <p:txBody>
          <a:bodyPr wrap="square" lIns="0" tIns="0" rIns="0" bIns="0" rtlCol="0" anchor="t"/>
          <a:lstStyle/>
          <a:p>
            <a:pPr algn="l" indent="0" marL="0">
              <a:buNone/>
            </a:pPr>
            <a:r>
              <a:rPr lang="en-US" sz="2800" b="1" dirty="0">
                <a:solidFill>
                  <a:srgbClr val="16202C"/>
                </a:solidFill>
                <a:latin typeface="Cambria" pitchFamily="34" charset="0"/>
                <a:ea typeface="Cambria" pitchFamily="34" charset="-122"/>
                <a:cs typeface="Cambria" pitchFamily="34" charset="-120"/>
              </a:rPr>
              <a:t>The market behaves like managed price tiers, not a free-for-all</a:t>
            </a:r>
            <a:endParaRPr lang="en-US" sz="2800" dirty="0"/>
          </a:p>
        </p:txBody>
      </p:sp>
      <p:sp>
        <p:nvSpPr>
          <p:cNvPr id="3" name="Stat value"/>
          <p:cNvSpPr txBox="1"/>
          <p:nvPr/>
        </p:nvSpPr>
        <p:spPr>
          <a:xfrm>
            <a:off x="548640" y="1508760"/>
            <a:ext cx="2567864" cy="822960"/>
          </a:xfrm>
          <a:prstGeom prst="rect">
            <a:avLst/>
          </a:prstGeom>
          <a:noFill/>
          <a:ln/>
        </p:spPr>
        <p:txBody>
          <a:bodyPr wrap="square" lIns="0" tIns="0" rIns="0" bIns="0" rtlCol="0" anchor="ctr"/>
          <a:lstStyle/>
          <a:p>
            <a:pPr indent="0" marL="0">
              <a:buNone/>
            </a:pPr>
            <a:r>
              <a:rPr lang="en-US" sz="4400" b="1" dirty="0">
                <a:solidFill>
                  <a:srgbClr val="2A78D6"/>
                </a:solidFill>
                <a:latin typeface="Cambria" pitchFamily="34" charset="0"/>
                <a:ea typeface="Cambria" pitchFamily="34" charset="-122"/>
                <a:cs typeface="Cambria" pitchFamily="34" charset="-120"/>
              </a:rPr>
              <a:t>+12.5%</a:t>
            </a:r>
            <a:endParaRPr lang="en-US" sz="4400" dirty="0"/>
          </a:p>
        </p:txBody>
      </p:sp>
      <p:sp>
        <p:nvSpPr>
          <p:cNvPr id="4" name="Stat label"/>
          <p:cNvSpPr txBox="1"/>
          <p:nvPr/>
        </p:nvSpPr>
        <p:spPr>
          <a:xfrm>
            <a:off x="548640" y="2350008"/>
            <a:ext cx="2567864" cy="1005840"/>
          </a:xfrm>
          <a:prstGeom prst="rect">
            <a:avLst/>
          </a:prstGeom>
          <a:noFill/>
          <a:ln/>
        </p:spPr>
        <p:txBody>
          <a:bodyPr wrap="square" lIns="0" tIns="0" rIns="0" bIns="0" rtlCol="0" anchor="t"/>
          <a:lstStyle/>
          <a:p>
            <a:pPr indent="0" marL="0">
              <a:buNone/>
            </a:pPr>
            <a:r>
              <a:rPr lang="en-US" sz="1400" dirty="0">
                <a:solidFill>
                  <a:srgbClr val="4A5563"/>
                </a:solidFill>
                <a:latin typeface="Calibri" pitchFamily="34" charset="0"/>
                <a:ea typeface="Calibri" pitchFamily="34" charset="-122"/>
                <a:cs typeface="Calibri" pitchFamily="34" charset="-120"/>
              </a:rPr>
              <a:t>Premium for the identical item under the Loblaws banner vs No Frills — same parent, same day</a:t>
            </a:r>
            <a:endParaRPr lang="en-US" sz="1400" dirty="0"/>
          </a:p>
        </p:txBody>
      </p:sp>
      <p:sp>
        <p:nvSpPr>
          <p:cNvPr id="5" name="Stat value"/>
          <p:cNvSpPr txBox="1"/>
          <p:nvPr/>
        </p:nvSpPr>
        <p:spPr>
          <a:xfrm>
            <a:off x="3390824" y="1508760"/>
            <a:ext cx="2567864" cy="822960"/>
          </a:xfrm>
          <a:prstGeom prst="rect">
            <a:avLst/>
          </a:prstGeom>
          <a:noFill/>
          <a:ln/>
        </p:spPr>
        <p:txBody>
          <a:bodyPr wrap="square" lIns="0" tIns="0" rIns="0" bIns="0" rtlCol="0" anchor="ctr"/>
          <a:lstStyle/>
          <a:p>
            <a:pPr indent="0" marL="0">
              <a:buNone/>
            </a:pPr>
            <a:r>
              <a:rPr lang="en-US" sz="4400" b="1" dirty="0">
                <a:solidFill>
                  <a:srgbClr val="EB6834"/>
                </a:solidFill>
                <a:latin typeface="Cambria" pitchFamily="34" charset="0"/>
                <a:ea typeface="Cambria" pitchFamily="34" charset="-122"/>
                <a:cs typeface="Cambria" pitchFamily="34" charset="-120"/>
              </a:rPr>
              <a:t>40%</a:t>
            </a:r>
            <a:endParaRPr lang="en-US" sz="4400" dirty="0"/>
          </a:p>
        </p:txBody>
      </p:sp>
      <p:sp>
        <p:nvSpPr>
          <p:cNvPr id="6" name="Stat label"/>
          <p:cNvSpPr txBox="1"/>
          <p:nvPr/>
        </p:nvSpPr>
        <p:spPr>
          <a:xfrm>
            <a:off x="3390824" y="2350008"/>
            <a:ext cx="2567864" cy="1005840"/>
          </a:xfrm>
          <a:prstGeom prst="rect">
            <a:avLst/>
          </a:prstGeom>
          <a:noFill/>
          <a:ln/>
        </p:spPr>
        <p:txBody>
          <a:bodyPr wrap="square" lIns="0" tIns="0" rIns="0" bIns="0" rtlCol="0" anchor="t"/>
          <a:lstStyle/>
          <a:p>
            <a:pPr indent="0" marL="0">
              <a:buNone/>
            </a:pPr>
            <a:r>
              <a:rPr lang="en-US" sz="1400" dirty="0">
                <a:solidFill>
                  <a:srgbClr val="4A5563"/>
                </a:solidFill>
                <a:latin typeface="Calibri" pitchFamily="34" charset="0"/>
                <a:ea typeface="Calibri" pitchFamily="34" charset="-122"/>
                <a:cs typeface="Calibri" pitchFamily="34" charset="-120"/>
              </a:rPr>
              <a:t>of matched item-days where rival conventional banners Loblaws and Metro charge the identical regular price</a:t>
            </a:r>
            <a:endParaRPr lang="en-US" sz="1400" dirty="0"/>
          </a:p>
        </p:txBody>
      </p:sp>
      <p:sp>
        <p:nvSpPr>
          <p:cNvPr id="7" name="Stat value"/>
          <p:cNvSpPr txBox="1"/>
          <p:nvPr/>
        </p:nvSpPr>
        <p:spPr>
          <a:xfrm>
            <a:off x="6233008" y="1508760"/>
            <a:ext cx="2567864" cy="822960"/>
          </a:xfrm>
          <a:prstGeom prst="rect">
            <a:avLst/>
          </a:prstGeom>
          <a:noFill/>
          <a:ln/>
        </p:spPr>
        <p:txBody>
          <a:bodyPr wrap="square" lIns="0" tIns="0" rIns="0" bIns="0" rtlCol="0" anchor="ctr"/>
          <a:lstStyle/>
          <a:p>
            <a:pPr indent="0" marL="0">
              <a:buNone/>
            </a:pPr>
            <a:r>
              <a:rPr lang="en-US" sz="4400" b="1" dirty="0">
                <a:solidFill>
                  <a:srgbClr val="1F3A5F"/>
                </a:solidFill>
                <a:latin typeface="Cambria" pitchFamily="34" charset="0"/>
                <a:ea typeface="Cambria" pitchFamily="34" charset="-122"/>
                <a:cs typeface="Cambria" pitchFamily="34" charset="-120"/>
              </a:rPr>
              <a:t>1.9×</a:t>
            </a:r>
            <a:endParaRPr lang="en-US" sz="4400" dirty="0"/>
          </a:p>
        </p:txBody>
      </p:sp>
      <p:sp>
        <p:nvSpPr>
          <p:cNvPr id="8" name="Stat label"/>
          <p:cNvSpPr txBox="1"/>
          <p:nvPr/>
        </p:nvSpPr>
        <p:spPr>
          <a:xfrm>
            <a:off x="6233008" y="2350008"/>
            <a:ext cx="2567864" cy="1005840"/>
          </a:xfrm>
          <a:prstGeom prst="rect">
            <a:avLst/>
          </a:prstGeom>
          <a:noFill/>
          <a:ln/>
        </p:spPr>
        <p:txBody>
          <a:bodyPr wrap="square" lIns="0" tIns="0" rIns="0" bIns="0" rtlCol="0" anchor="t"/>
          <a:lstStyle/>
          <a:p>
            <a:pPr indent="0" marL="0">
              <a:buNone/>
            </a:pPr>
            <a:r>
              <a:rPr lang="en-US" sz="1400" dirty="0">
                <a:solidFill>
                  <a:srgbClr val="4A5563"/>
                </a:solidFill>
                <a:latin typeface="Calibri" pitchFamily="34" charset="0"/>
                <a:ea typeface="Calibri" pitchFamily="34" charset="-122"/>
                <a:cs typeface="Calibri" pitchFamily="34" charset="-120"/>
              </a:rPr>
              <a:t>Price-change synchronisation inside the Loblaw portfolio, vs 0.9× for Loblaws–Metro (1.0× = chance)</a:t>
            </a:r>
            <a:endParaRPr lang="en-US" sz="1400" dirty="0"/>
          </a:p>
        </p:txBody>
      </p:sp>
      <p:sp>
        <p:nvSpPr>
          <p:cNvPr id="9" name="Stat value"/>
          <p:cNvSpPr txBox="1"/>
          <p:nvPr/>
        </p:nvSpPr>
        <p:spPr>
          <a:xfrm>
            <a:off x="9075191" y="1508760"/>
            <a:ext cx="2567864" cy="822960"/>
          </a:xfrm>
          <a:prstGeom prst="rect">
            <a:avLst/>
          </a:prstGeom>
          <a:noFill/>
          <a:ln/>
        </p:spPr>
        <p:txBody>
          <a:bodyPr wrap="square" lIns="0" tIns="0" rIns="0" bIns="0" rtlCol="0" anchor="ctr"/>
          <a:lstStyle/>
          <a:p>
            <a:pPr indent="0" marL="0">
              <a:buNone/>
            </a:pPr>
            <a:r>
              <a:rPr lang="en-US" sz="4400" b="1" dirty="0">
                <a:solidFill>
                  <a:srgbClr val="E4572E"/>
                </a:solidFill>
                <a:latin typeface="Cambria" pitchFamily="34" charset="0"/>
                <a:ea typeface="Cambria" pitchFamily="34" charset="-122"/>
                <a:cs typeface="Cambria" pitchFamily="34" charset="-120"/>
              </a:rPr>
              <a:t>0.97</a:t>
            </a:r>
            <a:endParaRPr lang="en-US" sz="4400" dirty="0"/>
          </a:p>
        </p:txBody>
      </p:sp>
      <p:sp>
        <p:nvSpPr>
          <p:cNvPr id="10" name="Stat label"/>
          <p:cNvSpPr txBox="1"/>
          <p:nvPr/>
        </p:nvSpPr>
        <p:spPr>
          <a:xfrm>
            <a:off x="9075191" y="2350008"/>
            <a:ext cx="2567864" cy="1005840"/>
          </a:xfrm>
          <a:prstGeom prst="rect">
            <a:avLst/>
          </a:prstGeom>
          <a:noFill/>
          <a:ln/>
        </p:spPr>
        <p:txBody>
          <a:bodyPr wrap="square" lIns="0" tIns="0" rIns="0" bIns="0" rtlCol="0" anchor="t"/>
          <a:lstStyle/>
          <a:p>
            <a:pPr indent="0" marL="0">
              <a:buNone/>
            </a:pPr>
            <a:r>
              <a:rPr lang="en-US" sz="1400" dirty="0">
                <a:solidFill>
                  <a:srgbClr val="4A5563"/>
                </a:solidFill>
                <a:latin typeface="Calibri" pitchFamily="34" charset="0"/>
                <a:ea typeface="Calibri" pitchFamily="34" charset="-122"/>
                <a:cs typeface="Calibri" pitchFamily="34" charset="-120"/>
              </a:rPr>
              <a:t>Loblaws' increase rate inside vs outside the Nov–Feb “price freeze” window: no visible freeze</a:t>
            </a:r>
            <a:endParaRPr lang="en-US" sz="1400" dirty="0"/>
          </a:p>
        </p:txBody>
      </p:sp>
      <p:sp>
        <p:nvSpPr>
          <p:cNvPr id="11" name="Takeaway panel"/>
          <p:cNvSpPr/>
          <p:nvPr/>
        </p:nvSpPr>
        <p:spPr>
          <a:xfrm>
            <a:off x="548640" y="3977640"/>
            <a:ext cx="11094415" cy="1783080"/>
          </a:xfrm>
          <a:prstGeom prst="roundRect">
            <a:avLst>
              <a:gd name="adj" fmla="val 4103"/>
            </a:avLst>
          </a:prstGeom>
          <a:solidFill>
            <a:srgbClr val="F3F5F7"/>
          </a:solidFill>
          <a:ln w="12700">
            <a:solidFill>
              <a:srgbClr val="F3F5F7"/>
            </a:solidFill>
            <a:prstDash val="solid"/>
          </a:ln>
        </p:spPr>
      </p:sp>
      <p:sp>
        <p:nvSpPr>
          <p:cNvPr id="12" name="Takeaway text"/>
          <p:cNvSpPr txBox="1"/>
          <p:nvPr/>
        </p:nvSpPr>
        <p:spPr>
          <a:xfrm>
            <a:off x="777240" y="4160520"/>
            <a:ext cx="10637215" cy="1417320"/>
          </a:xfrm>
          <a:prstGeom prst="rect">
            <a:avLst/>
          </a:prstGeom>
          <a:noFill/>
          <a:ln/>
        </p:spPr>
        <p:txBody>
          <a:bodyPr wrap="square" lIns="0" tIns="0" rIns="0" bIns="0" rtlCol="0" anchor="t"/>
          <a:lstStyle/>
          <a:p>
            <a:pPr indent="0" marL="0">
              <a:spcAft>
                <a:spcPts val="600"/>
              </a:spcAft>
              <a:buNone/>
            </a:pPr>
            <a:r>
              <a:rPr lang="en-US" sz="1500" b="1" dirty="0">
                <a:solidFill>
                  <a:srgbClr val="1F3A5F"/>
                </a:solidFill>
                <a:latin typeface="Calibri" pitchFamily="34" charset="0"/>
                <a:ea typeface="Calibri" pitchFamily="34" charset="-122"/>
                <a:cs typeface="Calibri" pitchFamily="34" charset="-120"/>
              </a:rPr>
              <a:t>So what</a:t>
            </a:r>
            <a:endParaRPr lang="en-US" sz="1500" dirty="0"/>
          </a:p>
          <a:p>
            <a:pPr indent="0" marL="0">
              <a:spcAft>
                <a:spcPts val="600"/>
              </a:spcAft>
              <a:buNone/>
            </a:pPr>
            <a:r>
              <a:rPr lang="en-US" sz="1400" dirty="0">
                <a:solidFill>
                  <a:srgbClr val="4A5563"/>
                </a:solidFill>
                <a:latin typeface="Calibri" pitchFamily="34" charset="0"/>
                <a:ea typeface="Calibri" pitchFamily="34" charset="-122"/>
                <a:cs typeface="Calibri" pitchFamily="34" charset="-120"/>
              </a:rPr>
              <a:t>Shoppers face a ladder of price tiers — conventional banners at one price point, discount banners at another — and the largest parent owns a rung on both. Competition shows up between tiers more than within them, and a shopper who trades down to save money often stays inside the same corporate portfolio. Price perception is shaped as much by banner architecture and “was” prices as by the price of any single item.</a:t>
            </a:r>
            <a:endParaRPr lang="en-US" sz="1500" dirty="0"/>
          </a:p>
        </p:txBody>
      </p:sp>
      <p:sp>
        <p:nvSpPr>
          <p:cNvPr id="13" name="Source"/>
          <p:cNvSpPr txBox="1"/>
          <p:nvPr/>
        </p:nvSpPr>
        <p:spPr>
          <a:xfrm>
            <a:off x="548640" y="6144768"/>
            <a:ext cx="11094415" cy="274320"/>
          </a:xfrm>
          <a:prstGeom prst="rect">
            <a:avLst/>
          </a:prstGeom>
          <a:noFill/>
          <a:ln/>
        </p:spPr>
        <p:txBody>
          <a:bodyPr wrap="square" lIns="0" tIns="0" rIns="0" bIns="0" rtlCol="0" anchor="ctr"/>
          <a:lstStyle/>
          <a:p>
            <a:pPr indent="0" marL="0">
              <a:buNone/>
            </a:pPr>
            <a:r>
              <a:rPr lang="en-US" sz="1000" dirty="0">
                <a:solidFill>
                  <a:srgbClr val="8A8F98"/>
                </a:solidFill>
                <a:latin typeface="Calibri" pitchFamily="34" charset="0"/>
                <a:ea typeface="Calibri" pitchFamily="34" charset="-122"/>
                <a:cs typeface="Calibri" pitchFamily="34" charset="-120"/>
              </a:rPr>
              <a:t>Source: Project Hammer (J. Filipp) Toronto online shelf prices, Feb 2024–Oct 2026; author analysis.</a:t>
            </a:r>
            <a:endParaRPr lang="en-US" sz="1000" dirty="0"/>
          </a:p>
        </p:txBody>
      </p:sp>
      <p:sp>
        <p:nvSpPr>
          <p:cNvPr id="25" name="Slide Number Placeholder 0"/>
          <p:cNvSpPr>
            <a:spLocks noGrp="1"/>
          </p:cNvSpPr>
          <p:nvPr>
            <p:ph type="sldNum" sz="quarter" idx="4294967295"/>
          </p:nvPr>
        </p:nvSpPr>
        <p:spPr>
          <a:xfrm>
            <a:off x="1118585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F9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960120"/>
          </a:xfrm>
          <a:prstGeom prst="rect">
            <a:avLst/>
          </a:prstGeom>
          <a:noFill/>
          <a:ln/>
        </p:spPr>
        <p:txBody>
          <a:bodyPr wrap="square" lIns="0" tIns="0" rIns="0" bIns="0" rtlCol="0" anchor="t"/>
          <a:lstStyle/>
          <a:p>
            <a:pPr algn="l" indent="0" marL="0">
              <a:buNone/>
            </a:pPr>
            <a:r>
              <a:rPr lang="en-US" sz="2800" b="1" dirty="0">
                <a:solidFill>
                  <a:srgbClr val="16202C"/>
                </a:solidFill>
                <a:latin typeface="Cambria" pitchFamily="34" charset="0"/>
                <a:ea typeface="Cambria" pitchFamily="34" charset="-122"/>
                <a:cs typeface="Cambria" pitchFamily="34" charset="-120"/>
              </a:rPr>
              <a:t>Grocery prices are up 32% since 2020, outpacing overall inflation</a:t>
            </a:r>
            <a:endParaRPr lang="en-US" sz="2800" dirty="0"/>
          </a:p>
        </p:txBody>
      </p:sp>
      <p:graphicFrame>
        <p:nvGraphicFramePr>
          <p:cNvPr id="3" name="Chart 0" descr=""/>
          <p:cNvGraphicFramePr/>
          <p:nvPr/>
        </p:nvGraphicFramePr>
        <p:xfrm>
          <a:off x="548640" y="1417320"/>
          <a:ext cx="6949440" cy="4572000"/>
        </p:xfrm>
        <a:graphic xmlns:a="http://schemas.openxmlformats.org/drawingml/2006/main">
          <a:graphicData uri="http://schemas.openxmlformats.org/drawingml/2006/chart">
            <c:chart xmlns:c="http://schemas.openxmlformats.org/drawingml/2006/chart" r:id="rId1"/>
          </a:graphicData>
        </a:graphic>
      </p:graphicFrame>
      <p:sp>
        <p:nvSpPr>
          <p:cNvPr id="4" name="Takeaway panel"/>
          <p:cNvSpPr/>
          <p:nvPr/>
        </p:nvSpPr>
        <p:spPr>
          <a:xfrm>
            <a:off x="7863840" y="1417320"/>
            <a:ext cx="3779215" cy="2240280"/>
          </a:xfrm>
          <a:prstGeom prst="roundRect">
            <a:avLst>
              <a:gd name="adj" fmla="val 3265"/>
            </a:avLst>
          </a:prstGeom>
          <a:solidFill>
            <a:srgbClr val="F3F5F7"/>
          </a:solidFill>
          <a:ln w="12700">
            <a:solidFill>
              <a:srgbClr val="F3F5F7"/>
            </a:solidFill>
            <a:prstDash val="solid"/>
          </a:ln>
        </p:spPr>
      </p:sp>
      <p:sp>
        <p:nvSpPr>
          <p:cNvPr id="5" name="Takeaway text"/>
          <p:cNvSpPr txBox="1"/>
          <p:nvPr/>
        </p:nvSpPr>
        <p:spPr>
          <a:xfrm>
            <a:off x="8092440" y="1600200"/>
            <a:ext cx="3322015" cy="1874520"/>
          </a:xfrm>
          <a:prstGeom prst="rect">
            <a:avLst/>
          </a:prstGeom>
          <a:noFill/>
          <a:ln/>
        </p:spPr>
        <p:txBody>
          <a:bodyPr wrap="square" lIns="0" tIns="0" rIns="0" bIns="0" rtlCol="0" anchor="t"/>
          <a:lstStyle/>
          <a:p>
            <a:pPr indent="0" marL="0">
              <a:spcAft>
                <a:spcPts val="600"/>
              </a:spcAft>
              <a:buNone/>
            </a:pPr>
            <a:r>
              <a:rPr lang="en-US" sz="1500" b="1" dirty="0">
                <a:solidFill>
                  <a:srgbClr val="1F3A5F"/>
                </a:solidFill>
                <a:latin typeface="Calibri" pitchFamily="34" charset="0"/>
                <a:ea typeface="Calibri" pitchFamily="34" charset="-122"/>
                <a:cs typeface="Calibri" pitchFamily="34" charset="-120"/>
              </a:rPr>
              <a:t>A concentrated market</a:t>
            </a:r>
            <a:endParaRPr lang="en-US" sz="1500" dirty="0"/>
          </a:p>
          <a:p>
            <a:pPr indent="0" marL="0">
              <a:spcAft>
                <a:spcPts val="600"/>
              </a:spcAft>
              <a:buNone/>
            </a:pPr>
            <a:r>
              <a:rPr lang="en-US" sz="1400" dirty="0">
                <a:solidFill>
                  <a:srgbClr val="4A5563"/>
                </a:solidFill>
                <a:latin typeface="Calibri" pitchFamily="34" charset="0"/>
                <a:ea typeface="Calibri" pitchFamily="34" charset="-122"/>
                <a:cs typeface="Calibri" pitchFamily="34" charset="-120"/>
              </a:rPr>
              <a:t>The Competition Bureau's 2023 market study counted five large chains (Loblaw, Sobeys, Metro, Costco, Walmart) and found grocery gross margins up modestly — roughly 1–2 points since 2017.</a:t>
            </a:r>
            <a:endParaRPr lang="en-US" sz="1500" dirty="0"/>
          </a:p>
        </p:txBody>
      </p:sp>
      <p:sp>
        <p:nvSpPr>
          <p:cNvPr id="6" name="Takeaway panel"/>
          <p:cNvSpPr/>
          <p:nvPr/>
        </p:nvSpPr>
        <p:spPr>
          <a:xfrm>
            <a:off x="7863840" y="3794760"/>
            <a:ext cx="3779215" cy="2148840"/>
          </a:xfrm>
          <a:prstGeom prst="roundRect">
            <a:avLst>
              <a:gd name="adj" fmla="val 3404"/>
            </a:avLst>
          </a:prstGeom>
          <a:solidFill>
            <a:srgbClr val="F3F5F7"/>
          </a:solidFill>
          <a:ln w="12700">
            <a:solidFill>
              <a:srgbClr val="F3F5F7"/>
            </a:solidFill>
            <a:prstDash val="solid"/>
          </a:ln>
        </p:spPr>
      </p:sp>
      <p:sp>
        <p:nvSpPr>
          <p:cNvPr id="7" name="Takeaway text"/>
          <p:cNvSpPr txBox="1"/>
          <p:nvPr/>
        </p:nvSpPr>
        <p:spPr>
          <a:xfrm>
            <a:off x="8092440" y="3977640"/>
            <a:ext cx="3322015" cy="1783080"/>
          </a:xfrm>
          <a:prstGeom prst="rect">
            <a:avLst/>
          </a:prstGeom>
          <a:noFill/>
          <a:ln/>
        </p:spPr>
        <p:txBody>
          <a:bodyPr wrap="square" lIns="0" tIns="0" rIns="0" bIns="0" rtlCol="0" anchor="t"/>
          <a:lstStyle/>
          <a:p>
            <a:pPr indent="0" marL="0">
              <a:spcAft>
                <a:spcPts val="600"/>
              </a:spcAft>
              <a:buNone/>
            </a:pPr>
            <a:r>
              <a:rPr lang="en-US" sz="1500" b="1" dirty="0">
                <a:solidFill>
                  <a:srgbClr val="E4572E"/>
                </a:solidFill>
                <a:latin typeface="Calibri" pitchFamily="34" charset="0"/>
                <a:ea typeface="Calibri" pitchFamily="34" charset="-122"/>
                <a:cs typeface="Calibri" pitchFamily="34" charset="-120"/>
              </a:rPr>
              <a:t>The behavioural question</a:t>
            </a:r>
            <a:endParaRPr lang="en-US" sz="1500" dirty="0"/>
          </a:p>
          <a:p>
            <a:pPr indent="0" marL="0">
              <a:spcAft>
                <a:spcPts val="600"/>
              </a:spcAft>
              <a:buNone/>
            </a:pPr>
            <a:r>
              <a:rPr lang="en-US" sz="1400" dirty="0">
                <a:solidFill>
                  <a:srgbClr val="4A5563"/>
                </a:solidFill>
                <a:latin typeface="Calibri" pitchFamily="34" charset="0"/>
                <a:ea typeface="Calibri" pitchFamily="34" charset="-122"/>
                <a:cs typeface="Calibri" pitchFamily="34" charset="-120"/>
              </a:rPr>
              <a:t>When a few parents run many banners, does a “cheaper store” signal real competition — or a different rung of the same ladder?</a:t>
            </a:r>
            <a:endParaRPr lang="en-US" sz="1500" dirty="0"/>
          </a:p>
        </p:txBody>
      </p:sp>
      <p:sp>
        <p:nvSpPr>
          <p:cNvPr id="8" name="Source"/>
          <p:cNvSpPr txBox="1"/>
          <p:nvPr/>
        </p:nvSpPr>
        <p:spPr>
          <a:xfrm>
            <a:off x="548640" y="6144768"/>
            <a:ext cx="11094415" cy="274320"/>
          </a:xfrm>
          <a:prstGeom prst="rect">
            <a:avLst/>
          </a:prstGeom>
          <a:noFill/>
          <a:ln/>
        </p:spPr>
        <p:txBody>
          <a:bodyPr wrap="square" lIns="0" tIns="0" rIns="0" bIns="0" rtlCol="0" anchor="ctr"/>
          <a:lstStyle/>
          <a:p>
            <a:pPr indent="0" marL="0">
              <a:buNone/>
            </a:pPr>
            <a:r>
              <a:rPr lang="en-US" sz="1000" dirty="0">
                <a:solidFill>
                  <a:srgbClr val="8A8F98"/>
                </a:solidFill>
                <a:latin typeface="Calibri" pitchFamily="34" charset="0"/>
                <a:ea typeface="Calibri" pitchFamily="34" charset="-122"/>
                <a:cs typeface="Calibri" pitchFamily="34" charset="-120"/>
              </a:rPr>
              <a:t>Sources: Statistics Canada Table 18-10-0004-01 (CPI, NSA); Competition Bureau, Retail Grocery Market Study (June 2023).</a:t>
            </a:r>
            <a:endParaRPr lang="en-US" sz="1000" dirty="0"/>
          </a:p>
        </p:txBody>
      </p:sp>
      <p:sp>
        <p:nvSpPr>
          <p:cNvPr id="25" name="Slide Number Placeholder 0"/>
          <p:cNvSpPr>
            <a:spLocks noGrp="1"/>
          </p:cNvSpPr>
          <p:nvPr>
            <p:ph type="sldNum" sz="quarter" idx="4294967295"/>
          </p:nvPr>
        </p:nvSpPr>
        <p:spPr>
          <a:xfrm>
            <a:off x="1118585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F9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960120"/>
          </a:xfrm>
          <a:prstGeom prst="rect">
            <a:avLst/>
          </a:prstGeom>
          <a:noFill/>
          <a:ln/>
        </p:spPr>
        <p:txBody>
          <a:bodyPr wrap="square" lIns="0" tIns="0" rIns="0" bIns="0" rtlCol="0" anchor="t"/>
          <a:lstStyle/>
          <a:p>
            <a:pPr algn="l" indent="0" marL="0">
              <a:buNone/>
            </a:pPr>
            <a:r>
              <a:rPr lang="en-US" sz="2800" b="1" dirty="0">
                <a:solidFill>
                  <a:srgbClr val="16202C"/>
                </a:solidFill>
                <a:latin typeface="Cambria" pitchFamily="34" charset="0"/>
                <a:ea typeface="Cambria" pitchFamily="34" charset="-122"/>
                <a:cs typeface="Cambria" pitchFamily="34" charset="-120"/>
              </a:rPr>
              <a:t>Each parent spans several value propositions under different banner names</a:t>
            </a:r>
            <a:endParaRPr lang="en-US" sz="2800" dirty="0"/>
          </a:p>
        </p:txBody>
      </p:sp>
      <p:sp>
        <p:nvSpPr>
          <p:cNvPr id="3" name="Text 1"/>
          <p:cNvSpPr txBox="1"/>
          <p:nvPr/>
        </p:nvSpPr>
        <p:spPr>
          <a:xfrm>
            <a:off x="2651760" y="1417320"/>
            <a:ext cx="2156384" cy="411480"/>
          </a:xfrm>
          <a:prstGeom prst="rect">
            <a:avLst/>
          </a:prstGeom>
          <a:noFill/>
          <a:ln/>
        </p:spPr>
        <p:txBody>
          <a:bodyPr wrap="square" lIns="0" tIns="0" rIns="0" bIns="0" rtlCol="0" anchor="ctr"/>
          <a:lstStyle/>
          <a:p>
            <a:pPr algn="ctr" indent="0" marL="0">
              <a:buNone/>
            </a:pPr>
            <a:r>
              <a:rPr lang="en-US" sz="1400" b="1" dirty="0">
                <a:solidFill>
                  <a:srgbClr val="4A5563"/>
                </a:solidFill>
                <a:latin typeface="Calibri" pitchFamily="34" charset="0"/>
                <a:ea typeface="Calibri" pitchFamily="34" charset="-122"/>
                <a:cs typeface="Calibri" pitchFamily="34" charset="-120"/>
              </a:rPr>
              <a:t>Discount</a:t>
            </a:r>
            <a:endParaRPr lang="en-US" sz="1400" dirty="0"/>
          </a:p>
        </p:txBody>
      </p:sp>
      <p:sp>
        <p:nvSpPr>
          <p:cNvPr id="4" name="Text 2"/>
          <p:cNvSpPr txBox="1"/>
          <p:nvPr/>
        </p:nvSpPr>
        <p:spPr>
          <a:xfrm>
            <a:off x="4899584" y="1417320"/>
            <a:ext cx="2156384" cy="411480"/>
          </a:xfrm>
          <a:prstGeom prst="rect">
            <a:avLst/>
          </a:prstGeom>
          <a:noFill/>
          <a:ln/>
        </p:spPr>
        <p:txBody>
          <a:bodyPr wrap="square" lIns="0" tIns="0" rIns="0" bIns="0" rtlCol="0" anchor="ctr"/>
          <a:lstStyle/>
          <a:p>
            <a:pPr algn="ctr" indent="0" marL="0">
              <a:buNone/>
            </a:pPr>
            <a:r>
              <a:rPr lang="en-US" sz="1400" b="1" dirty="0">
                <a:solidFill>
                  <a:srgbClr val="4A5563"/>
                </a:solidFill>
                <a:latin typeface="Calibri" pitchFamily="34" charset="0"/>
                <a:ea typeface="Calibri" pitchFamily="34" charset="-122"/>
                <a:cs typeface="Calibri" pitchFamily="34" charset="-120"/>
              </a:rPr>
              <a:t>Conventional</a:t>
            </a:r>
            <a:endParaRPr lang="en-US" sz="1400" dirty="0"/>
          </a:p>
        </p:txBody>
      </p:sp>
      <p:sp>
        <p:nvSpPr>
          <p:cNvPr id="5" name="Text 3"/>
          <p:cNvSpPr txBox="1"/>
          <p:nvPr/>
        </p:nvSpPr>
        <p:spPr>
          <a:xfrm>
            <a:off x="7147408" y="1417320"/>
            <a:ext cx="2156384" cy="411480"/>
          </a:xfrm>
          <a:prstGeom prst="rect">
            <a:avLst/>
          </a:prstGeom>
          <a:noFill/>
          <a:ln/>
        </p:spPr>
        <p:txBody>
          <a:bodyPr wrap="square" lIns="0" tIns="0" rIns="0" bIns="0" rtlCol="0" anchor="ctr"/>
          <a:lstStyle/>
          <a:p>
            <a:pPr algn="ctr" indent="0" marL="0">
              <a:buNone/>
            </a:pPr>
            <a:r>
              <a:rPr lang="en-US" sz="1400" b="1" dirty="0">
                <a:solidFill>
                  <a:srgbClr val="4A5563"/>
                </a:solidFill>
                <a:latin typeface="Calibri" pitchFamily="34" charset="0"/>
                <a:ea typeface="Calibri" pitchFamily="34" charset="-122"/>
                <a:cs typeface="Calibri" pitchFamily="34" charset="-120"/>
              </a:rPr>
              <a:t>Specialty / premium</a:t>
            </a:r>
            <a:endParaRPr lang="en-US" sz="1400" dirty="0"/>
          </a:p>
        </p:txBody>
      </p:sp>
      <p:sp>
        <p:nvSpPr>
          <p:cNvPr id="6" name="Text 4"/>
          <p:cNvSpPr txBox="1"/>
          <p:nvPr/>
        </p:nvSpPr>
        <p:spPr>
          <a:xfrm>
            <a:off x="9395231" y="1417320"/>
            <a:ext cx="2156384" cy="411480"/>
          </a:xfrm>
          <a:prstGeom prst="rect">
            <a:avLst/>
          </a:prstGeom>
          <a:noFill/>
          <a:ln/>
        </p:spPr>
        <p:txBody>
          <a:bodyPr wrap="square" lIns="0" tIns="0" rIns="0" bIns="0" rtlCol="0" anchor="ctr"/>
          <a:lstStyle/>
          <a:p>
            <a:pPr algn="ctr" indent="0" marL="0">
              <a:buNone/>
            </a:pPr>
            <a:r>
              <a:rPr lang="en-US" sz="1400" b="1" dirty="0">
                <a:solidFill>
                  <a:srgbClr val="4A5563"/>
                </a:solidFill>
                <a:latin typeface="Calibri" pitchFamily="34" charset="0"/>
                <a:ea typeface="Calibri" pitchFamily="34" charset="-122"/>
                <a:cs typeface="Calibri" pitchFamily="34" charset="-120"/>
              </a:rPr>
              <a:t>Online</a:t>
            </a:r>
            <a:endParaRPr lang="en-US" sz="1400" dirty="0"/>
          </a:p>
        </p:txBody>
      </p:sp>
      <p:sp>
        <p:nvSpPr>
          <p:cNvPr id="7" name="Parent Loblaw"/>
          <p:cNvSpPr/>
          <p:nvPr/>
        </p:nvSpPr>
        <p:spPr>
          <a:xfrm>
            <a:off x="548640" y="1920240"/>
            <a:ext cx="1965960" cy="896112"/>
          </a:xfrm>
          <a:prstGeom prst="roundRect">
            <a:avLst>
              <a:gd name="adj" fmla="val 8163"/>
            </a:avLst>
          </a:prstGeom>
          <a:solidFill>
            <a:srgbClr val="2A78D6"/>
          </a:solidFill>
          <a:ln w="12700">
            <a:solidFill>
              <a:srgbClr val="2A78D6"/>
            </a:solidFill>
            <a:prstDash val="solid"/>
          </a:ln>
        </p:spPr>
      </p:sp>
      <p:sp>
        <p:nvSpPr>
          <p:cNvPr id="8" name="Text 6"/>
          <p:cNvSpPr txBox="1"/>
          <p:nvPr/>
        </p:nvSpPr>
        <p:spPr>
          <a:xfrm>
            <a:off x="548640" y="1920240"/>
            <a:ext cx="1965960" cy="896112"/>
          </a:xfrm>
          <a:prstGeom prst="rect">
            <a:avLst/>
          </a:prstGeom>
          <a:noFill/>
          <a:ln/>
        </p:spPr>
        <p:txBody>
          <a:bodyPr wrap="square" lIns="635" tIns="635" rIns="635" bIns="635"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Loblaw</a:t>
            </a:r>
            <a:endParaRPr lang="en-US" sz="1500" dirty="0"/>
          </a:p>
        </p:txBody>
      </p:sp>
      <p:sp>
        <p:nvSpPr>
          <p:cNvPr id="9" name="Shape 7"/>
          <p:cNvSpPr/>
          <p:nvPr/>
        </p:nvSpPr>
        <p:spPr>
          <a:xfrm>
            <a:off x="2651760" y="1920240"/>
            <a:ext cx="2156384" cy="896112"/>
          </a:xfrm>
          <a:prstGeom prst="roundRect">
            <a:avLst>
              <a:gd name="adj" fmla="val 6122"/>
            </a:avLst>
          </a:prstGeom>
          <a:solidFill>
            <a:srgbClr val="F3F5F7"/>
          </a:solidFill>
          <a:ln w="9525">
            <a:solidFill>
              <a:srgbClr val="E3E6EA"/>
            </a:solidFill>
            <a:prstDash val="solid"/>
          </a:ln>
        </p:spPr>
      </p:sp>
      <p:sp>
        <p:nvSpPr>
          <p:cNvPr id="10" name="Text 8"/>
          <p:cNvSpPr txBox="1"/>
          <p:nvPr/>
        </p:nvSpPr>
        <p:spPr>
          <a:xfrm>
            <a:off x="2724912" y="1920240"/>
            <a:ext cx="2010080" cy="896112"/>
          </a:xfrm>
          <a:prstGeom prst="rect">
            <a:avLst/>
          </a:prstGeom>
          <a:noFill/>
          <a:ln/>
        </p:spPr>
        <p:txBody>
          <a:bodyPr wrap="square" lIns="0" tIns="0" rIns="0" bIns="0" rtlCol="0" anchor="ctr"/>
          <a:lstStyle/>
          <a:p>
            <a:pPr algn="ctr" indent="0" marL="0">
              <a:buNone/>
            </a:pPr>
            <a:r>
              <a:rPr lang="en-US" sz="1200" dirty="0">
                <a:solidFill>
                  <a:srgbClr val="16202C"/>
                </a:solidFill>
                <a:latin typeface="Calibri" pitchFamily="34" charset="0"/>
                <a:ea typeface="Calibri" pitchFamily="34" charset="-122"/>
                <a:cs typeface="Calibri" pitchFamily="34" charset="-120"/>
              </a:rPr>
              <a:t>No Frills*, Real Canadian Superstore, Maxi</a:t>
            </a:r>
            <a:endParaRPr lang="en-US" sz="1200" dirty="0"/>
          </a:p>
        </p:txBody>
      </p:sp>
      <p:sp>
        <p:nvSpPr>
          <p:cNvPr id="11" name="Shape 9"/>
          <p:cNvSpPr/>
          <p:nvPr/>
        </p:nvSpPr>
        <p:spPr>
          <a:xfrm>
            <a:off x="4899584" y="1920240"/>
            <a:ext cx="2156384" cy="896112"/>
          </a:xfrm>
          <a:prstGeom prst="roundRect">
            <a:avLst>
              <a:gd name="adj" fmla="val 6122"/>
            </a:avLst>
          </a:prstGeom>
          <a:solidFill>
            <a:srgbClr val="F3F5F7"/>
          </a:solidFill>
          <a:ln w="9525">
            <a:solidFill>
              <a:srgbClr val="E3E6EA"/>
            </a:solidFill>
            <a:prstDash val="solid"/>
          </a:ln>
        </p:spPr>
      </p:sp>
      <p:sp>
        <p:nvSpPr>
          <p:cNvPr id="12" name="Text 10"/>
          <p:cNvSpPr txBox="1"/>
          <p:nvPr/>
        </p:nvSpPr>
        <p:spPr>
          <a:xfrm>
            <a:off x="4972736" y="1920240"/>
            <a:ext cx="2010080" cy="896112"/>
          </a:xfrm>
          <a:prstGeom prst="rect">
            <a:avLst/>
          </a:prstGeom>
          <a:noFill/>
          <a:ln/>
        </p:spPr>
        <p:txBody>
          <a:bodyPr wrap="square" lIns="0" tIns="0" rIns="0" bIns="0" rtlCol="0" anchor="ctr"/>
          <a:lstStyle/>
          <a:p>
            <a:pPr algn="ctr" indent="0" marL="0">
              <a:buNone/>
            </a:pPr>
            <a:r>
              <a:rPr lang="en-US" sz="1200" dirty="0">
                <a:solidFill>
                  <a:srgbClr val="16202C"/>
                </a:solidFill>
                <a:latin typeface="Calibri" pitchFamily="34" charset="0"/>
                <a:ea typeface="Calibri" pitchFamily="34" charset="-122"/>
                <a:cs typeface="Calibri" pitchFamily="34" charset="-120"/>
              </a:rPr>
              <a:t>Loblaws*, Zehrs, Fortinos, Provigo</a:t>
            </a:r>
            <a:endParaRPr lang="en-US" sz="1200" dirty="0"/>
          </a:p>
        </p:txBody>
      </p:sp>
      <p:sp>
        <p:nvSpPr>
          <p:cNvPr id="13" name="Shape 11"/>
          <p:cNvSpPr/>
          <p:nvPr/>
        </p:nvSpPr>
        <p:spPr>
          <a:xfrm>
            <a:off x="7147408" y="1920240"/>
            <a:ext cx="2156384" cy="896112"/>
          </a:xfrm>
          <a:prstGeom prst="roundRect">
            <a:avLst>
              <a:gd name="adj" fmla="val 6122"/>
            </a:avLst>
          </a:prstGeom>
          <a:solidFill>
            <a:srgbClr val="F3F5F7"/>
          </a:solidFill>
          <a:ln w="9525">
            <a:solidFill>
              <a:srgbClr val="E3E6EA"/>
            </a:solidFill>
            <a:prstDash val="solid"/>
          </a:ln>
        </p:spPr>
      </p:sp>
      <p:sp>
        <p:nvSpPr>
          <p:cNvPr id="14" name="Text 12"/>
          <p:cNvSpPr txBox="1"/>
          <p:nvPr/>
        </p:nvSpPr>
        <p:spPr>
          <a:xfrm>
            <a:off x="7220560" y="1920240"/>
            <a:ext cx="2010080" cy="896112"/>
          </a:xfrm>
          <a:prstGeom prst="rect">
            <a:avLst/>
          </a:prstGeom>
          <a:noFill/>
          <a:ln/>
        </p:spPr>
        <p:txBody>
          <a:bodyPr wrap="square" lIns="0" tIns="0" rIns="0" bIns="0" rtlCol="0" anchor="ctr"/>
          <a:lstStyle/>
          <a:p>
            <a:pPr algn="ctr" indent="0" marL="0">
              <a:buNone/>
            </a:pPr>
            <a:r>
              <a:rPr lang="en-US" sz="1200" dirty="0">
                <a:solidFill>
                  <a:srgbClr val="16202C"/>
                </a:solidFill>
                <a:latin typeface="Calibri" pitchFamily="34" charset="0"/>
                <a:ea typeface="Calibri" pitchFamily="34" charset="-122"/>
                <a:cs typeface="Calibri" pitchFamily="34" charset="-120"/>
              </a:rPr>
              <a:t>T&amp;T*</a:t>
            </a:r>
            <a:endParaRPr lang="en-US" sz="1200" dirty="0"/>
          </a:p>
        </p:txBody>
      </p:sp>
      <p:sp>
        <p:nvSpPr>
          <p:cNvPr id="15" name="Shape 13"/>
          <p:cNvSpPr/>
          <p:nvPr/>
        </p:nvSpPr>
        <p:spPr>
          <a:xfrm>
            <a:off x="9395231" y="1920240"/>
            <a:ext cx="2156384" cy="896112"/>
          </a:xfrm>
          <a:prstGeom prst="roundRect">
            <a:avLst>
              <a:gd name="adj" fmla="val 6122"/>
            </a:avLst>
          </a:prstGeom>
          <a:solidFill>
            <a:srgbClr val="F3F5F7"/>
          </a:solidFill>
          <a:ln w="9525">
            <a:solidFill>
              <a:srgbClr val="E3E6EA"/>
            </a:solidFill>
            <a:prstDash val="solid"/>
          </a:ln>
        </p:spPr>
      </p:sp>
      <p:sp>
        <p:nvSpPr>
          <p:cNvPr id="16" name="Text 14"/>
          <p:cNvSpPr txBox="1"/>
          <p:nvPr/>
        </p:nvSpPr>
        <p:spPr>
          <a:xfrm>
            <a:off x="9468383" y="1920240"/>
            <a:ext cx="2010080" cy="896112"/>
          </a:xfrm>
          <a:prstGeom prst="rect">
            <a:avLst/>
          </a:prstGeom>
          <a:noFill/>
          <a:ln/>
        </p:spPr>
        <p:txBody>
          <a:bodyPr wrap="square" lIns="0" tIns="0" rIns="0" bIns="0" rtlCol="0" anchor="ctr"/>
          <a:lstStyle/>
          <a:p>
            <a:pPr algn="ctr" indent="0" marL="0">
              <a:buNone/>
            </a:pPr>
            <a:r>
              <a:rPr lang="en-US" sz="1200" dirty="0">
                <a:solidFill>
                  <a:srgbClr val="16202C"/>
                </a:solidFill>
                <a:latin typeface="Calibri" pitchFamily="34" charset="0"/>
                <a:ea typeface="Calibri" pitchFamily="34" charset="-122"/>
                <a:cs typeface="Calibri" pitchFamily="34" charset="-120"/>
              </a:rPr>
              <a:t>PC Express</a:t>
            </a:r>
            <a:endParaRPr lang="en-US" sz="1200" dirty="0"/>
          </a:p>
        </p:txBody>
      </p:sp>
      <p:sp>
        <p:nvSpPr>
          <p:cNvPr id="17" name="Parent Empire (Sobeys)"/>
          <p:cNvSpPr/>
          <p:nvPr/>
        </p:nvSpPr>
        <p:spPr>
          <a:xfrm>
            <a:off x="548640" y="2889504"/>
            <a:ext cx="1965960" cy="896112"/>
          </a:xfrm>
          <a:prstGeom prst="roundRect">
            <a:avLst>
              <a:gd name="adj" fmla="val 8163"/>
            </a:avLst>
          </a:prstGeom>
          <a:solidFill>
            <a:srgbClr val="1BAF7A"/>
          </a:solidFill>
          <a:ln w="12700">
            <a:solidFill>
              <a:srgbClr val="1BAF7A"/>
            </a:solidFill>
            <a:prstDash val="solid"/>
          </a:ln>
        </p:spPr>
      </p:sp>
      <p:sp>
        <p:nvSpPr>
          <p:cNvPr id="18" name="Text 16"/>
          <p:cNvSpPr txBox="1"/>
          <p:nvPr/>
        </p:nvSpPr>
        <p:spPr>
          <a:xfrm>
            <a:off x="548640" y="2889504"/>
            <a:ext cx="1965960" cy="896112"/>
          </a:xfrm>
          <a:prstGeom prst="rect">
            <a:avLst/>
          </a:prstGeom>
          <a:noFill/>
          <a:ln/>
        </p:spPr>
        <p:txBody>
          <a:bodyPr wrap="square" lIns="635" tIns="635" rIns="635" bIns="635"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Empire (Sobeys)</a:t>
            </a:r>
            <a:endParaRPr lang="en-US" sz="1500" dirty="0"/>
          </a:p>
        </p:txBody>
      </p:sp>
      <p:sp>
        <p:nvSpPr>
          <p:cNvPr id="19" name="Shape 17"/>
          <p:cNvSpPr/>
          <p:nvPr/>
        </p:nvSpPr>
        <p:spPr>
          <a:xfrm>
            <a:off x="2651760" y="2889504"/>
            <a:ext cx="2156384" cy="896112"/>
          </a:xfrm>
          <a:prstGeom prst="roundRect">
            <a:avLst>
              <a:gd name="adj" fmla="val 6122"/>
            </a:avLst>
          </a:prstGeom>
          <a:solidFill>
            <a:srgbClr val="F3F5F7"/>
          </a:solidFill>
          <a:ln w="9525">
            <a:solidFill>
              <a:srgbClr val="E3E6EA"/>
            </a:solidFill>
            <a:prstDash val="solid"/>
          </a:ln>
        </p:spPr>
      </p:sp>
      <p:sp>
        <p:nvSpPr>
          <p:cNvPr id="20" name="Text 18"/>
          <p:cNvSpPr txBox="1"/>
          <p:nvPr/>
        </p:nvSpPr>
        <p:spPr>
          <a:xfrm>
            <a:off x="2724912" y="2889504"/>
            <a:ext cx="2010080" cy="896112"/>
          </a:xfrm>
          <a:prstGeom prst="rect">
            <a:avLst/>
          </a:prstGeom>
          <a:noFill/>
          <a:ln/>
        </p:spPr>
        <p:txBody>
          <a:bodyPr wrap="square" lIns="0" tIns="0" rIns="0" bIns="0" rtlCol="0" anchor="ctr"/>
          <a:lstStyle/>
          <a:p>
            <a:pPr algn="ctr" indent="0" marL="0">
              <a:buNone/>
            </a:pPr>
            <a:r>
              <a:rPr lang="en-US" sz="1200" dirty="0">
                <a:solidFill>
                  <a:srgbClr val="16202C"/>
                </a:solidFill>
                <a:latin typeface="Calibri" pitchFamily="34" charset="0"/>
                <a:ea typeface="Calibri" pitchFamily="34" charset="-122"/>
                <a:cs typeface="Calibri" pitchFamily="34" charset="-120"/>
              </a:rPr>
              <a:t>FreshCo</a:t>
            </a:r>
            <a:endParaRPr lang="en-US" sz="1200" dirty="0"/>
          </a:p>
        </p:txBody>
      </p:sp>
      <p:sp>
        <p:nvSpPr>
          <p:cNvPr id="21" name="Shape 19"/>
          <p:cNvSpPr/>
          <p:nvPr/>
        </p:nvSpPr>
        <p:spPr>
          <a:xfrm>
            <a:off x="4899584" y="2889504"/>
            <a:ext cx="2156384" cy="896112"/>
          </a:xfrm>
          <a:prstGeom prst="roundRect">
            <a:avLst>
              <a:gd name="adj" fmla="val 6122"/>
            </a:avLst>
          </a:prstGeom>
          <a:solidFill>
            <a:srgbClr val="F3F5F7"/>
          </a:solidFill>
          <a:ln w="9525">
            <a:solidFill>
              <a:srgbClr val="E3E6EA"/>
            </a:solidFill>
            <a:prstDash val="solid"/>
          </a:ln>
        </p:spPr>
      </p:sp>
      <p:sp>
        <p:nvSpPr>
          <p:cNvPr id="22" name="Text 20"/>
          <p:cNvSpPr txBox="1"/>
          <p:nvPr/>
        </p:nvSpPr>
        <p:spPr>
          <a:xfrm>
            <a:off x="4972736" y="2889504"/>
            <a:ext cx="2010080" cy="896112"/>
          </a:xfrm>
          <a:prstGeom prst="rect">
            <a:avLst/>
          </a:prstGeom>
          <a:noFill/>
          <a:ln/>
        </p:spPr>
        <p:txBody>
          <a:bodyPr wrap="square" lIns="0" tIns="0" rIns="0" bIns="0" rtlCol="0" anchor="ctr"/>
          <a:lstStyle/>
          <a:p>
            <a:pPr algn="ctr" indent="0" marL="0">
              <a:buNone/>
            </a:pPr>
            <a:r>
              <a:rPr lang="en-US" sz="1200" dirty="0">
                <a:solidFill>
                  <a:srgbClr val="16202C"/>
                </a:solidFill>
                <a:latin typeface="Calibri" pitchFamily="34" charset="0"/>
                <a:ea typeface="Calibri" pitchFamily="34" charset="-122"/>
                <a:cs typeface="Calibri" pitchFamily="34" charset="-120"/>
              </a:rPr>
              <a:t>Sobeys, Safeway, IGA, Foodland</a:t>
            </a:r>
            <a:endParaRPr lang="en-US" sz="1200" dirty="0"/>
          </a:p>
        </p:txBody>
      </p:sp>
      <p:sp>
        <p:nvSpPr>
          <p:cNvPr id="23" name="Shape 21"/>
          <p:cNvSpPr/>
          <p:nvPr/>
        </p:nvSpPr>
        <p:spPr>
          <a:xfrm>
            <a:off x="7147408" y="2889504"/>
            <a:ext cx="2156384" cy="896112"/>
          </a:xfrm>
          <a:prstGeom prst="roundRect">
            <a:avLst>
              <a:gd name="adj" fmla="val 6122"/>
            </a:avLst>
          </a:prstGeom>
          <a:solidFill>
            <a:srgbClr val="F3F5F7"/>
          </a:solidFill>
          <a:ln w="9525">
            <a:solidFill>
              <a:srgbClr val="E3E6EA"/>
            </a:solidFill>
            <a:prstDash val="solid"/>
          </a:ln>
        </p:spPr>
      </p:sp>
      <p:sp>
        <p:nvSpPr>
          <p:cNvPr id="24" name="Text 22"/>
          <p:cNvSpPr txBox="1"/>
          <p:nvPr/>
        </p:nvSpPr>
        <p:spPr>
          <a:xfrm>
            <a:off x="7220560" y="2889504"/>
            <a:ext cx="2010080" cy="896112"/>
          </a:xfrm>
          <a:prstGeom prst="rect">
            <a:avLst/>
          </a:prstGeom>
          <a:noFill/>
          <a:ln/>
        </p:spPr>
        <p:txBody>
          <a:bodyPr wrap="square" lIns="0" tIns="0" rIns="0" bIns="0" rtlCol="0" anchor="ctr"/>
          <a:lstStyle/>
          <a:p>
            <a:pPr algn="ctr" indent="0" marL="0">
              <a:buNone/>
            </a:pPr>
            <a:r>
              <a:rPr lang="en-US" sz="1200" dirty="0">
                <a:solidFill>
                  <a:srgbClr val="16202C"/>
                </a:solidFill>
                <a:latin typeface="Calibri" pitchFamily="34" charset="0"/>
                <a:ea typeface="Calibri" pitchFamily="34" charset="-122"/>
                <a:cs typeface="Calibri" pitchFamily="34" charset="-120"/>
              </a:rPr>
              <a:t>Farm Boy, Longo's</a:t>
            </a:r>
            <a:endParaRPr lang="en-US" sz="1200" dirty="0"/>
          </a:p>
        </p:txBody>
      </p:sp>
      <p:sp>
        <p:nvSpPr>
          <p:cNvPr id="25" name="Shape 23"/>
          <p:cNvSpPr/>
          <p:nvPr/>
        </p:nvSpPr>
        <p:spPr>
          <a:xfrm>
            <a:off x="9395231" y="2889504"/>
            <a:ext cx="2156384" cy="896112"/>
          </a:xfrm>
          <a:prstGeom prst="roundRect">
            <a:avLst>
              <a:gd name="adj" fmla="val 6122"/>
            </a:avLst>
          </a:prstGeom>
          <a:solidFill>
            <a:srgbClr val="F3F5F7"/>
          </a:solidFill>
          <a:ln w="9525">
            <a:solidFill>
              <a:srgbClr val="E3E6EA"/>
            </a:solidFill>
            <a:prstDash val="solid"/>
          </a:ln>
        </p:spPr>
      </p:sp>
      <p:sp>
        <p:nvSpPr>
          <p:cNvPr id="26" name="Text 24"/>
          <p:cNvSpPr txBox="1"/>
          <p:nvPr/>
        </p:nvSpPr>
        <p:spPr>
          <a:xfrm>
            <a:off x="9468383" y="2889504"/>
            <a:ext cx="2010080" cy="896112"/>
          </a:xfrm>
          <a:prstGeom prst="rect">
            <a:avLst/>
          </a:prstGeom>
          <a:noFill/>
          <a:ln/>
        </p:spPr>
        <p:txBody>
          <a:bodyPr wrap="square" lIns="0" tIns="0" rIns="0" bIns="0" rtlCol="0" anchor="ctr"/>
          <a:lstStyle/>
          <a:p>
            <a:pPr algn="ctr" indent="0" marL="0">
              <a:buNone/>
            </a:pPr>
            <a:r>
              <a:rPr lang="en-US" sz="1200" dirty="0">
                <a:solidFill>
                  <a:srgbClr val="16202C"/>
                </a:solidFill>
                <a:latin typeface="Calibri" pitchFamily="34" charset="0"/>
                <a:ea typeface="Calibri" pitchFamily="34" charset="-122"/>
                <a:cs typeface="Calibri" pitchFamily="34" charset="-120"/>
              </a:rPr>
              <a:t>Voilà*</a:t>
            </a:r>
            <a:endParaRPr lang="en-US" sz="1200" dirty="0"/>
          </a:p>
        </p:txBody>
      </p:sp>
      <p:sp>
        <p:nvSpPr>
          <p:cNvPr id="27" name="Parent Metro Inc."/>
          <p:cNvSpPr/>
          <p:nvPr/>
        </p:nvSpPr>
        <p:spPr>
          <a:xfrm>
            <a:off x="548640" y="3858768"/>
            <a:ext cx="1965960" cy="896112"/>
          </a:xfrm>
          <a:prstGeom prst="roundRect">
            <a:avLst>
              <a:gd name="adj" fmla="val 8163"/>
            </a:avLst>
          </a:prstGeom>
          <a:solidFill>
            <a:srgbClr val="EB6834"/>
          </a:solidFill>
          <a:ln w="12700">
            <a:solidFill>
              <a:srgbClr val="EB6834"/>
            </a:solidFill>
            <a:prstDash val="solid"/>
          </a:ln>
        </p:spPr>
      </p:sp>
      <p:sp>
        <p:nvSpPr>
          <p:cNvPr id="28" name="Text 26"/>
          <p:cNvSpPr txBox="1"/>
          <p:nvPr/>
        </p:nvSpPr>
        <p:spPr>
          <a:xfrm>
            <a:off x="548640" y="3858768"/>
            <a:ext cx="1965960" cy="896112"/>
          </a:xfrm>
          <a:prstGeom prst="rect">
            <a:avLst/>
          </a:prstGeom>
          <a:noFill/>
          <a:ln/>
        </p:spPr>
        <p:txBody>
          <a:bodyPr wrap="square" lIns="635" tIns="635" rIns="635" bIns="635"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Metro Inc.</a:t>
            </a:r>
            <a:endParaRPr lang="en-US" sz="1500" dirty="0"/>
          </a:p>
        </p:txBody>
      </p:sp>
      <p:sp>
        <p:nvSpPr>
          <p:cNvPr id="29" name="Shape 27"/>
          <p:cNvSpPr/>
          <p:nvPr/>
        </p:nvSpPr>
        <p:spPr>
          <a:xfrm>
            <a:off x="2651760" y="3858768"/>
            <a:ext cx="2156384" cy="896112"/>
          </a:xfrm>
          <a:prstGeom prst="roundRect">
            <a:avLst>
              <a:gd name="adj" fmla="val 6122"/>
            </a:avLst>
          </a:prstGeom>
          <a:solidFill>
            <a:srgbClr val="F3F5F7"/>
          </a:solidFill>
          <a:ln w="9525">
            <a:solidFill>
              <a:srgbClr val="E3E6EA"/>
            </a:solidFill>
            <a:prstDash val="solid"/>
          </a:ln>
        </p:spPr>
      </p:sp>
      <p:sp>
        <p:nvSpPr>
          <p:cNvPr id="30" name="Text 28"/>
          <p:cNvSpPr txBox="1"/>
          <p:nvPr/>
        </p:nvSpPr>
        <p:spPr>
          <a:xfrm>
            <a:off x="2724912" y="3858768"/>
            <a:ext cx="2010080" cy="896112"/>
          </a:xfrm>
          <a:prstGeom prst="rect">
            <a:avLst/>
          </a:prstGeom>
          <a:noFill/>
          <a:ln/>
        </p:spPr>
        <p:txBody>
          <a:bodyPr wrap="square" lIns="0" tIns="0" rIns="0" bIns="0" rtlCol="0" anchor="ctr"/>
          <a:lstStyle/>
          <a:p>
            <a:pPr algn="ctr" indent="0" marL="0">
              <a:buNone/>
            </a:pPr>
            <a:r>
              <a:rPr lang="en-US" sz="1200" dirty="0">
                <a:solidFill>
                  <a:srgbClr val="16202C"/>
                </a:solidFill>
                <a:latin typeface="Calibri" pitchFamily="34" charset="0"/>
                <a:ea typeface="Calibri" pitchFamily="34" charset="-122"/>
                <a:cs typeface="Calibri" pitchFamily="34" charset="-120"/>
              </a:rPr>
              <a:t>Food Basics, Super C</a:t>
            </a:r>
            <a:endParaRPr lang="en-US" sz="1200" dirty="0"/>
          </a:p>
        </p:txBody>
      </p:sp>
      <p:sp>
        <p:nvSpPr>
          <p:cNvPr id="31" name="Shape 29"/>
          <p:cNvSpPr/>
          <p:nvPr/>
        </p:nvSpPr>
        <p:spPr>
          <a:xfrm>
            <a:off x="4899584" y="3858768"/>
            <a:ext cx="2156384" cy="896112"/>
          </a:xfrm>
          <a:prstGeom prst="roundRect">
            <a:avLst>
              <a:gd name="adj" fmla="val 6122"/>
            </a:avLst>
          </a:prstGeom>
          <a:solidFill>
            <a:srgbClr val="F3F5F7"/>
          </a:solidFill>
          <a:ln w="9525">
            <a:solidFill>
              <a:srgbClr val="E3E6EA"/>
            </a:solidFill>
            <a:prstDash val="solid"/>
          </a:ln>
        </p:spPr>
      </p:sp>
      <p:sp>
        <p:nvSpPr>
          <p:cNvPr id="32" name="Text 30"/>
          <p:cNvSpPr txBox="1"/>
          <p:nvPr/>
        </p:nvSpPr>
        <p:spPr>
          <a:xfrm>
            <a:off x="4972736" y="3858768"/>
            <a:ext cx="2010080" cy="896112"/>
          </a:xfrm>
          <a:prstGeom prst="rect">
            <a:avLst/>
          </a:prstGeom>
          <a:noFill/>
          <a:ln/>
        </p:spPr>
        <p:txBody>
          <a:bodyPr wrap="square" lIns="0" tIns="0" rIns="0" bIns="0" rtlCol="0" anchor="ctr"/>
          <a:lstStyle/>
          <a:p>
            <a:pPr algn="ctr" indent="0" marL="0">
              <a:buNone/>
            </a:pPr>
            <a:r>
              <a:rPr lang="en-US" sz="1200" dirty="0">
                <a:solidFill>
                  <a:srgbClr val="16202C"/>
                </a:solidFill>
                <a:latin typeface="Calibri" pitchFamily="34" charset="0"/>
                <a:ea typeface="Calibri" pitchFamily="34" charset="-122"/>
                <a:cs typeface="Calibri" pitchFamily="34" charset="-120"/>
              </a:rPr>
              <a:t>Metro*</a:t>
            </a:r>
            <a:endParaRPr lang="en-US" sz="1200" dirty="0"/>
          </a:p>
        </p:txBody>
      </p:sp>
      <p:sp>
        <p:nvSpPr>
          <p:cNvPr id="33" name="Shape 31"/>
          <p:cNvSpPr/>
          <p:nvPr/>
        </p:nvSpPr>
        <p:spPr>
          <a:xfrm>
            <a:off x="7147408" y="3858768"/>
            <a:ext cx="2156384" cy="896112"/>
          </a:xfrm>
          <a:prstGeom prst="roundRect">
            <a:avLst>
              <a:gd name="adj" fmla="val 6122"/>
            </a:avLst>
          </a:prstGeom>
          <a:solidFill>
            <a:srgbClr val="F3F5F7"/>
          </a:solidFill>
          <a:ln w="9525">
            <a:solidFill>
              <a:srgbClr val="E3E6EA"/>
            </a:solidFill>
            <a:prstDash val="solid"/>
          </a:ln>
        </p:spPr>
      </p:sp>
      <p:sp>
        <p:nvSpPr>
          <p:cNvPr id="34" name="Text 32"/>
          <p:cNvSpPr txBox="1"/>
          <p:nvPr/>
        </p:nvSpPr>
        <p:spPr>
          <a:xfrm>
            <a:off x="7220560" y="3858768"/>
            <a:ext cx="2010080" cy="896112"/>
          </a:xfrm>
          <a:prstGeom prst="rect">
            <a:avLst/>
          </a:prstGeom>
          <a:noFill/>
          <a:ln/>
        </p:spPr>
        <p:txBody>
          <a:bodyPr wrap="square" lIns="0" tIns="0" rIns="0" bIns="0" rtlCol="0" anchor="ctr"/>
          <a:lstStyle/>
          <a:p>
            <a:pPr algn="ctr" indent="0" marL="0">
              <a:buNone/>
            </a:pPr>
            <a:r>
              <a:rPr lang="en-US" sz="1200" dirty="0">
                <a:solidFill>
                  <a:srgbClr val="16202C"/>
                </a:solidFill>
                <a:latin typeface="Calibri" pitchFamily="34" charset="0"/>
                <a:ea typeface="Calibri" pitchFamily="34" charset="-122"/>
                <a:cs typeface="Calibri" pitchFamily="34" charset="-120"/>
              </a:rPr>
              <a:t>Adonis</a:t>
            </a:r>
            <a:endParaRPr lang="en-US" sz="1200" dirty="0"/>
          </a:p>
        </p:txBody>
      </p:sp>
      <p:sp>
        <p:nvSpPr>
          <p:cNvPr id="35" name="Shape 33"/>
          <p:cNvSpPr/>
          <p:nvPr/>
        </p:nvSpPr>
        <p:spPr>
          <a:xfrm>
            <a:off x="9395231" y="3858768"/>
            <a:ext cx="2156384" cy="896112"/>
          </a:xfrm>
          <a:prstGeom prst="roundRect">
            <a:avLst>
              <a:gd name="adj" fmla="val 6122"/>
            </a:avLst>
          </a:prstGeom>
          <a:solidFill>
            <a:srgbClr val="F3F5F7"/>
          </a:solidFill>
          <a:ln w="9525">
            <a:solidFill>
              <a:srgbClr val="E3E6EA"/>
            </a:solidFill>
            <a:prstDash val="solid"/>
          </a:ln>
        </p:spPr>
      </p:sp>
      <p:sp>
        <p:nvSpPr>
          <p:cNvPr id="36" name="Text 34"/>
          <p:cNvSpPr txBox="1"/>
          <p:nvPr/>
        </p:nvSpPr>
        <p:spPr>
          <a:xfrm>
            <a:off x="9468383" y="3858768"/>
            <a:ext cx="2010080" cy="896112"/>
          </a:xfrm>
          <a:prstGeom prst="rect">
            <a:avLst/>
          </a:prstGeom>
          <a:noFill/>
          <a:ln/>
        </p:spPr>
        <p:txBody>
          <a:bodyPr wrap="square" lIns="0" tIns="0" rIns="0" bIns="0" rtlCol="0" anchor="ctr"/>
          <a:lstStyle/>
          <a:p>
            <a:pPr algn="ctr" indent="0" marL="0">
              <a:buNone/>
            </a:pPr>
            <a:r>
              <a:rPr lang="en-US" sz="1200" dirty="0">
                <a:solidFill>
                  <a:srgbClr val="16202C"/>
                </a:solidFill>
                <a:latin typeface="Calibri" pitchFamily="34" charset="0"/>
                <a:ea typeface="Calibri" pitchFamily="34" charset="-122"/>
                <a:cs typeface="Calibri" pitchFamily="34" charset="-120"/>
              </a:rPr>
              <a:t>metro.ca</a:t>
            </a:r>
            <a:endParaRPr lang="en-US" sz="1200" dirty="0"/>
          </a:p>
        </p:txBody>
      </p:sp>
      <p:sp>
        <p:nvSpPr>
          <p:cNvPr id="37" name="Parent Walmart Canada"/>
          <p:cNvSpPr/>
          <p:nvPr/>
        </p:nvSpPr>
        <p:spPr>
          <a:xfrm>
            <a:off x="548640" y="4828032"/>
            <a:ext cx="1965960" cy="896112"/>
          </a:xfrm>
          <a:prstGeom prst="roundRect">
            <a:avLst>
              <a:gd name="adj" fmla="val 8163"/>
            </a:avLst>
          </a:prstGeom>
          <a:solidFill>
            <a:srgbClr val="6250D6"/>
          </a:solidFill>
          <a:ln w="12700">
            <a:solidFill>
              <a:srgbClr val="6250D6"/>
            </a:solidFill>
            <a:prstDash val="solid"/>
          </a:ln>
        </p:spPr>
      </p:sp>
      <p:sp>
        <p:nvSpPr>
          <p:cNvPr id="38" name="Text 36"/>
          <p:cNvSpPr txBox="1"/>
          <p:nvPr/>
        </p:nvSpPr>
        <p:spPr>
          <a:xfrm>
            <a:off x="548640" y="4828032"/>
            <a:ext cx="1965960" cy="896112"/>
          </a:xfrm>
          <a:prstGeom prst="rect">
            <a:avLst/>
          </a:prstGeom>
          <a:noFill/>
          <a:ln/>
        </p:spPr>
        <p:txBody>
          <a:bodyPr wrap="square" lIns="635" tIns="635" rIns="635" bIns="635"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Walmart Canada</a:t>
            </a:r>
            <a:endParaRPr lang="en-US" sz="1500" dirty="0"/>
          </a:p>
        </p:txBody>
      </p:sp>
      <p:sp>
        <p:nvSpPr>
          <p:cNvPr id="39" name="Shape 37"/>
          <p:cNvSpPr/>
          <p:nvPr/>
        </p:nvSpPr>
        <p:spPr>
          <a:xfrm>
            <a:off x="2651760" y="4828032"/>
            <a:ext cx="2156384" cy="896112"/>
          </a:xfrm>
          <a:prstGeom prst="roundRect">
            <a:avLst>
              <a:gd name="adj" fmla="val 6122"/>
            </a:avLst>
          </a:prstGeom>
          <a:solidFill>
            <a:srgbClr val="F3F5F7"/>
          </a:solidFill>
          <a:ln w="9525">
            <a:solidFill>
              <a:srgbClr val="E3E6EA"/>
            </a:solidFill>
            <a:prstDash val="solid"/>
          </a:ln>
        </p:spPr>
      </p:sp>
      <p:sp>
        <p:nvSpPr>
          <p:cNvPr id="40" name="Text 38"/>
          <p:cNvSpPr txBox="1"/>
          <p:nvPr/>
        </p:nvSpPr>
        <p:spPr>
          <a:xfrm>
            <a:off x="2724912" y="4828032"/>
            <a:ext cx="2010080" cy="896112"/>
          </a:xfrm>
          <a:prstGeom prst="rect">
            <a:avLst/>
          </a:prstGeom>
          <a:noFill/>
          <a:ln/>
        </p:spPr>
        <p:txBody>
          <a:bodyPr wrap="square" lIns="0" tIns="0" rIns="0" bIns="0" rtlCol="0" anchor="ctr"/>
          <a:lstStyle/>
          <a:p>
            <a:pPr algn="ctr" indent="0" marL="0">
              <a:buNone/>
            </a:pPr>
            <a:r>
              <a:rPr lang="en-US" sz="1200" dirty="0">
                <a:solidFill>
                  <a:srgbClr val="16202C"/>
                </a:solidFill>
                <a:latin typeface="Calibri" pitchFamily="34" charset="0"/>
                <a:ea typeface="Calibri" pitchFamily="34" charset="-122"/>
                <a:cs typeface="Calibri" pitchFamily="34" charset="-120"/>
              </a:rPr>
              <a:t>Walmart* (EDLP)</a:t>
            </a:r>
            <a:endParaRPr lang="en-US" sz="1200" dirty="0"/>
          </a:p>
        </p:txBody>
      </p:sp>
      <p:sp>
        <p:nvSpPr>
          <p:cNvPr id="41" name="Shape 39"/>
          <p:cNvSpPr/>
          <p:nvPr/>
        </p:nvSpPr>
        <p:spPr>
          <a:xfrm>
            <a:off x="4899584" y="4828032"/>
            <a:ext cx="2156384" cy="896112"/>
          </a:xfrm>
          <a:prstGeom prst="roundRect">
            <a:avLst>
              <a:gd name="adj" fmla="val 6122"/>
            </a:avLst>
          </a:prstGeom>
          <a:solidFill>
            <a:srgbClr val="FFFFFF"/>
          </a:solidFill>
          <a:ln w="9525">
            <a:solidFill>
              <a:srgbClr val="E3E6EA"/>
            </a:solidFill>
            <a:prstDash val="solid"/>
          </a:ln>
        </p:spPr>
      </p:sp>
      <p:sp>
        <p:nvSpPr>
          <p:cNvPr id="42" name="Text 40"/>
          <p:cNvSpPr txBox="1"/>
          <p:nvPr/>
        </p:nvSpPr>
        <p:spPr>
          <a:xfrm>
            <a:off x="4972736" y="4828032"/>
            <a:ext cx="2010080" cy="896112"/>
          </a:xfrm>
          <a:prstGeom prst="rect">
            <a:avLst/>
          </a:prstGeom>
          <a:noFill/>
          <a:ln/>
        </p:spPr>
        <p:txBody>
          <a:bodyPr wrap="square" lIns="0" tIns="0" rIns="0" bIns="0" rtlCol="0" anchor="ctr"/>
          <a:lstStyle/>
          <a:p>
            <a:pPr algn="ctr" indent="0" marL="0">
              <a:buNone/>
            </a:pPr>
            <a:r>
              <a:rPr lang="en-US" sz="1200" dirty="0">
                <a:solidFill>
                  <a:srgbClr val="16202C"/>
                </a:solidFill>
                <a:latin typeface="Calibri" pitchFamily="34" charset="0"/>
                <a:ea typeface="Calibri" pitchFamily="34" charset="-122"/>
                <a:cs typeface="Calibri" pitchFamily="34" charset="-120"/>
              </a:rPr>
              <a:t>—</a:t>
            </a:r>
            <a:endParaRPr lang="en-US" sz="1200" dirty="0"/>
          </a:p>
        </p:txBody>
      </p:sp>
      <p:sp>
        <p:nvSpPr>
          <p:cNvPr id="43" name="Shape 41"/>
          <p:cNvSpPr/>
          <p:nvPr/>
        </p:nvSpPr>
        <p:spPr>
          <a:xfrm>
            <a:off x="7147408" y="4828032"/>
            <a:ext cx="2156384" cy="896112"/>
          </a:xfrm>
          <a:prstGeom prst="roundRect">
            <a:avLst>
              <a:gd name="adj" fmla="val 6122"/>
            </a:avLst>
          </a:prstGeom>
          <a:solidFill>
            <a:srgbClr val="FFFFFF"/>
          </a:solidFill>
          <a:ln w="9525">
            <a:solidFill>
              <a:srgbClr val="E3E6EA"/>
            </a:solidFill>
            <a:prstDash val="solid"/>
          </a:ln>
        </p:spPr>
      </p:sp>
      <p:sp>
        <p:nvSpPr>
          <p:cNvPr id="44" name="Text 42"/>
          <p:cNvSpPr txBox="1"/>
          <p:nvPr/>
        </p:nvSpPr>
        <p:spPr>
          <a:xfrm>
            <a:off x="7220560" y="4828032"/>
            <a:ext cx="2010080" cy="896112"/>
          </a:xfrm>
          <a:prstGeom prst="rect">
            <a:avLst/>
          </a:prstGeom>
          <a:noFill/>
          <a:ln/>
        </p:spPr>
        <p:txBody>
          <a:bodyPr wrap="square" lIns="0" tIns="0" rIns="0" bIns="0" rtlCol="0" anchor="ctr"/>
          <a:lstStyle/>
          <a:p>
            <a:pPr algn="ctr" indent="0" marL="0">
              <a:buNone/>
            </a:pPr>
            <a:r>
              <a:rPr lang="en-US" sz="1200" dirty="0">
                <a:solidFill>
                  <a:srgbClr val="16202C"/>
                </a:solidFill>
                <a:latin typeface="Calibri" pitchFamily="34" charset="0"/>
                <a:ea typeface="Calibri" pitchFamily="34" charset="-122"/>
                <a:cs typeface="Calibri" pitchFamily="34" charset="-120"/>
              </a:rPr>
              <a:t>—</a:t>
            </a:r>
            <a:endParaRPr lang="en-US" sz="1200" dirty="0"/>
          </a:p>
        </p:txBody>
      </p:sp>
      <p:sp>
        <p:nvSpPr>
          <p:cNvPr id="45" name="Shape 43"/>
          <p:cNvSpPr/>
          <p:nvPr/>
        </p:nvSpPr>
        <p:spPr>
          <a:xfrm>
            <a:off x="9395231" y="4828032"/>
            <a:ext cx="2156384" cy="896112"/>
          </a:xfrm>
          <a:prstGeom prst="roundRect">
            <a:avLst>
              <a:gd name="adj" fmla="val 6122"/>
            </a:avLst>
          </a:prstGeom>
          <a:solidFill>
            <a:srgbClr val="F3F5F7"/>
          </a:solidFill>
          <a:ln w="9525">
            <a:solidFill>
              <a:srgbClr val="E3E6EA"/>
            </a:solidFill>
            <a:prstDash val="solid"/>
          </a:ln>
        </p:spPr>
      </p:sp>
      <p:sp>
        <p:nvSpPr>
          <p:cNvPr id="46" name="Text 44"/>
          <p:cNvSpPr txBox="1"/>
          <p:nvPr/>
        </p:nvSpPr>
        <p:spPr>
          <a:xfrm>
            <a:off x="9468383" y="4828032"/>
            <a:ext cx="2010080" cy="896112"/>
          </a:xfrm>
          <a:prstGeom prst="rect">
            <a:avLst/>
          </a:prstGeom>
          <a:noFill/>
          <a:ln/>
        </p:spPr>
        <p:txBody>
          <a:bodyPr wrap="square" lIns="0" tIns="0" rIns="0" bIns="0" rtlCol="0" anchor="ctr"/>
          <a:lstStyle/>
          <a:p>
            <a:pPr algn="ctr" indent="0" marL="0">
              <a:buNone/>
            </a:pPr>
            <a:r>
              <a:rPr lang="en-US" sz="1200" dirty="0">
                <a:solidFill>
                  <a:srgbClr val="16202C"/>
                </a:solidFill>
                <a:latin typeface="Calibri" pitchFamily="34" charset="0"/>
                <a:ea typeface="Calibri" pitchFamily="34" charset="-122"/>
                <a:cs typeface="Calibri" pitchFamily="34" charset="-120"/>
              </a:rPr>
              <a:t>walmart.ca</a:t>
            </a:r>
            <a:endParaRPr lang="en-US" sz="1200" dirty="0"/>
          </a:p>
        </p:txBody>
      </p:sp>
      <p:sp>
        <p:nvSpPr>
          <p:cNvPr id="47" name="Source"/>
          <p:cNvSpPr txBox="1"/>
          <p:nvPr/>
        </p:nvSpPr>
        <p:spPr>
          <a:xfrm>
            <a:off x="548640" y="6144768"/>
            <a:ext cx="11094415" cy="274320"/>
          </a:xfrm>
          <a:prstGeom prst="rect">
            <a:avLst/>
          </a:prstGeom>
          <a:noFill/>
          <a:ln/>
        </p:spPr>
        <p:txBody>
          <a:bodyPr wrap="square" lIns="0" tIns="0" rIns="0" bIns="0" rtlCol="0" anchor="ctr"/>
          <a:lstStyle/>
          <a:p>
            <a:pPr indent="0" marL="0">
              <a:buNone/>
            </a:pPr>
            <a:r>
              <a:rPr lang="en-US" sz="1000" dirty="0">
                <a:solidFill>
                  <a:srgbClr val="8A8F98"/>
                </a:solidFill>
                <a:latin typeface="Calibri" pitchFamily="34" charset="0"/>
                <a:ea typeface="Calibri" pitchFamily="34" charset="-122"/>
                <a:cs typeface="Calibri" pitchFamily="34" charset="-120"/>
              </a:rPr>
              <a:t>* = banner observed in the price data. Ownership from corporate disclosures (Loblaw acquired T&amp;T in 2009). Banner lists are illustrative, not exhaustive. Galleria (independent) and Save-On-Foods (Pattison, Western Canada) also in data.</a:t>
            </a:r>
            <a:endParaRPr lang="en-US" sz="1000" dirty="0"/>
          </a:p>
        </p:txBody>
      </p:sp>
      <p:sp>
        <p:nvSpPr>
          <p:cNvPr id="25" name="Slide Number Placeholder 0"/>
          <p:cNvSpPr>
            <a:spLocks noGrp="1"/>
          </p:cNvSpPr>
          <p:nvPr>
            <p:ph type="sldNum" sz="quarter" idx="4294967295"/>
          </p:nvPr>
        </p:nvSpPr>
        <p:spPr>
          <a:xfrm>
            <a:off x="1118585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F9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960120"/>
          </a:xfrm>
          <a:prstGeom prst="rect">
            <a:avLst/>
          </a:prstGeom>
          <a:noFill/>
          <a:ln/>
        </p:spPr>
        <p:txBody>
          <a:bodyPr wrap="square" lIns="0" tIns="0" rIns="0" bIns="0" rtlCol="0" anchor="t"/>
          <a:lstStyle/>
          <a:p>
            <a:pPr algn="l" indent="0" marL="0">
              <a:buNone/>
            </a:pPr>
            <a:r>
              <a:rPr lang="en-US" sz="2800" b="1" dirty="0">
                <a:solidFill>
                  <a:srgbClr val="16202C"/>
                </a:solidFill>
                <a:latin typeface="Cambria" pitchFamily="34" charset="0"/>
                <a:ea typeface="Cambria" pitchFamily="34" charset="-122"/>
                <a:cs typeface="Cambria" pitchFamily="34" charset="-120"/>
              </a:rPr>
              <a:t>Daily shelf prices, matched product by product across banners</a:t>
            </a:r>
            <a:endParaRPr lang="en-US" sz="2800" dirty="0"/>
          </a:p>
        </p:txBody>
      </p:sp>
      <p:sp>
        <p:nvSpPr>
          <p:cNvPr id="3" name="Badge"/>
          <p:cNvSpPr/>
          <p:nvPr/>
        </p:nvSpPr>
        <p:spPr>
          <a:xfrm>
            <a:off x="548640" y="1508760"/>
            <a:ext cx="420624" cy="420624"/>
          </a:xfrm>
          <a:prstGeom prst="ellipse">
            <a:avLst/>
          </a:prstGeom>
          <a:solidFill>
            <a:srgbClr val="1F3A5F"/>
          </a:solidFill>
          <a:ln w="12700">
            <a:solidFill>
              <a:srgbClr val="1F3A5F"/>
            </a:solidFill>
            <a:prstDash val="solid"/>
          </a:ln>
        </p:spPr>
      </p:sp>
      <p:sp>
        <p:nvSpPr>
          <p:cNvPr id="4" name="Badge number"/>
          <p:cNvSpPr txBox="1"/>
          <p:nvPr/>
        </p:nvSpPr>
        <p:spPr>
          <a:xfrm>
            <a:off x="548640" y="150876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143000" y="1463040"/>
            <a:ext cx="6309360" cy="868680"/>
          </a:xfrm>
          <a:prstGeom prst="rect">
            <a:avLst/>
          </a:prstGeom>
          <a:noFill/>
          <a:ln/>
        </p:spPr>
        <p:txBody>
          <a:bodyPr wrap="square" lIns="0" tIns="0" rIns="0" bIns="0" rtlCol="0" anchor="t"/>
          <a:lstStyle/>
          <a:p>
            <a:pPr indent="0" marL="0">
              <a:buNone/>
            </a:pPr>
            <a:r>
              <a:rPr lang="en-US" sz="1500" b="1" dirty="0">
                <a:solidFill>
                  <a:srgbClr val="16202C"/>
                </a:solidFill>
                <a:latin typeface="Calibri" pitchFamily="34" charset="0"/>
                <a:ea typeface="Calibri" pitchFamily="34" charset="-122"/>
                <a:cs typeface="Calibri" pitchFamily="34" charset="-120"/>
              </a:rPr>
              <a:t>Collect</a:t>
            </a:r>
            <a:endParaRPr lang="en-US" sz="1500" dirty="0"/>
          </a:p>
          <a:p>
            <a:pPr indent="0" marL="0">
              <a:buNone/>
            </a:pPr>
            <a:r>
              <a:rPr lang="en-US" sz="1400" dirty="0">
                <a:solidFill>
                  <a:srgbClr val="4A5563"/>
                </a:solidFill>
                <a:latin typeface="Calibri" pitchFamily="34" charset="0"/>
                <a:ea typeface="Calibri" pitchFamily="34" charset="-122"/>
                <a:cs typeface="Calibri" pitchFamily="34" charset="-120"/>
              </a:rPr>
              <a:t>76.8M daily price records scraped from 8 banners' websites (Toronto pickup prices), plus StatCan CPI and average retail prices.</a:t>
            </a:r>
            <a:endParaRPr lang="en-US" sz="1500" dirty="0"/>
          </a:p>
        </p:txBody>
      </p:sp>
      <p:sp>
        <p:nvSpPr>
          <p:cNvPr id="6" name="Badge"/>
          <p:cNvSpPr/>
          <p:nvPr/>
        </p:nvSpPr>
        <p:spPr>
          <a:xfrm>
            <a:off x="548640" y="2404872"/>
            <a:ext cx="420624" cy="420624"/>
          </a:xfrm>
          <a:prstGeom prst="ellipse">
            <a:avLst/>
          </a:prstGeom>
          <a:solidFill>
            <a:srgbClr val="1F3A5F"/>
          </a:solidFill>
          <a:ln w="12700">
            <a:solidFill>
              <a:srgbClr val="1F3A5F"/>
            </a:solidFill>
            <a:prstDash val="solid"/>
          </a:ln>
        </p:spPr>
      </p:sp>
      <p:sp>
        <p:nvSpPr>
          <p:cNvPr id="7" name="Badge number"/>
          <p:cNvSpPr txBox="1"/>
          <p:nvPr/>
        </p:nvSpPr>
        <p:spPr>
          <a:xfrm>
            <a:off x="548640" y="240487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8" name="Text 6"/>
          <p:cNvSpPr txBox="1"/>
          <p:nvPr/>
        </p:nvSpPr>
        <p:spPr>
          <a:xfrm>
            <a:off x="1143000" y="2359152"/>
            <a:ext cx="6309360" cy="868680"/>
          </a:xfrm>
          <a:prstGeom prst="rect">
            <a:avLst/>
          </a:prstGeom>
          <a:noFill/>
          <a:ln/>
        </p:spPr>
        <p:txBody>
          <a:bodyPr wrap="square" lIns="0" tIns="0" rIns="0" bIns="0" rtlCol="0" anchor="t"/>
          <a:lstStyle/>
          <a:p>
            <a:pPr indent="0" marL="0">
              <a:buNone/>
            </a:pPr>
            <a:r>
              <a:rPr lang="en-US" sz="1500" b="1" dirty="0">
                <a:solidFill>
                  <a:srgbClr val="16202C"/>
                </a:solidFill>
                <a:latin typeface="Calibri" pitchFamily="34" charset="0"/>
                <a:ea typeface="Calibri" pitchFamily="34" charset="-122"/>
                <a:cs typeface="Calibri" pitchFamily="34" charset="-120"/>
              </a:rPr>
              <a:t>Clean (Python · DuckDB)</a:t>
            </a:r>
            <a:endParaRPr lang="en-US" sz="1500" dirty="0"/>
          </a:p>
          <a:p>
            <a:pPr indent="0" marL="0">
              <a:buNone/>
            </a:pPr>
            <a:r>
              <a:rPr lang="en-US" sz="1400" dirty="0">
                <a:solidFill>
                  <a:srgbClr val="4A5563"/>
                </a:solidFill>
                <a:latin typeface="Calibri" pitchFamily="34" charset="0"/>
                <a:ea typeface="Calibri" pitchFamily="34" charset="-122"/>
                <a:cs typeface="Calibri" pitchFamily="34" charset="-120"/>
              </a:rPr>
              <a:t>Parse multi-buy and deal prices, repair cents-scaled values, separate regular from promotional prices, collapse to 64.5M banner-product-days.</a:t>
            </a:r>
            <a:endParaRPr lang="en-US" sz="1500" dirty="0"/>
          </a:p>
        </p:txBody>
      </p:sp>
      <p:sp>
        <p:nvSpPr>
          <p:cNvPr id="9" name="Badge"/>
          <p:cNvSpPr/>
          <p:nvPr/>
        </p:nvSpPr>
        <p:spPr>
          <a:xfrm>
            <a:off x="548640" y="3300984"/>
            <a:ext cx="420624" cy="420624"/>
          </a:xfrm>
          <a:prstGeom prst="ellipse">
            <a:avLst/>
          </a:prstGeom>
          <a:solidFill>
            <a:srgbClr val="1F3A5F"/>
          </a:solidFill>
          <a:ln w="12700">
            <a:solidFill>
              <a:srgbClr val="1F3A5F"/>
            </a:solidFill>
            <a:prstDash val="solid"/>
          </a:ln>
        </p:spPr>
      </p:sp>
      <p:sp>
        <p:nvSpPr>
          <p:cNvPr id="10" name="Badge number"/>
          <p:cNvSpPr txBox="1"/>
          <p:nvPr/>
        </p:nvSpPr>
        <p:spPr>
          <a:xfrm>
            <a:off x="548640" y="3300984"/>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1" name="Text 9"/>
          <p:cNvSpPr txBox="1"/>
          <p:nvPr/>
        </p:nvSpPr>
        <p:spPr>
          <a:xfrm>
            <a:off x="1143000" y="3255264"/>
            <a:ext cx="6309360" cy="868680"/>
          </a:xfrm>
          <a:prstGeom prst="rect">
            <a:avLst/>
          </a:prstGeom>
          <a:noFill/>
          <a:ln/>
        </p:spPr>
        <p:txBody>
          <a:bodyPr wrap="square" lIns="0" tIns="0" rIns="0" bIns="0" rtlCol="0" anchor="t"/>
          <a:lstStyle/>
          <a:p>
            <a:pPr indent="0" marL="0">
              <a:buNone/>
            </a:pPr>
            <a:r>
              <a:rPr lang="en-US" sz="1500" b="1" dirty="0">
                <a:solidFill>
                  <a:srgbClr val="16202C"/>
                </a:solidFill>
                <a:latin typeface="Calibri" pitchFamily="34" charset="0"/>
                <a:ea typeface="Calibri" pitchFamily="34" charset="-122"/>
                <a:cs typeface="Calibri" pitchFamily="34" charset="-120"/>
              </a:rPr>
              <a:t>Match</a:t>
            </a:r>
            <a:endParaRPr lang="en-US" sz="1500" dirty="0"/>
          </a:p>
          <a:p>
            <a:pPr indent="0" marL="0">
              <a:buNone/>
            </a:pPr>
            <a:r>
              <a:rPr lang="en-US" sz="1400" dirty="0">
                <a:solidFill>
                  <a:srgbClr val="4A5563"/>
                </a:solidFill>
                <a:latin typeface="Calibri" pitchFamily="34" charset="0"/>
                <a:ea typeface="Calibri" pitchFamily="34" charset="-122"/>
                <a:cs typeface="Calibri" pitchFamily="34" charset="-120"/>
              </a:rPr>
              <a:t>Identical items via shared SKU (Loblaws ↔ No Frills) or UPC across owners; variable-weight items excluded.</a:t>
            </a:r>
            <a:endParaRPr lang="en-US" sz="1500" dirty="0"/>
          </a:p>
        </p:txBody>
      </p:sp>
      <p:sp>
        <p:nvSpPr>
          <p:cNvPr id="12" name="Badge"/>
          <p:cNvSpPr/>
          <p:nvPr/>
        </p:nvSpPr>
        <p:spPr>
          <a:xfrm>
            <a:off x="548640" y="4197096"/>
            <a:ext cx="420624" cy="420624"/>
          </a:xfrm>
          <a:prstGeom prst="ellipse">
            <a:avLst/>
          </a:prstGeom>
          <a:solidFill>
            <a:srgbClr val="1F3A5F"/>
          </a:solidFill>
          <a:ln w="12700">
            <a:solidFill>
              <a:srgbClr val="1F3A5F"/>
            </a:solidFill>
            <a:prstDash val="solid"/>
          </a:ln>
        </p:spPr>
      </p:sp>
      <p:sp>
        <p:nvSpPr>
          <p:cNvPr id="13" name="Badge number"/>
          <p:cNvSpPr txBox="1"/>
          <p:nvPr/>
        </p:nvSpPr>
        <p:spPr>
          <a:xfrm>
            <a:off x="548640" y="4197096"/>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4" name="Text 12"/>
          <p:cNvSpPr txBox="1"/>
          <p:nvPr/>
        </p:nvSpPr>
        <p:spPr>
          <a:xfrm>
            <a:off x="1143000" y="4151376"/>
            <a:ext cx="6309360" cy="868680"/>
          </a:xfrm>
          <a:prstGeom prst="rect">
            <a:avLst/>
          </a:prstGeom>
          <a:noFill/>
          <a:ln/>
        </p:spPr>
        <p:txBody>
          <a:bodyPr wrap="square" lIns="0" tIns="0" rIns="0" bIns="0" rtlCol="0" anchor="t"/>
          <a:lstStyle/>
          <a:p>
            <a:pPr indent="0" marL="0">
              <a:buNone/>
            </a:pPr>
            <a:r>
              <a:rPr lang="en-US" sz="1500" b="1" dirty="0">
                <a:solidFill>
                  <a:srgbClr val="16202C"/>
                </a:solidFill>
                <a:latin typeface="Calibri" pitchFamily="34" charset="0"/>
                <a:ea typeface="Calibri" pitchFamily="34" charset="-122"/>
                <a:cs typeface="Calibri" pitchFamily="34" charset="-120"/>
              </a:rPr>
              <a:t>Measure</a:t>
            </a:r>
            <a:endParaRPr lang="en-US" sz="1500" dirty="0"/>
          </a:p>
          <a:p>
            <a:pPr indent="0" marL="0">
              <a:buNone/>
            </a:pPr>
            <a:r>
              <a:rPr lang="en-US" sz="1400" dirty="0">
                <a:solidFill>
                  <a:srgbClr val="4A5563"/>
                </a:solidFill>
                <a:latin typeface="Calibri" pitchFamily="34" charset="0"/>
                <a:ea typeface="Calibri" pitchFamily="34" charset="-122"/>
                <a:cs typeface="Calibri" pitchFamily="34" charset="-120"/>
              </a:rPr>
              <a:t>Identical-item gaps, basket price index, 384k persistent regular-price changes tested for synchronisation against a time-shifted placebo, promotion and freeze-window tests.</a:t>
            </a:r>
            <a:endParaRPr lang="en-US" sz="1500" dirty="0"/>
          </a:p>
        </p:txBody>
      </p:sp>
      <p:sp>
        <p:nvSpPr>
          <p:cNvPr id="15" name="Badge"/>
          <p:cNvSpPr/>
          <p:nvPr/>
        </p:nvSpPr>
        <p:spPr>
          <a:xfrm>
            <a:off x="548640" y="5093208"/>
            <a:ext cx="420624" cy="420624"/>
          </a:xfrm>
          <a:prstGeom prst="ellipse">
            <a:avLst/>
          </a:prstGeom>
          <a:solidFill>
            <a:srgbClr val="1F3A5F"/>
          </a:solidFill>
          <a:ln w="12700">
            <a:solidFill>
              <a:srgbClr val="1F3A5F"/>
            </a:solidFill>
            <a:prstDash val="solid"/>
          </a:ln>
        </p:spPr>
      </p:sp>
      <p:sp>
        <p:nvSpPr>
          <p:cNvPr id="16" name="Badge number"/>
          <p:cNvSpPr txBox="1"/>
          <p:nvPr/>
        </p:nvSpPr>
        <p:spPr>
          <a:xfrm>
            <a:off x="548640" y="509320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7" name="Text 15"/>
          <p:cNvSpPr txBox="1"/>
          <p:nvPr/>
        </p:nvSpPr>
        <p:spPr>
          <a:xfrm>
            <a:off x="1143000" y="5047488"/>
            <a:ext cx="6309360" cy="868680"/>
          </a:xfrm>
          <a:prstGeom prst="rect">
            <a:avLst/>
          </a:prstGeom>
          <a:noFill/>
          <a:ln/>
        </p:spPr>
        <p:txBody>
          <a:bodyPr wrap="square" lIns="0" tIns="0" rIns="0" bIns="0" rtlCol="0" anchor="t"/>
          <a:lstStyle/>
          <a:p>
            <a:pPr indent="0" marL="0">
              <a:buNone/>
            </a:pPr>
            <a:r>
              <a:rPr lang="en-US" sz="1500" b="1" dirty="0">
                <a:solidFill>
                  <a:srgbClr val="16202C"/>
                </a:solidFill>
                <a:latin typeface="Calibri" pitchFamily="34" charset="0"/>
                <a:ea typeface="Calibri" pitchFamily="34" charset="-122"/>
                <a:cs typeface="Calibri" pitchFamily="34" charset="-120"/>
              </a:rPr>
              <a:t>Translate (Excel · deck)</a:t>
            </a:r>
            <a:endParaRPr lang="en-US" sz="1500" dirty="0"/>
          </a:p>
          <a:p>
            <a:pPr indent="0" marL="0">
              <a:buNone/>
            </a:pPr>
            <a:r>
              <a:rPr lang="en-US" sz="1400" dirty="0">
                <a:solidFill>
                  <a:srgbClr val="4A5563"/>
                </a:solidFill>
                <a:latin typeface="Calibri" pitchFamily="34" charset="0"/>
                <a:ea typeface="Calibri" pitchFamily="34" charset="-122"/>
                <a:cs typeface="Calibri" pitchFamily="34" charset="-120"/>
              </a:rPr>
              <a:t>Workbook with live formulas and charts; memo and deck framed around shopper decision-making.</a:t>
            </a:r>
            <a:endParaRPr lang="en-US" sz="1500" dirty="0"/>
          </a:p>
        </p:txBody>
      </p:sp>
      <p:graphicFrame>
        <p:nvGraphicFramePr>
          <p:cNvPr id="18" name="Chart 0" descr=""/>
          <p:cNvGraphicFramePr/>
          <p:nvPr/>
        </p:nvGraphicFramePr>
        <p:xfrm>
          <a:off x="7315200" y="1417320"/>
          <a:ext cx="4327855" cy="4526280"/>
        </p:xfrm>
        <a:graphic xmlns:a="http://schemas.openxmlformats.org/drawingml/2006/main">
          <a:graphicData uri="http://schemas.openxmlformats.org/drawingml/2006/chart">
            <c:chart xmlns:c="http://schemas.openxmlformats.org/drawingml/2006/chart" r:id="rId1"/>
          </a:graphicData>
        </a:graphic>
      </p:graphicFrame>
      <p:sp>
        <p:nvSpPr>
          <p:cNvPr id="19" name="Source"/>
          <p:cNvSpPr txBox="1"/>
          <p:nvPr/>
        </p:nvSpPr>
        <p:spPr>
          <a:xfrm>
            <a:off x="548640" y="6144768"/>
            <a:ext cx="11094415" cy="274320"/>
          </a:xfrm>
          <a:prstGeom prst="rect">
            <a:avLst/>
          </a:prstGeom>
          <a:noFill/>
          <a:ln/>
        </p:spPr>
        <p:txBody>
          <a:bodyPr wrap="square" lIns="0" tIns="0" rIns="0" bIns="0" rtlCol="0" anchor="ctr"/>
          <a:lstStyle/>
          <a:p>
            <a:pPr indent="0" marL="0">
              <a:buNone/>
            </a:pPr>
            <a:r>
              <a:rPr lang="en-US" sz="1000" dirty="0">
                <a:solidFill>
                  <a:srgbClr val="8A8F98"/>
                </a:solidFill>
                <a:latin typeface="Calibri" pitchFamily="34" charset="0"/>
                <a:ea typeface="Calibri" pitchFamily="34" charset="-122"/>
                <a:cs typeface="Calibri" pitchFamily="34" charset="-120"/>
              </a:rPr>
              <a:t>Sources: Project Hammer; Statistics Canada Tables 18-10-0004-01 and 18-10-0245-01. Banner index = chained matched-model index of regular prices; CPI to Aug 2026.</a:t>
            </a:r>
            <a:endParaRPr lang="en-US" sz="1000" dirty="0"/>
          </a:p>
        </p:txBody>
      </p:sp>
      <p:sp>
        <p:nvSpPr>
          <p:cNvPr id="25" name="Slide Number Placeholder 0"/>
          <p:cNvSpPr>
            <a:spLocks noGrp="1"/>
          </p:cNvSpPr>
          <p:nvPr>
            <p:ph type="sldNum" sz="quarter" idx="4294967295"/>
          </p:nvPr>
        </p:nvSpPr>
        <p:spPr>
          <a:xfrm>
            <a:off x="1118585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F9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960120"/>
          </a:xfrm>
          <a:prstGeom prst="rect">
            <a:avLst/>
          </a:prstGeom>
          <a:noFill/>
          <a:ln/>
        </p:spPr>
        <p:txBody>
          <a:bodyPr wrap="square" lIns="0" tIns="0" rIns="0" bIns="0" rtlCol="0" anchor="t"/>
          <a:lstStyle/>
          <a:p>
            <a:pPr algn="l" indent="0" marL="0">
              <a:buNone/>
            </a:pPr>
            <a:r>
              <a:rPr lang="en-US" sz="2800" b="1" dirty="0">
                <a:solidFill>
                  <a:srgbClr val="16202C"/>
                </a:solidFill>
                <a:latin typeface="Cambria" pitchFamily="34" charset="0"/>
                <a:ea typeface="Cambria" pitchFamily="34" charset="-122"/>
                <a:cs typeface="Cambria" pitchFamily="34" charset="-120"/>
              </a:rPr>
              <a:t>One basket, two price tiers — and Loblaw owns a rung in each</a:t>
            </a:r>
            <a:endParaRPr lang="en-US" sz="2800" dirty="0"/>
          </a:p>
        </p:txBody>
      </p:sp>
      <p:graphicFrame>
        <p:nvGraphicFramePr>
          <p:cNvPr id="3" name="Chart 0" descr=""/>
          <p:cNvGraphicFramePr/>
          <p:nvPr/>
        </p:nvGraphicFramePr>
        <p:xfrm>
          <a:off x="548640" y="1417320"/>
          <a:ext cx="7132320" cy="4572000"/>
        </p:xfrm>
        <a:graphic xmlns:a="http://schemas.openxmlformats.org/drawingml/2006/main">
          <a:graphicData uri="http://schemas.openxmlformats.org/drawingml/2006/chart">
            <c:chart xmlns:c="http://schemas.openxmlformats.org/drawingml/2006/chart" r:id="rId1"/>
          </a:graphicData>
        </a:graphic>
      </p:graphicFrame>
      <p:sp>
        <p:nvSpPr>
          <p:cNvPr id="4" name="Takeaway panel"/>
          <p:cNvSpPr/>
          <p:nvPr/>
        </p:nvSpPr>
        <p:spPr>
          <a:xfrm>
            <a:off x="8001000" y="1417320"/>
            <a:ext cx="3642055" cy="2377440"/>
          </a:xfrm>
          <a:prstGeom prst="roundRect">
            <a:avLst>
              <a:gd name="adj" fmla="val 3077"/>
            </a:avLst>
          </a:prstGeom>
          <a:solidFill>
            <a:srgbClr val="F3F5F7"/>
          </a:solidFill>
          <a:ln w="12700">
            <a:solidFill>
              <a:srgbClr val="F3F5F7"/>
            </a:solidFill>
            <a:prstDash val="solid"/>
          </a:ln>
        </p:spPr>
      </p:sp>
      <p:sp>
        <p:nvSpPr>
          <p:cNvPr id="5" name="Takeaway text"/>
          <p:cNvSpPr txBox="1"/>
          <p:nvPr/>
        </p:nvSpPr>
        <p:spPr>
          <a:xfrm>
            <a:off x="8229600" y="1600200"/>
            <a:ext cx="3184855" cy="2011680"/>
          </a:xfrm>
          <a:prstGeom prst="rect">
            <a:avLst/>
          </a:prstGeom>
          <a:noFill/>
          <a:ln/>
        </p:spPr>
        <p:txBody>
          <a:bodyPr wrap="square" lIns="0" tIns="0" rIns="0" bIns="0" rtlCol="0" anchor="t"/>
          <a:lstStyle/>
          <a:p>
            <a:pPr indent="0" marL="0">
              <a:spcAft>
                <a:spcPts val="600"/>
              </a:spcAft>
              <a:buNone/>
            </a:pPr>
            <a:r>
              <a:rPr lang="en-US" sz="1500" b="1" dirty="0">
                <a:solidFill>
                  <a:srgbClr val="1F3A5F"/>
                </a:solidFill>
                <a:latin typeface="Calibri" pitchFamily="34" charset="0"/>
                <a:ea typeface="Calibri" pitchFamily="34" charset="-122"/>
                <a:cs typeface="Calibri" pitchFamily="34" charset="-120"/>
              </a:rPr>
              <a:t>Tiering, not head-to-head</a:t>
            </a:r>
            <a:endParaRPr lang="en-US" sz="1500" dirty="0"/>
          </a:p>
          <a:p>
            <a:pPr indent="0" marL="0">
              <a:spcAft>
                <a:spcPts val="600"/>
              </a:spcAft>
              <a:buNone/>
            </a:pPr>
            <a:r>
              <a:rPr lang="en-US" sz="1400" dirty="0">
                <a:solidFill>
                  <a:srgbClr val="4A5563"/>
                </a:solidFill>
                <a:latin typeface="Calibri" pitchFamily="34" charset="0"/>
                <a:ea typeface="Calibri" pitchFamily="34" charset="-122"/>
                <a:cs typeface="Calibri" pitchFamily="34" charset="-120"/>
              </a:rPr>
              <a:t>Metro (113) and Loblaws (110) sit together; No Frills (90) and Walmart (90) sit together, about 20 points lower.</a:t>
            </a:r>
            <a:endParaRPr lang="en-US" sz="1500" dirty="0"/>
          </a:p>
        </p:txBody>
      </p:sp>
      <p:sp>
        <p:nvSpPr>
          <p:cNvPr id="6" name="Takeaway panel"/>
          <p:cNvSpPr/>
          <p:nvPr/>
        </p:nvSpPr>
        <p:spPr>
          <a:xfrm>
            <a:off x="8001000" y="3931920"/>
            <a:ext cx="3642055" cy="2011680"/>
          </a:xfrm>
          <a:prstGeom prst="roundRect">
            <a:avLst>
              <a:gd name="adj" fmla="val 3636"/>
            </a:avLst>
          </a:prstGeom>
          <a:solidFill>
            <a:srgbClr val="F3F5F7"/>
          </a:solidFill>
          <a:ln w="12700">
            <a:solidFill>
              <a:srgbClr val="F3F5F7"/>
            </a:solidFill>
            <a:prstDash val="solid"/>
          </a:ln>
        </p:spPr>
      </p:sp>
      <p:sp>
        <p:nvSpPr>
          <p:cNvPr id="7" name="Takeaway text"/>
          <p:cNvSpPr txBox="1"/>
          <p:nvPr/>
        </p:nvSpPr>
        <p:spPr>
          <a:xfrm>
            <a:off x="8229600" y="4114800"/>
            <a:ext cx="3184855" cy="1645920"/>
          </a:xfrm>
          <a:prstGeom prst="rect">
            <a:avLst/>
          </a:prstGeom>
          <a:noFill/>
          <a:ln/>
        </p:spPr>
        <p:txBody>
          <a:bodyPr wrap="square" lIns="0" tIns="0" rIns="0" bIns="0" rtlCol="0" anchor="t"/>
          <a:lstStyle/>
          <a:p>
            <a:pPr indent="0" marL="0">
              <a:spcAft>
                <a:spcPts val="600"/>
              </a:spcAft>
              <a:buNone/>
            </a:pPr>
            <a:r>
              <a:rPr lang="en-US" sz="1500" b="1" dirty="0">
                <a:solidFill>
                  <a:srgbClr val="E4572E"/>
                </a:solidFill>
                <a:latin typeface="Calibri" pitchFamily="34" charset="0"/>
                <a:ea typeface="Calibri" pitchFamily="34" charset="-122"/>
                <a:cs typeface="Calibri" pitchFamily="34" charset="-120"/>
              </a:rPr>
              <a:t>Behavioural lens</a:t>
            </a:r>
            <a:endParaRPr lang="en-US" sz="1500" dirty="0"/>
          </a:p>
          <a:p>
            <a:pPr indent="0" marL="0">
              <a:spcAft>
                <a:spcPts val="600"/>
              </a:spcAft>
              <a:buNone/>
            </a:pPr>
            <a:r>
              <a:rPr lang="en-US" sz="1400" dirty="0">
                <a:solidFill>
                  <a:srgbClr val="4A5563"/>
                </a:solidFill>
                <a:latin typeface="Calibri" pitchFamily="34" charset="0"/>
                <a:ea typeface="Calibri" pitchFamily="34" charset="-122"/>
                <a:cs typeface="Calibri" pitchFamily="34" charset="-120"/>
              </a:rPr>
              <a:t>The conventional tier anchors the shopper's sense of the “normal” price; the discount tier then reads as a bargain — even when both belong to one parent.</a:t>
            </a:r>
            <a:endParaRPr lang="en-US" sz="1500" dirty="0"/>
          </a:p>
        </p:txBody>
      </p:sp>
      <p:sp>
        <p:nvSpPr>
          <p:cNvPr id="8" name="Source"/>
          <p:cNvSpPr txBox="1"/>
          <p:nvPr/>
        </p:nvSpPr>
        <p:spPr>
          <a:xfrm>
            <a:off x="548640" y="6144768"/>
            <a:ext cx="11094415" cy="274320"/>
          </a:xfrm>
          <a:prstGeom prst="rect">
            <a:avLst/>
          </a:prstGeom>
          <a:noFill/>
          <a:ln/>
        </p:spPr>
        <p:txBody>
          <a:bodyPr wrap="square" lIns="0" tIns="0" rIns="0" bIns="0" rtlCol="0" anchor="ctr"/>
          <a:lstStyle/>
          <a:p>
            <a:pPr indent="0" marL="0">
              <a:buNone/>
            </a:pPr>
            <a:r>
              <a:rPr lang="en-US" sz="1000" dirty="0">
                <a:solidFill>
                  <a:srgbClr val="8A8F98"/>
                </a:solidFill>
                <a:latin typeface="Calibri" pitchFamily="34" charset="0"/>
                <a:ea typeface="Calibri" pitchFamily="34" charset="-122"/>
                <a:cs typeface="Calibri" pitchFamily="34" charset="-120"/>
              </a:rPr>
              <a:t>Source: Project Hammer (J. Filipp) Toronto online shelf prices, Feb 2024–Oct 2026; author analysis. ~1,703 UPCs stocked by all four banners each month, Aug 2024+.</a:t>
            </a:r>
            <a:endParaRPr lang="en-US" sz="1000" dirty="0"/>
          </a:p>
        </p:txBody>
      </p:sp>
      <p:sp>
        <p:nvSpPr>
          <p:cNvPr id="25" name="Slide Number Placeholder 0"/>
          <p:cNvSpPr>
            <a:spLocks noGrp="1"/>
          </p:cNvSpPr>
          <p:nvPr>
            <p:ph type="sldNum" sz="quarter" idx="4294967295"/>
          </p:nvPr>
        </p:nvSpPr>
        <p:spPr>
          <a:xfrm>
            <a:off x="1118585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F9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960120"/>
          </a:xfrm>
          <a:prstGeom prst="rect">
            <a:avLst/>
          </a:prstGeom>
          <a:noFill/>
          <a:ln/>
        </p:spPr>
        <p:txBody>
          <a:bodyPr wrap="square" lIns="0" tIns="0" rIns="0" bIns="0" rtlCol="0" anchor="t"/>
          <a:lstStyle/>
          <a:p>
            <a:pPr algn="l" indent="0" marL="0">
              <a:buNone/>
            </a:pPr>
            <a:r>
              <a:rPr lang="en-US" sz="2800" b="1" dirty="0">
                <a:solidFill>
                  <a:srgbClr val="16202C"/>
                </a:solidFill>
                <a:latin typeface="Cambria" pitchFamily="34" charset="0"/>
                <a:ea typeface="Cambria" pitchFamily="34" charset="-122"/>
                <a:cs typeface="Cambria" pitchFamily="34" charset="-120"/>
              </a:rPr>
              <a:t>Inside one portfolio, the same SKU costs 13% more under the Loblaws banner</a:t>
            </a:r>
            <a:endParaRPr lang="en-US" sz="2800" dirty="0"/>
          </a:p>
        </p:txBody>
      </p:sp>
      <p:graphicFrame>
        <p:nvGraphicFramePr>
          <p:cNvPr id="3" name="Chart 0" descr=""/>
          <p:cNvGraphicFramePr/>
          <p:nvPr/>
        </p:nvGraphicFramePr>
        <p:xfrm>
          <a:off x="548640" y="1417320"/>
          <a:ext cx="7132320" cy="4572000"/>
        </p:xfrm>
        <a:graphic xmlns:a="http://schemas.openxmlformats.org/drawingml/2006/main">
          <a:graphicData uri="http://schemas.openxmlformats.org/drawingml/2006/chart">
            <c:chart xmlns:c="http://schemas.openxmlformats.org/drawingml/2006/chart" r:id="rId1"/>
          </a:graphicData>
        </a:graphic>
      </p:graphicFrame>
      <p:sp>
        <p:nvSpPr>
          <p:cNvPr id="4" name="Stat value"/>
          <p:cNvSpPr txBox="1"/>
          <p:nvPr/>
        </p:nvSpPr>
        <p:spPr>
          <a:xfrm>
            <a:off x="8001000" y="1463040"/>
            <a:ext cx="3657600" cy="822960"/>
          </a:xfrm>
          <a:prstGeom prst="rect">
            <a:avLst/>
          </a:prstGeom>
          <a:noFill/>
          <a:ln/>
        </p:spPr>
        <p:txBody>
          <a:bodyPr wrap="square" lIns="0" tIns="0" rIns="0" bIns="0" rtlCol="0" anchor="ctr"/>
          <a:lstStyle/>
          <a:p>
            <a:pPr indent="0" marL="0">
              <a:buNone/>
            </a:pPr>
            <a:r>
              <a:rPr lang="en-US" sz="4400" b="1" dirty="0">
                <a:solidFill>
                  <a:srgbClr val="2A78D6"/>
                </a:solidFill>
                <a:latin typeface="Cambria" pitchFamily="34" charset="0"/>
                <a:ea typeface="Cambria" pitchFamily="34" charset="-122"/>
                <a:cs typeface="Cambria" pitchFamily="34" charset="-120"/>
              </a:rPr>
              <a:t>78%</a:t>
            </a:r>
            <a:endParaRPr lang="en-US" sz="4400" dirty="0"/>
          </a:p>
        </p:txBody>
      </p:sp>
      <p:sp>
        <p:nvSpPr>
          <p:cNvPr id="5" name="Stat label"/>
          <p:cNvSpPr txBox="1"/>
          <p:nvPr/>
        </p:nvSpPr>
        <p:spPr>
          <a:xfrm>
            <a:off x="8001000" y="2304288"/>
            <a:ext cx="3657600" cy="1005840"/>
          </a:xfrm>
          <a:prstGeom prst="rect">
            <a:avLst/>
          </a:prstGeom>
          <a:noFill/>
          <a:ln/>
        </p:spPr>
        <p:txBody>
          <a:bodyPr wrap="square" lIns="0" tIns="0" rIns="0" bIns="0" rtlCol="0" anchor="t"/>
          <a:lstStyle/>
          <a:p>
            <a:pPr indent="0" marL="0">
              <a:buNone/>
            </a:pPr>
            <a:r>
              <a:rPr lang="en-US" sz="1400" dirty="0">
                <a:solidFill>
                  <a:srgbClr val="4A5563"/>
                </a:solidFill>
                <a:latin typeface="Calibri" pitchFamily="34" charset="0"/>
                <a:ea typeface="Calibri" pitchFamily="34" charset="-122"/>
                <a:cs typeface="Calibri" pitchFamily="34" charset="-120"/>
              </a:rPr>
              <a:t>of 16,863 matched SKUs are dearer at Loblaws; only 5% cheaper</a:t>
            </a:r>
            <a:endParaRPr lang="en-US" sz="1400" dirty="0"/>
          </a:p>
        </p:txBody>
      </p:sp>
      <p:sp>
        <p:nvSpPr>
          <p:cNvPr id="6" name="Takeaway panel"/>
          <p:cNvSpPr/>
          <p:nvPr/>
        </p:nvSpPr>
        <p:spPr>
          <a:xfrm>
            <a:off x="8001000" y="3383280"/>
            <a:ext cx="3642055" cy="2560320"/>
          </a:xfrm>
          <a:prstGeom prst="roundRect">
            <a:avLst>
              <a:gd name="adj" fmla="val 2857"/>
            </a:avLst>
          </a:prstGeom>
          <a:solidFill>
            <a:srgbClr val="F3F5F7"/>
          </a:solidFill>
          <a:ln w="12700">
            <a:solidFill>
              <a:srgbClr val="F3F5F7"/>
            </a:solidFill>
            <a:prstDash val="solid"/>
          </a:ln>
        </p:spPr>
      </p:sp>
      <p:sp>
        <p:nvSpPr>
          <p:cNvPr id="7" name="Takeaway text"/>
          <p:cNvSpPr txBox="1"/>
          <p:nvPr/>
        </p:nvSpPr>
        <p:spPr>
          <a:xfrm>
            <a:off x="8229600" y="3566160"/>
            <a:ext cx="3184855" cy="2194560"/>
          </a:xfrm>
          <a:prstGeom prst="rect">
            <a:avLst/>
          </a:prstGeom>
          <a:noFill/>
          <a:ln/>
        </p:spPr>
        <p:txBody>
          <a:bodyPr wrap="square" lIns="0" tIns="0" rIns="0" bIns="0" rtlCol="0" anchor="t"/>
          <a:lstStyle/>
          <a:p>
            <a:pPr indent="0" marL="0">
              <a:spcAft>
                <a:spcPts val="600"/>
              </a:spcAft>
              <a:buNone/>
            </a:pPr>
            <a:r>
              <a:rPr lang="en-US" sz="1500" b="1" dirty="0">
                <a:solidFill>
                  <a:srgbClr val="1F3A5F"/>
                </a:solidFill>
                <a:latin typeface="Calibri" pitchFamily="34" charset="0"/>
                <a:ea typeface="Calibri" pitchFamily="34" charset="-122"/>
                <a:cs typeface="Calibri" pitchFamily="34" charset="-120"/>
              </a:rPr>
              <a:t>The banner is the price signal</a:t>
            </a:r>
            <a:endParaRPr lang="en-US" sz="1500" dirty="0"/>
          </a:p>
          <a:p>
            <a:pPr indent="0" marL="0">
              <a:spcAft>
                <a:spcPts val="600"/>
              </a:spcAft>
              <a:buNone/>
            </a:pPr>
            <a:r>
              <a:rPr lang="en-US" sz="1400" dirty="0">
                <a:solidFill>
                  <a:srgbClr val="4A5563"/>
                </a:solidFill>
                <a:latin typeface="Calibri" pitchFamily="34" charset="0"/>
                <a:ea typeface="Calibri" pitchFamily="34" charset="-122"/>
                <a:cs typeface="Calibri" pitchFamily="34" charset="-120"/>
              </a:rPr>
              <a:t>Half of SKUs carry a premium between +5% and +26%; 36% exceed +20%. The premium holds for Loblaw's own brands too — the shopper pays for the store environment, not the product.</a:t>
            </a:r>
            <a:endParaRPr lang="en-US" sz="1500" dirty="0"/>
          </a:p>
        </p:txBody>
      </p:sp>
      <p:sp>
        <p:nvSpPr>
          <p:cNvPr id="8" name="Source"/>
          <p:cNvSpPr txBox="1"/>
          <p:nvPr/>
        </p:nvSpPr>
        <p:spPr>
          <a:xfrm>
            <a:off x="548640" y="6144768"/>
            <a:ext cx="11094415" cy="274320"/>
          </a:xfrm>
          <a:prstGeom prst="rect">
            <a:avLst/>
          </a:prstGeom>
          <a:noFill/>
          <a:ln/>
        </p:spPr>
        <p:txBody>
          <a:bodyPr wrap="square" lIns="0" tIns="0" rIns="0" bIns="0" rtlCol="0" anchor="ctr"/>
          <a:lstStyle/>
          <a:p>
            <a:pPr indent="0" marL="0">
              <a:buNone/>
            </a:pPr>
            <a:r>
              <a:rPr lang="en-US" sz="1000" dirty="0">
                <a:solidFill>
                  <a:srgbClr val="8A8F98"/>
                </a:solidFill>
                <a:latin typeface="Calibri" pitchFamily="34" charset="0"/>
                <a:ea typeface="Calibri" pitchFamily="34" charset="-122"/>
                <a:cs typeface="Calibri" pitchFamily="34" charset="-120"/>
              </a:rPr>
              <a:t>Source: Project Hammer (J. Filipp) Toronto online shelf prices, Feb 2024–Oct 2026; author analysis. Regular (non-promotional) prices; distribution from Jul–Sep 2026.</a:t>
            </a:r>
            <a:endParaRPr lang="en-US" sz="1000" dirty="0"/>
          </a:p>
        </p:txBody>
      </p:sp>
      <p:sp>
        <p:nvSpPr>
          <p:cNvPr id="25" name="Slide Number Placeholder 0"/>
          <p:cNvSpPr>
            <a:spLocks noGrp="1"/>
          </p:cNvSpPr>
          <p:nvPr>
            <p:ph type="sldNum" sz="quarter" idx="4294967295"/>
          </p:nvPr>
        </p:nvSpPr>
        <p:spPr>
          <a:xfrm>
            <a:off x="1118585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F9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960120"/>
          </a:xfrm>
          <a:prstGeom prst="rect">
            <a:avLst/>
          </a:prstGeom>
          <a:noFill/>
          <a:ln/>
        </p:spPr>
        <p:txBody>
          <a:bodyPr wrap="square" lIns="0" tIns="0" rIns="0" bIns="0" rtlCol="0" anchor="t"/>
          <a:lstStyle/>
          <a:p>
            <a:pPr algn="l" indent="0" marL="0">
              <a:buNone/>
            </a:pPr>
            <a:r>
              <a:rPr lang="en-US" sz="2800" b="1" dirty="0">
                <a:solidFill>
                  <a:srgbClr val="16202C"/>
                </a:solidFill>
                <a:latin typeface="Cambria" pitchFamily="34" charset="0"/>
                <a:ea typeface="Cambria" pitchFamily="34" charset="-122"/>
                <a:cs typeface="Cambria" pitchFamily="34" charset="-120"/>
              </a:rPr>
              <a:t>Rival conventional banners land on identical price points; tiers rarely do</a:t>
            </a:r>
            <a:endParaRPr lang="en-US" sz="2800" dirty="0"/>
          </a:p>
        </p:txBody>
      </p:sp>
      <p:graphicFrame>
        <p:nvGraphicFramePr>
          <p:cNvPr id="3" name="Chart 0" descr=""/>
          <p:cNvGraphicFramePr/>
          <p:nvPr/>
        </p:nvGraphicFramePr>
        <p:xfrm>
          <a:off x="548640" y="1417320"/>
          <a:ext cx="7132320" cy="4572000"/>
        </p:xfrm>
        <a:graphic xmlns:a="http://schemas.openxmlformats.org/drawingml/2006/main">
          <a:graphicData uri="http://schemas.openxmlformats.org/drawingml/2006/chart">
            <c:chart xmlns:c="http://schemas.openxmlformats.org/drawingml/2006/chart" r:id="rId1"/>
          </a:graphicData>
        </a:graphic>
      </p:graphicFrame>
      <p:sp>
        <p:nvSpPr>
          <p:cNvPr id="4" name="Stat value"/>
          <p:cNvSpPr txBox="1"/>
          <p:nvPr/>
        </p:nvSpPr>
        <p:spPr>
          <a:xfrm>
            <a:off x="8001000" y="1463040"/>
            <a:ext cx="3657600" cy="822960"/>
          </a:xfrm>
          <a:prstGeom prst="rect">
            <a:avLst/>
          </a:prstGeom>
          <a:noFill/>
          <a:ln/>
        </p:spPr>
        <p:txBody>
          <a:bodyPr wrap="square" lIns="0" tIns="0" rIns="0" bIns="0" rtlCol="0" anchor="ctr"/>
          <a:lstStyle/>
          <a:p>
            <a:pPr indent="0" marL="0">
              <a:buNone/>
            </a:pPr>
            <a:r>
              <a:rPr lang="en-US" sz="4400" b="1" dirty="0">
                <a:solidFill>
                  <a:srgbClr val="EB6834"/>
                </a:solidFill>
                <a:latin typeface="Cambria" pitchFamily="34" charset="0"/>
                <a:ea typeface="Cambria" pitchFamily="34" charset="-122"/>
                <a:cs typeface="Cambria" pitchFamily="34" charset="-120"/>
              </a:rPr>
              <a:t>29%</a:t>
            </a:r>
            <a:endParaRPr lang="en-US" sz="4400" dirty="0"/>
          </a:p>
        </p:txBody>
      </p:sp>
      <p:sp>
        <p:nvSpPr>
          <p:cNvPr id="5" name="Stat label"/>
          <p:cNvSpPr txBox="1"/>
          <p:nvPr/>
        </p:nvSpPr>
        <p:spPr>
          <a:xfrm>
            <a:off x="8001000" y="2304288"/>
            <a:ext cx="3657600" cy="1005840"/>
          </a:xfrm>
          <a:prstGeom prst="rect">
            <a:avLst/>
          </a:prstGeom>
          <a:noFill/>
          <a:ln/>
        </p:spPr>
        <p:txBody>
          <a:bodyPr wrap="square" lIns="0" tIns="0" rIns="0" bIns="0" rtlCol="0" anchor="t"/>
          <a:lstStyle/>
          <a:p>
            <a:pPr indent="0" marL="0">
              <a:buNone/>
            </a:pPr>
            <a:r>
              <a:rPr lang="en-US" sz="1400" dirty="0">
                <a:solidFill>
                  <a:srgbClr val="4A5563"/>
                </a:solidFill>
                <a:latin typeface="Calibri" pitchFamily="34" charset="0"/>
                <a:ea typeface="Calibri" pitchFamily="34" charset="-122"/>
                <a:cs typeface="Calibri" pitchFamily="34" charset="-120"/>
              </a:rPr>
              <a:t>of paired Loblaws–Metro price changes land on the identical new price (Loblaws–Walmart: 0%)</a:t>
            </a:r>
            <a:endParaRPr lang="en-US" sz="1400" dirty="0"/>
          </a:p>
        </p:txBody>
      </p:sp>
      <p:sp>
        <p:nvSpPr>
          <p:cNvPr id="6" name="Takeaway panel"/>
          <p:cNvSpPr/>
          <p:nvPr/>
        </p:nvSpPr>
        <p:spPr>
          <a:xfrm>
            <a:off x="8001000" y="3383280"/>
            <a:ext cx="3642055" cy="2560320"/>
          </a:xfrm>
          <a:prstGeom prst="roundRect">
            <a:avLst>
              <a:gd name="adj" fmla="val 2857"/>
            </a:avLst>
          </a:prstGeom>
          <a:solidFill>
            <a:srgbClr val="F3F5F7"/>
          </a:solidFill>
          <a:ln w="12700">
            <a:solidFill>
              <a:srgbClr val="F3F5F7"/>
            </a:solidFill>
            <a:prstDash val="solid"/>
          </a:ln>
        </p:spPr>
      </p:sp>
      <p:sp>
        <p:nvSpPr>
          <p:cNvPr id="7" name="Takeaway text"/>
          <p:cNvSpPr txBox="1"/>
          <p:nvPr/>
        </p:nvSpPr>
        <p:spPr>
          <a:xfrm>
            <a:off x="8229600" y="3566160"/>
            <a:ext cx="3184855" cy="2194560"/>
          </a:xfrm>
          <a:prstGeom prst="rect">
            <a:avLst/>
          </a:prstGeom>
          <a:noFill/>
          <a:ln/>
        </p:spPr>
        <p:txBody>
          <a:bodyPr wrap="square" lIns="0" tIns="0" rIns="0" bIns="0" rtlCol="0" anchor="t"/>
          <a:lstStyle/>
          <a:p>
            <a:pPr indent="0" marL="0">
              <a:spcAft>
                <a:spcPts val="600"/>
              </a:spcAft>
              <a:buNone/>
            </a:pPr>
            <a:r>
              <a:rPr lang="en-US" sz="1500" b="1" dirty="0">
                <a:solidFill>
                  <a:srgbClr val="1F3A5F"/>
                </a:solidFill>
                <a:latin typeface="Calibri" pitchFamily="34" charset="0"/>
                <a:ea typeface="Calibri" pitchFamily="34" charset="-122"/>
                <a:cs typeface="Calibri" pitchFamily="34" charset="-120"/>
              </a:rPr>
              <a:t>Read with care</a:t>
            </a:r>
            <a:endParaRPr lang="en-US" sz="1500" dirty="0"/>
          </a:p>
          <a:p>
            <a:pPr indent="0" marL="0">
              <a:spcAft>
                <a:spcPts val="600"/>
              </a:spcAft>
              <a:buNone/>
            </a:pPr>
            <a:r>
              <a:rPr lang="en-US" sz="1400" dirty="0">
                <a:solidFill>
                  <a:srgbClr val="4A5563"/>
                </a:solidFill>
                <a:latin typeface="Calibri" pitchFamily="34" charset="0"/>
                <a:ea typeface="Calibri" pitchFamily="34" charset="-122"/>
                <a:cs typeface="Calibri" pitchFamily="34" charset="-120"/>
              </a:rPr>
              <a:t>Shared price points are consistent with tacit coordination, but also with manufacturer-suggested retail prices and common list-price changes. Either way, the shopper comparing conventional banners finds little to gain.</a:t>
            </a:r>
            <a:endParaRPr lang="en-US" sz="1500" dirty="0"/>
          </a:p>
        </p:txBody>
      </p:sp>
      <p:sp>
        <p:nvSpPr>
          <p:cNvPr id="8" name="Source"/>
          <p:cNvSpPr txBox="1"/>
          <p:nvPr/>
        </p:nvSpPr>
        <p:spPr>
          <a:xfrm>
            <a:off x="548640" y="6144768"/>
            <a:ext cx="11094415" cy="274320"/>
          </a:xfrm>
          <a:prstGeom prst="rect">
            <a:avLst/>
          </a:prstGeom>
          <a:noFill/>
          <a:ln/>
        </p:spPr>
        <p:txBody>
          <a:bodyPr wrap="square" lIns="0" tIns="0" rIns="0" bIns="0" rtlCol="0" anchor="ctr"/>
          <a:lstStyle/>
          <a:p>
            <a:pPr indent="0" marL="0">
              <a:buNone/>
            </a:pPr>
            <a:r>
              <a:rPr lang="en-US" sz="1000" dirty="0">
                <a:solidFill>
                  <a:srgbClr val="8A8F98"/>
                </a:solidFill>
                <a:latin typeface="Calibri" pitchFamily="34" charset="0"/>
                <a:ea typeface="Calibri" pitchFamily="34" charset="-122"/>
                <a:cs typeface="Calibri" pitchFamily="34" charset="-120"/>
              </a:rPr>
              <a:t>Source: Project Hammer (J. Filipp) Toronto online shelf prices, Feb 2024–Oct 2026; author analysis. Same-parent pair shown in blue.</a:t>
            </a:r>
            <a:endParaRPr lang="en-US" sz="1000" dirty="0"/>
          </a:p>
        </p:txBody>
      </p:sp>
      <p:sp>
        <p:nvSpPr>
          <p:cNvPr id="25" name="Slide Number Placeholder 0"/>
          <p:cNvSpPr>
            <a:spLocks noGrp="1"/>
          </p:cNvSpPr>
          <p:nvPr>
            <p:ph type="sldNum" sz="quarter" idx="4294967295"/>
          </p:nvPr>
        </p:nvSpPr>
        <p:spPr>
          <a:xfrm>
            <a:off x="1118585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F9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960120"/>
          </a:xfrm>
          <a:prstGeom prst="rect">
            <a:avLst/>
          </a:prstGeom>
          <a:noFill/>
          <a:ln/>
        </p:spPr>
        <p:txBody>
          <a:bodyPr wrap="square" lIns="0" tIns="0" rIns="0" bIns="0" rtlCol="0" anchor="t"/>
          <a:lstStyle/>
          <a:p>
            <a:pPr algn="l" indent="0" marL="0">
              <a:buNone/>
            </a:pPr>
            <a:r>
              <a:rPr lang="en-US" sz="2800" b="1" dirty="0">
                <a:solidFill>
                  <a:srgbClr val="16202C"/>
                </a:solidFill>
                <a:latin typeface="Cambria" pitchFamily="34" charset="0"/>
                <a:ea typeface="Cambria" pitchFamily="34" charset="-122"/>
                <a:cs typeface="Cambria" pitchFamily="34" charset="-120"/>
              </a:rPr>
              <a:t>Price changes cluster inside the Loblaw portfolio, far less across owners</a:t>
            </a:r>
            <a:endParaRPr lang="en-US" sz="2800" dirty="0"/>
          </a:p>
        </p:txBody>
      </p:sp>
      <p:graphicFrame>
        <p:nvGraphicFramePr>
          <p:cNvPr id="3" name="Chart 0" descr=""/>
          <p:cNvGraphicFramePr/>
          <p:nvPr/>
        </p:nvGraphicFramePr>
        <p:xfrm>
          <a:off x="548640" y="1417320"/>
          <a:ext cx="7132320" cy="4572000"/>
        </p:xfrm>
        <a:graphic xmlns:a="http://schemas.openxmlformats.org/drawingml/2006/main">
          <a:graphicData uri="http://schemas.openxmlformats.org/drawingml/2006/chart">
            <c:chart xmlns:c="http://schemas.openxmlformats.org/drawingml/2006/chart" r:id="rId1"/>
          </a:graphicData>
        </a:graphic>
      </p:graphicFrame>
      <p:sp>
        <p:nvSpPr>
          <p:cNvPr id="4" name="Takeaway panel"/>
          <p:cNvSpPr/>
          <p:nvPr/>
        </p:nvSpPr>
        <p:spPr>
          <a:xfrm>
            <a:off x="8001000" y="1417320"/>
            <a:ext cx="3642055" cy="2331720"/>
          </a:xfrm>
          <a:prstGeom prst="roundRect">
            <a:avLst>
              <a:gd name="adj" fmla="val 3137"/>
            </a:avLst>
          </a:prstGeom>
          <a:solidFill>
            <a:srgbClr val="F3F5F7"/>
          </a:solidFill>
          <a:ln w="12700">
            <a:solidFill>
              <a:srgbClr val="F3F5F7"/>
            </a:solidFill>
            <a:prstDash val="solid"/>
          </a:ln>
        </p:spPr>
      </p:sp>
      <p:sp>
        <p:nvSpPr>
          <p:cNvPr id="5" name="Takeaway text"/>
          <p:cNvSpPr txBox="1"/>
          <p:nvPr/>
        </p:nvSpPr>
        <p:spPr>
          <a:xfrm>
            <a:off x="8229600" y="1600200"/>
            <a:ext cx="3184855" cy="1965960"/>
          </a:xfrm>
          <a:prstGeom prst="rect">
            <a:avLst/>
          </a:prstGeom>
          <a:noFill/>
          <a:ln/>
        </p:spPr>
        <p:txBody>
          <a:bodyPr wrap="square" lIns="0" tIns="0" rIns="0" bIns="0" rtlCol="0" anchor="t"/>
          <a:lstStyle/>
          <a:p>
            <a:pPr indent="0" marL="0">
              <a:spcAft>
                <a:spcPts val="600"/>
              </a:spcAft>
              <a:buNone/>
            </a:pPr>
            <a:r>
              <a:rPr lang="en-US" sz="1500" b="1" dirty="0">
                <a:solidFill>
                  <a:srgbClr val="1F3A5F"/>
                </a:solidFill>
                <a:latin typeface="Calibri" pitchFamily="34" charset="0"/>
                <a:ea typeface="Calibri" pitchFamily="34" charset="-122"/>
                <a:cs typeface="Calibri" pitchFamily="34" charset="-120"/>
              </a:rPr>
              <a:t>Coordination lives inside portfolios</a:t>
            </a:r>
            <a:endParaRPr lang="en-US" sz="1500" dirty="0"/>
          </a:p>
          <a:p>
            <a:pPr indent="0" marL="0">
              <a:spcAft>
                <a:spcPts val="600"/>
              </a:spcAft>
              <a:buNone/>
            </a:pPr>
            <a:r>
              <a:rPr lang="en-US" sz="1400" dirty="0">
                <a:solidFill>
                  <a:srgbClr val="4A5563"/>
                </a:solidFill>
                <a:latin typeface="Calibri" pitchFamily="34" charset="0"/>
                <a:ea typeface="Calibri" pitchFamily="34" charset="-122"/>
                <a:cs typeface="Calibri" pitchFamily="34" charset="-120"/>
              </a:rPr>
              <a:t>Loblaws and No Frills change identical SKUs together 1.9× as often as chance. Rival owners sit near 1× — in the same range as Save-On-Foods, a Western grocer outside the Toronto market.</a:t>
            </a:r>
            <a:endParaRPr lang="en-US" sz="1500" dirty="0"/>
          </a:p>
        </p:txBody>
      </p:sp>
      <p:sp>
        <p:nvSpPr>
          <p:cNvPr id="6" name="Takeaway panel"/>
          <p:cNvSpPr/>
          <p:nvPr/>
        </p:nvSpPr>
        <p:spPr>
          <a:xfrm>
            <a:off x="8001000" y="3886200"/>
            <a:ext cx="3642055" cy="2057400"/>
          </a:xfrm>
          <a:prstGeom prst="roundRect">
            <a:avLst>
              <a:gd name="adj" fmla="val 3556"/>
            </a:avLst>
          </a:prstGeom>
          <a:solidFill>
            <a:srgbClr val="F3F5F7"/>
          </a:solidFill>
          <a:ln w="12700">
            <a:solidFill>
              <a:srgbClr val="F3F5F7"/>
            </a:solidFill>
            <a:prstDash val="solid"/>
          </a:ln>
        </p:spPr>
      </p:sp>
      <p:sp>
        <p:nvSpPr>
          <p:cNvPr id="7" name="Takeaway text"/>
          <p:cNvSpPr txBox="1"/>
          <p:nvPr/>
        </p:nvSpPr>
        <p:spPr>
          <a:xfrm>
            <a:off x="8229600" y="4069080"/>
            <a:ext cx="3184855" cy="1691640"/>
          </a:xfrm>
          <a:prstGeom prst="rect">
            <a:avLst/>
          </a:prstGeom>
          <a:noFill/>
          <a:ln/>
        </p:spPr>
        <p:txBody>
          <a:bodyPr wrap="square" lIns="0" tIns="0" rIns="0" bIns="0" rtlCol="0" anchor="t"/>
          <a:lstStyle/>
          <a:p>
            <a:pPr indent="0" marL="0">
              <a:spcAft>
                <a:spcPts val="600"/>
              </a:spcAft>
              <a:buNone/>
            </a:pPr>
            <a:r>
              <a:rPr lang="en-US" sz="1500" b="1" dirty="0">
                <a:solidFill>
                  <a:srgbClr val="E4572E"/>
                </a:solidFill>
                <a:latin typeface="Calibri" pitchFamily="34" charset="0"/>
                <a:ea typeface="Calibri" pitchFamily="34" charset="-122"/>
                <a:cs typeface="Calibri" pitchFamily="34" charset="-120"/>
              </a:rPr>
              <a:t>A weekly rhythm</a:t>
            </a:r>
            <a:endParaRPr lang="en-US" sz="1500" dirty="0"/>
          </a:p>
          <a:p>
            <a:pPr indent="0" marL="0">
              <a:spcAft>
                <a:spcPts val="600"/>
              </a:spcAft>
              <a:buNone/>
            </a:pPr>
            <a:r>
              <a:rPr lang="en-US" sz="1400" dirty="0">
                <a:solidFill>
                  <a:srgbClr val="4A5563"/>
                </a:solidFill>
                <a:latin typeface="Calibri" pitchFamily="34" charset="0"/>
                <a:ea typeface="Calibri" pitchFamily="34" charset="-122"/>
                <a:cs typeface="Calibri" pitchFamily="34" charset="-120"/>
              </a:rPr>
              <a:t>69% of Loblaws' and 63% of Metro's regular-price changes appear on a Thursday, the flyer cycle. No banner consistently leads.</a:t>
            </a:r>
            <a:endParaRPr lang="en-US" sz="1500" dirty="0"/>
          </a:p>
        </p:txBody>
      </p:sp>
      <p:sp>
        <p:nvSpPr>
          <p:cNvPr id="8" name="Source"/>
          <p:cNvSpPr txBox="1"/>
          <p:nvPr/>
        </p:nvSpPr>
        <p:spPr>
          <a:xfrm>
            <a:off x="548640" y="6144768"/>
            <a:ext cx="11094415" cy="274320"/>
          </a:xfrm>
          <a:prstGeom prst="rect">
            <a:avLst/>
          </a:prstGeom>
          <a:noFill/>
          <a:ln/>
        </p:spPr>
        <p:txBody>
          <a:bodyPr wrap="square" lIns="0" tIns="0" rIns="0" bIns="0" rtlCol="0" anchor="ctr"/>
          <a:lstStyle/>
          <a:p>
            <a:pPr indent="0" marL="0">
              <a:buNone/>
            </a:pPr>
            <a:r>
              <a:rPr lang="en-US" sz="1000" dirty="0">
                <a:solidFill>
                  <a:srgbClr val="8A8F98"/>
                </a:solidFill>
                <a:latin typeface="Calibri" pitchFamily="34" charset="0"/>
                <a:ea typeface="Calibri" pitchFamily="34" charset="-122"/>
                <a:cs typeface="Calibri" pitchFamily="34" charset="-120"/>
              </a:rPr>
              <a:t>Source: Project Hammer (J. Filipp) Toronto online shelf prices, Feb 2024–Oct 2026; author analysis. Placebo shifts each change date ±2–6 months; lift averaged over both directions of the pair.</a:t>
            </a:r>
            <a:endParaRPr lang="en-US" sz="1000" dirty="0"/>
          </a:p>
        </p:txBody>
      </p:sp>
      <p:sp>
        <p:nvSpPr>
          <p:cNvPr id="25" name="Slide Number Placeholder 0"/>
          <p:cNvSpPr>
            <a:spLocks noGrp="1"/>
          </p:cNvSpPr>
          <p:nvPr>
            <p:ph type="sldNum" sz="quarter" idx="4294967295"/>
          </p:nvPr>
        </p:nvSpPr>
        <p:spPr>
          <a:xfrm>
            <a:off x="1118585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F9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960120"/>
          </a:xfrm>
          <a:prstGeom prst="rect">
            <a:avLst/>
          </a:prstGeom>
          <a:noFill/>
          <a:ln/>
        </p:spPr>
        <p:txBody>
          <a:bodyPr wrap="square" lIns="0" tIns="0" rIns="0" bIns="0" rtlCol="0" anchor="t"/>
          <a:lstStyle/>
          <a:p>
            <a:pPr algn="l" indent="0" marL="0">
              <a:buNone/>
            </a:pPr>
            <a:r>
              <a:rPr lang="en-US" sz="2800" b="1" dirty="0">
                <a:solidFill>
                  <a:srgbClr val="16202C"/>
                </a:solidFill>
                <a:latin typeface="Cambria" pitchFamily="34" charset="0"/>
                <a:ea typeface="Cambria" pitchFamily="34" charset="-122"/>
                <a:cs typeface="Cambria" pitchFamily="34" charset="-120"/>
              </a:rPr>
              <a:t>Conventional banners run high-low promotions that narrow — but never close — the gap</a:t>
            </a:r>
            <a:endParaRPr lang="en-US" sz="2800" dirty="0"/>
          </a:p>
        </p:txBody>
      </p:sp>
      <p:graphicFrame>
        <p:nvGraphicFramePr>
          <p:cNvPr id="3" name="Chart 0" descr=""/>
          <p:cNvGraphicFramePr/>
          <p:nvPr/>
        </p:nvGraphicFramePr>
        <p:xfrm>
          <a:off x="548640" y="1417320"/>
          <a:ext cx="5486400" cy="457200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6263640" y="1417320"/>
          <a:ext cx="3108960" cy="4572000"/>
        </p:xfrm>
        <a:graphic xmlns:a="http://schemas.openxmlformats.org/drawingml/2006/main">
          <a:graphicData uri="http://schemas.openxmlformats.org/drawingml/2006/chart">
            <c:chart xmlns:c="http://schemas.openxmlformats.org/drawingml/2006/chart" r:id="rId2"/>
          </a:graphicData>
        </a:graphic>
      </p:graphicFrame>
      <p:sp>
        <p:nvSpPr>
          <p:cNvPr id="5" name="Takeaway panel"/>
          <p:cNvSpPr/>
          <p:nvPr/>
        </p:nvSpPr>
        <p:spPr>
          <a:xfrm>
            <a:off x="9555480" y="1417320"/>
            <a:ext cx="2087575" cy="4526280"/>
          </a:xfrm>
          <a:prstGeom prst="roundRect">
            <a:avLst>
              <a:gd name="adj" fmla="val 3504"/>
            </a:avLst>
          </a:prstGeom>
          <a:solidFill>
            <a:srgbClr val="F3F5F7"/>
          </a:solidFill>
          <a:ln w="12700">
            <a:solidFill>
              <a:srgbClr val="F3F5F7"/>
            </a:solidFill>
            <a:prstDash val="solid"/>
          </a:ln>
        </p:spPr>
      </p:sp>
      <p:sp>
        <p:nvSpPr>
          <p:cNvPr id="6" name="Takeaway text"/>
          <p:cNvSpPr txBox="1"/>
          <p:nvPr/>
        </p:nvSpPr>
        <p:spPr>
          <a:xfrm>
            <a:off x="9784080" y="1600200"/>
            <a:ext cx="1630375" cy="4160520"/>
          </a:xfrm>
          <a:prstGeom prst="rect">
            <a:avLst/>
          </a:prstGeom>
          <a:noFill/>
          <a:ln/>
        </p:spPr>
        <p:txBody>
          <a:bodyPr wrap="square" lIns="0" tIns="0" rIns="0" bIns="0" rtlCol="0" anchor="t"/>
          <a:lstStyle/>
          <a:p>
            <a:pPr indent="0" marL="0">
              <a:spcAft>
                <a:spcPts val="600"/>
              </a:spcAft>
              <a:buNone/>
            </a:pPr>
            <a:r>
              <a:rPr lang="en-US" sz="1500" b="1" dirty="0">
                <a:solidFill>
                  <a:srgbClr val="1F3A5F"/>
                </a:solidFill>
                <a:latin typeface="Calibri" pitchFamily="34" charset="0"/>
                <a:ea typeface="Calibri" pitchFamily="34" charset="-122"/>
                <a:cs typeface="Calibri" pitchFamily="34" charset="-120"/>
              </a:rPr>
              <a:t>Reference prices at work</a:t>
            </a:r>
            <a:endParaRPr lang="en-US" sz="1500" dirty="0"/>
          </a:p>
          <a:p>
            <a:pPr indent="0" marL="0">
              <a:spcAft>
                <a:spcPts val="600"/>
              </a:spcAft>
              <a:buNone/>
            </a:pPr>
            <a:r>
              <a:rPr lang="en-US" sz="1400" dirty="0">
                <a:solidFill>
                  <a:srgbClr val="4A5563"/>
                </a:solidFill>
                <a:latin typeface="Calibri" pitchFamily="34" charset="0"/>
                <a:ea typeface="Calibri" pitchFamily="34" charset="-122"/>
                <a:cs typeface="Calibri" pitchFamily="34" charset="-120"/>
              </a:rPr>
              <a:t>A struck-through “was” price frames the deal against the conventional tier's high regular price. Discount banners promote less: their everyday price is the message.</a:t>
            </a:r>
            <a:endParaRPr lang="en-US" sz="1500" dirty="0"/>
          </a:p>
        </p:txBody>
      </p:sp>
      <p:sp>
        <p:nvSpPr>
          <p:cNvPr id="7" name="Source"/>
          <p:cNvSpPr txBox="1"/>
          <p:nvPr/>
        </p:nvSpPr>
        <p:spPr>
          <a:xfrm>
            <a:off x="548640" y="6144768"/>
            <a:ext cx="11094415" cy="274320"/>
          </a:xfrm>
          <a:prstGeom prst="rect">
            <a:avLst/>
          </a:prstGeom>
          <a:noFill/>
          <a:ln/>
        </p:spPr>
        <p:txBody>
          <a:bodyPr wrap="square" lIns="0" tIns="0" rIns="0" bIns="0" rtlCol="0" anchor="ctr"/>
          <a:lstStyle/>
          <a:p>
            <a:pPr indent="0" marL="0">
              <a:buNone/>
            </a:pPr>
            <a:r>
              <a:rPr lang="en-US" sz="1000" dirty="0">
                <a:solidFill>
                  <a:srgbClr val="8A8F98"/>
                </a:solidFill>
                <a:latin typeface="Calibri" pitchFamily="34" charset="0"/>
                <a:ea typeface="Calibri" pitchFamily="34" charset="-122"/>
                <a:cs typeface="Calibri" pitchFamily="34" charset="-120"/>
              </a:rPr>
              <a:t>Source: Project Hammer (J. Filipp) Toronto online shelf prices, Feb 2024–Oct 2026; author analysis. Promotion = 'was' price, multi-buy or sale flag. Basket saving on the identical-basket index.</a:t>
            </a:r>
            <a:endParaRPr lang="en-US" sz="1000" dirty="0"/>
          </a:p>
        </p:txBody>
      </p:sp>
      <p:sp>
        <p:nvSpPr>
          <p:cNvPr id="25" name="Slide Number Placeholder 0"/>
          <p:cNvSpPr>
            <a:spLocks noGrp="1"/>
          </p:cNvSpPr>
          <p:nvPr>
            <p:ph type="sldNum" sz="quarter" idx="4294967295"/>
          </p:nvPr>
        </p:nvSpPr>
        <p:spPr>
          <a:xfrm>
            <a:off x="1118585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F9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960120"/>
          </a:xfrm>
          <a:prstGeom prst="rect">
            <a:avLst/>
          </a:prstGeom>
          <a:noFill/>
          <a:ln/>
        </p:spPr>
        <p:txBody>
          <a:bodyPr wrap="square" lIns="0" tIns="0" rIns="0" bIns="0" rtlCol="0" anchor="t"/>
          <a:lstStyle/>
          <a:p>
            <a:pPr algn="l" indent="0" marL="0">
              <a:buNone/>
            </a:pPr>
            <a:r>
              <a:rPr lang="en-US" sz="2800" b="1" dirty="0">
                <a:solidFill>
                  <a:srgbClr val="16202C"/>
                </a:solidFill>
                <a:latin typeface="Cambria" pitchFamily="34" charset="0"/>
                <a:ea typeface="Cambria" pitchFamily="34" charset="-122"/>
                <a:cs typeface="Cambria" pitchFamily="34" charset="-120"/>
              </a:rPr>
              <a:t>Testing a claim: no measurable Nov–Feb “price freeze” at Toronto banners</a:t>
            </a:r>
            <a:endParaRPr lang="en-US" sz="2800" dirty="0"/>
          </a:p>
        </p:txBody>
      </p:sp>
      <p:graphicFrame>
        <p:nvGraphicFramePr>
          <p:cNvPr id="3" name="Chart 0" descr=""/>
          <p:cNvGraphicFramePr/>
          <p:nvPr/>
        </p:nvGraphicFramePr>
        <p:xfrm>
          <a:off x="548640" y="1417320"/>
          <a:ext cx="7132320" cy="4572000"/>
        </p:xfrm>
        <a:graphic xmlns:a="http://schemas.openxmlformats.org/drawingml/2006/main">
          <a:graphicData uri="http://schemas.openxmlformats.org/drawingml/2006/chart">
            <c:chart xmlns:c="http://schemas.openxmlformats.org/drawingml/2006/chart" r:id="rId1"/>
          </a:graphicData>
        </a:graphic>
      </p:graphicFrame>
      <p:sp>
        <p:nvSpPr>
          <p:cNvPr id="4" name="Takeaway panel"/>
          <p:cNvSpPr/>
          <p:nvPr/>
        </p:nvSpPr>
        <p:spPr>
          <a:xfrm>
            <a:off x="8001000" y="1417320"/>
            <a:ext cx="3642055" cy="2377440"/>
          </a:xfrm>
          <a:prstGeom prst="roundRect">
            <a:avLst>
              <a:gd name="adj" fmla="val 3077"/>
            </a:avLst>
          </a:prstGeom>
          <a:solidFill>
            <a:srgbClr val="F3F5F7"/>
          </a:solidFill>
          <a:ln w="12700">
            <a:solidFill>
              <a:srgbClr val="F3F5F7"/>
            </a:solidFill>
            <a:prstDash val="solid"/>
          </a:ln>
        </p:spPr>
      </p:sp>
      <p:sp>
        <p:nvSpPr>
          <p:cNvPr id="5" name="Takeaway text"/>
          <p:cNvSpPr txBox="1"/>
          <p:nvPr/>
        </p:nvSpPr>
        <p:spPr>
          <a:xfrm>
            <a:off x="8229600" y="1600200"/>
            <a:ext cx="3184855" cy="2011680"/>
          </a:xfrm>
          <a:prstGeom prst="rect">
            <a:avLst/>
          </a:prstGeom>
          <a:noFill/>
          <a:ln/>
        </p:spPr>
        <p:txBody>
          <a:bodyPr wrap="square" lIns="0" tIns="0" rIns="0" bIns="0" rtlCol="0" anchor="t"/>
          <a:lstStyle/>
          <a:p>
            <a:pPr indent="0" marL="0">
              <a:spcAft>
                <a:spcPts val="600"/>
              </a:spcAft>
              <a:buNone/>
            </a:pPr>
            <a:r>
              <a:rPr lang="en-US" sz="1500" b="1" dirty="0">
                <a:solidFill>
                  <a:srgbClr val="1F3A5F"/>
                </a:solidFill>
                <a:latin typeface="Calibri" pitchFamily="34" charset="0"/>
                <a:ea typeface="Calibri" pitchFamily="34" charset="-122"/>
                <a:cs typeface="Calibri" pitchFamily="34" charset="-120"/>
              </a:rPr>
              <a:t>What we tested</a:t>
            </a:r>
            <a:endParaRPr lang="en-US" sz="1500" dirty="0"/>
          </a:p>
          <a:p>
            <a:pPr indent="0" marL="0">
              <a:spcAft>
                <a:spcPts val="600"/>
              </a:spcAft>
              <a:buNone/>
            </a:pPr>
            <a:r>
              <a:rPr lang="en-US" sz="1400" dirty="0">
                <a:solidFill>
                  <a:srgbClr val="4A5563"/>
                </a:solidFill>
                <a:latin typeface="Calibri" pitchFamily="34" charset="0"/>
                <a:ea typeface="Calibri" pitchFamily="34" charset="-122"/>
                <a:cs typeface="Calibri" pitchFamily="34" charset="-120"/>
              </a:rPr>
              <a:t>Metro publicly described a Nov 1–Feb 5 freeze on regular prices as an “industry practice”. If true, increases should drop sharply in that window.</a:t>
            </a:r>
            <a:endParaRPr lang="en-US" sz="1500" dirty="0"/>
          </a:p>
        </p:txBody>
      </p:sp>
      <p:sp>
        <p:nvSpPr>
          <p:cNvPr id="6" name="Takeaway panel"/>
          <p:cNvSpPr/>
          <p:nvPr/>
        </p:nvSpPr>
        <p:spPr>
          <a:xfrm>
            <a:off x="8001000" y="3931920"/>
            <a:ext cx="3642055" cy="2011680"/>
          </a:xfrm>
          <a:prstGeom prst="roundRect">
            <a:avLst>
              <a:gd name="adj" fmla="val 3636"/>
            </a:avLst>
          </a:prstGeom>
          <a:solidFill>
            <a:srgbClr val="F3F5F7"/>
          </a:solidFill>
          <a:ln w="12700">
            <a:solidFill>
              <a:srgbClr val="F3F5F7"/>
            </a:solidFill>
            <a:prstDash val="solid"/>
          </a:ln>
        </p:spPr>
      </p:sp>
      <p:sp>
        <p:nvSpPr>
          <p:cNvPr id="7" name="Takeaway text"/>
          <p:cNvSpPr txBox="1"/>
          <p:nvPr/>
        </p:nvSpPr>
        <p:spPr>
          <a:xfrm>
            <a:off x="8229600" y="4114800"/>
            <a:ext cx="3184855" cy="1645920"/>
          </a:xfrm>
          <a:prstGeom prst="rect">
            <a:avLst/>
          </a:prstGeom>
          <a:noFill/>
          <a:ln/>
        </p:spPr>
        <p:txBody>
          <a:bodyPr wrap="square" lIns="0" tIns="0" rIns="0" bIns="0" rtlCol="0" anchor="t"/>
          <a:lstStyle/>
          <a:p>
            <a:pPr indent="0" marL="0">
              <a:spcAft>
                <a:spcPts val="600"/>
              </a:spcAft>
              <a:buNone/>
            </a:pPr>
            <a:r>
              <a:rPr lang="en-US" sz="1500" b="1" dirty="0">
                <a:solidFill>
                  <a:srgbClr val="E4572E"/>
                </a:solidFill>
                <a:latin typeface="Calibri" pitchFamily="34" charset="0"/>
                <a:ea typeface="Calibri" pitchFamily="34" charset="-122"/>
                <a:cs typeface="Calibri" pitchFamily="34" charset="-120"/>
              </a:rPr>
              <a:t>What we found</a:t>
            </a:r>
            <a:endParaRPr lang="en-US" sz="1500" dirty="0"/>
          </a:p>
          <a:p>
            <a:pPr indent="0" marL="0">
              <a:spcAft>
                <a:spcPts val="600"/>
              </a:spcAft>
              <a:buNone/>
            </a:pPr>
            <a:r>
              <a:rPr lang="en-US" sz="1400" dirty="0">
                <a:solidFill>
                  <a:srgbClr val="4A5563"/>
                </a:solidFill>
                <a:latin typeface="Calibri" pitchFamily="34" charset="0"/>
                <a:ea typeface="Calibri" pitchFamily="34" charset="-122"/>
                <a:cs typeface="Calibri" pitchFamily="34" charset="-120"/>
              </a:rPr>
              <a:t>Increase rates in the window are 0.84–1.09× the rest of the year for the big Toronto banners (Mann-Whitney p ≥ 0.17). Any freeze is not visible on the shelf.</a:t>
            </a:r>
            <a:endParaRPr lang="en-US" sz="1500" dirty="0"/>
          </a:p>
        </p:txBody>
      </p:sp>
      <p:sp>
        <p:nvSpPr>
          <p:cNvPr id="8" name="Source"/>
          <p:cNvSpPr txBox="1"/>
          <p:nvPr/>
        </p:nvSpPr>
        <p:spPr>
          <a:xfrm>
            <a:off x="548640" y="6144768"/>
            <a:ext cx="11094415" cy="274320"/>
          </a:xfrm>
          <a:prstGeom prst="rect">
            <a:avLst/>
          </a:prstGeom>
          <a:noFill/>
          <a:ln/>
        </p:spPr>
        <p:txBody>
          <a:bodyPr wrap="square" lIns="0" tIns="0" rIns="0" bIns="0" rtlCol="0" anchor="ctr"/>
          <a:lstStyle/>
          <a:p>
            <a:pPr indent="0" marL="0">
              <a:buNone/>
            </a:pPr>
            <a:r>
              <a:rPr lang="en-US" sz="1000" dirty="0">
                <a:solidFill>
                  <a:srgbClr val="8A8F98"/>
                </a:solidFill>
                <a:latin typeface="Calibri" pitchFamily="34" charset="0"/>
                <a:ea typeface="Calibri" pitchFamily="34" charset="-122"/>
                <a:cs typeface="Calibri" pitchFamily="34" charset="-120"/>
              </a:rPr>
              <a:t>Source: Project Hammer (J. Filipp) Toronto online shelf prices, Feb 2024–Oct 2026; author analysis. Two windows (2024-25, 2025-26); persistent increases per 1,000 active products. Metro statement as quoted on the Project Hammer site.</a:t>
            </a:r>
            <a:endParaRPr lang="en-US" sz="1000" dirty="0"/>
          </a:p>
        </p:txBody>
      </p:sp>
      <p:sp>
        <p:nvSpPr>
          <p:cNvPr id="25" name="Slide Number Placeholder 0"/>
          <p:cNvSpPr>
            <a:spLocks noGrp="1"/>
          </p:cNvSpPr>
          <p:nvPr>
            <p:ph type="sldNum" sz="quarter" idx="4294967295"/>
          </p:nvPr>
        </p:nvSpPr>
        <p:spPr>
          <a:xfrm>
            <a:off x="1118585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F9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960120"/>
          </a:xfrm>
          <a:prstGeom prst="rect">
            <a:avLst/>
          </a:prstGeom>
          <a:noFill/>
          <a:ln/>
        </p:spPr>
        <p:txBody>
          <a:bodyPr wrap="square" lIns="0" tIns="0" rIns="0" bIns="0" rtlCol="0" anchor="t"/>
          <a:lstStyle/>
          <a:p>
            <a:pPr algn="l" indent="0" marL="0">
              <a:buNone/>
            </a:pPr>
            <a:r>
              <a:rPr lang="en-US" sz="2800" b="1" dirty="0">
                <a:solidFill>
                  <a:srgbClr val="16202C"/>
                </a:solidFill>
                <a:latin typeface="Cambria" pitchFamily="34" charset="0"/>
                <a:ea typeface="Cambria" pitchFamily="34" charset="-122"/>
                <a:cs typeface="Cambria" pitchFamily="34" charset="-120"/>
              </a:rPr>
              <a:t>Store brands steer the shelf: up to one in five products at the big three's banners</a:t>
            </a:r>
            <a:endParaRPr lang="en-US" sz="2800" dirty="0"/>
          </a:p>
        </p:txBody>
      </p:sp>
      <p:graphicFrame>
        <p:nvGraphicFramePr>
          <p:cNvPr id="3" name="Chart 0" descr=""/>
          <p:cNvGraphicFramePr/>
          <p:nvPr/>
        </p:nvGraphicFramePr>
        <p:xfrm>
          <a:off x="548640" y="1417320"/>
          <a:ext cx="7132320" cy="4572000"/>
        </p:xfrm>
        <a:graphic xmlns:a="http://schemas.openxmlformats.org/drawingml/2006/main">
          <a:graphicData uri="http://schemas.openxmlformats.org/drawingml/2006/chart">
            <c:chart xmlns:c="http://schemas.openxmlformats.org/drawingml/2006/chart" r:id="rId1"/>
          </a:graphicData>
        </a:graphic>
      </p:graphicFrame>
      <p:sp>
        <p:nvSpPr>
          <p:cNvPr id="4" name="Takeaway panel"/>
          <p:cNvSpPr/>
          <p:nvPr/>
        </p:nvSpPr>
        <p:spPr>
          <a:xfrm>
            <a:off x="8001000" y="1417320"/>
            <a:ext cx="3642055" cy="2377440"/>
          </a:xfrm>
          <a:prstGeom prst="roundRect">
            <a:avLst>
              <a:gd name="adj" fmla="val 3077"/>
            </a:avLst>
          </a:prstGeom>
          <a:solidFill>
            <a:srgbClr val="F3F5F7"/>
          </a:solidFill>
          <a:ln w="12700">
            <a:solidFill>
              <a:srgbClr val="F3F5F7"/>
            </a:solidFill>
            <a:prstDash val="solid"/>
          </a:ln>
        </p:spPr>
      </p:sp>
      <p:sp>
        <p:nvSpPr>
          <p:cNvPr id="5" name="Takeaway text"/>
          <p:cNvSpPr txBox="1"/>
          <p:nvPr/>
        </p:nvSpPr>
        <p:spPr>
          <a:xfrm>
            <a:off x="8229600" y="1600200"/>
            <a:ext cx="3184855" cy="2011680"/>
          </a:xfrm>
          <a:prstGeom prst="rect">
            <a:avLst/>
          </a:prstGeom>
          <a:noFill/>
          <a:ln/>
        </p:spPr>
        <p:txBody>
          <a:bodyPr wrap="square" lIns="0" tIns="0" rIns="0" bIns="0" rtlCol="0" anchor="t"/>
          <a:lstStyle/>
          <a:p>
            <a:pPr indent="0" marL="0">
              <a:spcAft>
                <a:spcPts val="600"/>
              </a:spcAft>
              <a:buNone/>
            </a:pPr>
            <a:r>
              <a:rPr lang="en-US" sz="1500" b="1" dirty="0">
                <a:solidFill>
                  <a:srgbClr val="1F3A5F"/>
                </a:solidFill>
                <a:latin typeface="Calibri" pitchFamily="34" charset="0"/>
                <a:ea typeface="Calibri" pitchFamily="34" charset="-122"/>
                <a:cs typeface="Calibri" pitchFamily="34" charset="-120"/>
              </a:rPr>
              <a:t>Architecture beyond the banner</a:t>
            </a:r>
            <a:endParaRPr lang="en-US" sz="1500" dirty="0"/>
          </a:p>
          <a:p>
            <a:pPr indent="0" marL="0">
              <a:spcAft>
                <a:spcPts val="600"/>
              </a:spcAft>
              <a:buNone/>
            </a:pPr>
            <a:r>
              <a:rPr lang="en-US" sz="1400" dirty="0">
                <a:solidFill>
                  <a:srgbClr val="4A5563"/>
                </a:solidFill>
                <a:latin typeface="Calibri" pitchFamily="34" charset="0"/>
                <a:ea typeface="Calibri" pitchFamily="34" charset="-122"/>
                <a:cs typeface="Calibri" pitchFamily="34" charset="-120"/>
              </a:rPr>
              <a:t>PC and No Name appear across Loblaw's banners at different prices, giving one brand a good-better-best ladder inside a single store and across stores.</a:t>
            </a:r>
            <a:endParaRPr lang="en-US" sz="1500" dirty="0"/>
          </a:p>
        </p:txBody>
      </p:sp>
      <p:sp>
        <p:nvSpPr>
          <p:cNvPr id="6" name="Takeaway panel"/>
          <p:cNvSpPr/>
          <p:nvPr/>
        </p:nvSpPr>
        <p:spPr>
          <a:xfrm>
            <a:off x="8001000" y="3931920"/>
            <a:ext cx="3642055" cy="2011680"/>
          </a:xfrm>
          <a:prstGeom prst="roundRect">
            <a:avLst>
              <a:gd name="adj" fmla="val 3636"/>
            </a:avLst>
          </a:prstGeom>
          <a:solidFill>
            <a:srgbClr val="F3F5F7"/>
          </a:solidFill>
          <a:ln w="12700">
            <a:solidFill>
              <a:srgbClr val="F3F5F7"/>
            </a:solidFill>
            <a:prstDash val="solid"/>
          </a:ln>
        </p:spPr>
      </p:sp>
      <p:sp>
        <p:nvSpPr>
          <p:cNvPr id="7" name="Takeaway text"/>
          <p:cNvSpPr txBox="1"/>
          <p:nvPr/>
        </p:nvSpPr>
        <p:spPr>
          <a:xfrm>
            <a:off x="8229600" y="4114800"/>
            <a:ext cx="3184855" cy="1645920"/>
          </a:xfrm>
          <a:prstGeom prst="rect">
            <a:avLst/>
          </a:prstGeom>
          <a:noFill/>
          <a:ln/>
        </p:spPr>
        <p:txBody>
          <a:bodyPr wrap="square" lIns="0" tIns="0" rIns="0" bIns="0" rtlCol="0" anchor="t"/>
          <a:lstStyle/>
          <a:p>
            <a:pPr indent="0" marL="0">
              <a:spcAft>
                <a:spcPts val="600"/>
              </a:spcAft>
              <a:buNone/>
            </a:pPr>
            <a:r>
              <a:rPr lang="en-US" sz="1500" b="1" dirty="0">
                <a:solidFill>
                  <a:srgbClr val="E4572E"/>
                </a:solidFill>
                <a:latin typeface="Calibri" pitchFamily="34" charset="0"/>
                <a:ea typeface="Calibri" pitchFamily="34" charset="-122"/>
                <a:cs typeface="Calibri" pitchFamily="34" charset="-120"/>
              </a:rPr>
              <a:t>Default effects</a:t>
            </a:r>
            <a:endParaRPr lang="en-US" sz="1500" dirty="0"/>
          </a:p>
          <a:p>
            <a:pPr indent="0" marL="0">
              <a:spcAft>
                <a:spcPts val="600"/>
              </a:spcAft>
              <a:buNone/>
            </a:pPr>
            <a:r>
              <a:rPr lang="en-US" sz="1400" dirty="0">
                <a:solidFill>
                  <a:srgbClr val="4A5563"/>
                </a:solidFill>
                <a:latin typeface="Calibri" pitchFamily="34" charset="0"/>
                <a:ea typeface="Calibri" pitchFamily="34" charset="-122"/>
                <a:cs typeface="Calibri" pitchFamily="34" charset="-120"/>
              </a:rPr>
              <a:t>Private label at eye level and in promotions shapes which option shoppers see first — a quiet lever on basket mix.</a:t>
            </a:r>
            <a:endParaRPr lang="en-US" sz="1500" dirty="0"/>
          </a:p>
        </p:txBody>
      </p:sp>
      <p:sp>
        <p:nvSpPr>
          <p:cNvPr id="8" name="Source"/>
          <p:cNvSpPr txBox="1"/>
          <p:nvPr/>
        </p:nvSpPr>
        <p:spPr>
          <a:xfrm>
            <a:off x="548640" y="6144768"/>
            <a:ext cx="11094415" cy="274320"/>
          </a:xfrm>
          <a:prstGeom prst="rect">
            <a:avLst/>
          </a:prstGeom>
          <a:noFill/>
          <a:ln/>
        </p:spPr>
        <p:txBody>
          <a:bodyPr wrap="square" lIns="0" tIns="0" rIns="0" bIns="0" rtlCol="0" anchor="ctr"/>
          <a:lstStyle/>
          <a:p>
            <a:pPr indent="0" marL="0">
              <a:buNone/>
            </a:pPr>
            <a:r>
              <a:rPr lang="en-US" sz="1000" dirty="0">
                <a:solidFill>
                  <a:srgbClr val="8A8F98"/>
                </a:solidFill>
                <a:latin typeface="Calibri" pitchFamily="34" charset="0"/>
                <a:ea typeface="Calibri" pitchFamily="34" charset="-122"/>
                <a:cs typeface="Calibri" pitchFamily="34" charset="-120"/>
              </a:rPr>
              <a:t>Source: Project Hammer (J. Filipp) Toronto online shelf prices, Feb 2024–Oct 2026; author analysis. Private label identified by brand/name (PC, No Name, Selection, Irresistibles, Compliments, Great Value…).</a:t>
            </a:r>
            <a:endParaRPr lang="en-US" sz="1000" dirty="0"/>
          </a:p>
        </p:txBody>
      </p:sp>
      <p:sp>
        <p:nvSpPr>
          <p:cNvPr id="25" name="Slide Number Placeholder 0"/>
          <p:cNvSpPr>
            <a:spLocks noGrp="1"/>
          </p:cNvSpPr>
          <p:nvPr>
            <p:ph type="sldNum" sz="quarter" idx="4294967295"/>
          </p:nvPr>
        </p:nvSpPr>
        <p:spPr>
          <a:xfrm>
            <a:off x="1118585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F9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960120"/>
          </a:xfrm>
          <a:prstGeom prst="rect">
            <a:avLst/>
          </a:prstGeom>
          <a:noFill/>
          <a:ln/>
        </p:spPr>
        <p:txBody>
          <a:bodyPr wrap="square" lIns="0" tIns="0" rIns="0" bIns="0" rtlCol="0" anchor="t"/>
          <a:lstStyle/>
          <a:p>
            <a:pPr algn="l" indent="0" marL="0">
              <a:buNone/>
            </a:pPr>
            <a:r>
              <a:rPr lang="en-US" sz="2800" b="1" dirty="0">
                <a:solidFill>
                  <a:srgbClr val="16202C"/>
                </a:solidFill>
                <a:latin typeface="Cambria" pitchFamily="34" charset="0"/>
                <a:ea typeface="Cambria" pitchFamily="34" charset="-122"/>
                <a:cs typeface="Cambria" pitchFamily="34" charset="-120"/>
              </a:rPr>
              <a:t>Four behavioural mechanisms turn portfolio structure into market power</a:t>
            </a:r>
            <a:endParaRPr lang="en-US" sz="2800" dirty="0"/>
          </a:p>
        </p:txBody>
      </p:sp>
      <p:sp>
        <p:nvSpPr>
          <p:cNvPr id="3" name="Shape 1"/>
          <p:cNvSpPr/>
          <p:nvPr/>
        </p:nvSpPr>
        <p:spPr>
          <a:xfrm>
            <a:off x="548640" y="1463040"/>
            <a:ext cx="5410048" cy="2103120"/>
          </a:xfrm>
          <a:prstGeom prst="roundRect">
            <a:avLst>
              <a:gd name="adj" fmla="val 3478"/>
            </a:avLst>
          </a:prstGeom>
          <a:solidFill>
            <a:srgbClr val="F3F5F7"/>
          </a:solidFill>
          <a:ln w="12700">
            <a:solidFill>
              <a:srgbClr val="F3F5F7"/>
            </a:solidFill>
            <a:prstDash val="solid"/>
          </a:ln>
        </p:spPr>
      </p:sp>
      <p:sp>
        <p:nvSpPr>
          <p:cNvPr id="4" name="Badge"/>
          <p:cNvSpPr/>
          <p:nvPr/>
        </p:nvSpPr>
        <p:spPr>
          <a:xfrm>
            <a:off x="777240" y="1691640"/>
            <a:ext cx="420624" cy="420624"/>
          </a:xfrm>
          <a:prstGeom prst="ellipse">
            <a:avLst/>
          </a:prstGeom>
          <a:solidFill>
            <a:srgbClr val="E4572E"/>
          </a:solidFill>
          <a:ln w="12700">
            <a:solidFill>
              <a:srgbClr val="E4572E"/>
            </a:solidFill>
            <a:prstDash val="solid"/>
          </a:ln>
        </p:spPr>
      </p:sp>
      <p:sp>
        <p:nvSpPr>
          <p:cNvPr id="5" name="Badge number"/>
          <p:cNvSpPr txBox="1"/>
          <p:nvPr/>
        </p:nvSpPr>
        <p:spPr>
          <a:xfrm>
            <a:off x="777240" y="169164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txBox="1"/>
          <p:nvPr/>
        </p:nvSpPr>
        <p:spPr>
          <a:xfrm>
            <a:off x="1371600" y="1645920"/>
            <a:ext cx="4358488" cy="1783080"/>
          </a:xfrm>
          <a:prstGeom prst="rect">
            <a:avLst/>
          </a:prstGeom>
          <a:noFill/>
          <a:ln/>
        </p:spPr>
        <p:txBody>
          <a:bodyPr wrap="square" lIns="0" tIns="0" rIns="0" bIns="0" rtlCol="0" anchor="t"/>
          <a:lstStyle/>
          <a:p>
            <a:pPr indent="0" marL="0">
              <a:spcAft>
                <a:spcPts val="600"/>
              </a:spcAft>
              <a:buNone/>
            </a:pPr>
            <a:r>
              <a:rPr lang="en-US" sz="1600" b="1" dirty="0">
                <a:solidFill>
                  <a:srgbClr val="16202C"/>
                </a:solidFill>
                <a:latin typeface="Calibri" pitchFamily="34" charset="0"/>
                <a:ea typeface="Calibri" pitchFamily="34" charset="-122"/>
                <a:cs typeface="Calibri" pitchFamily="34" charset="-120"/>
              </a:rPr>
              <a:t>Choice-set illusion</a:t>
            </a:r>
            <a:endParaRPr lang="en-US" sz="1600" dirty="0"/>
          </a:p>
          <a:p>
            <a:pPr indent="0" marL="0">
              <a:spcAft>
                <a:spcPts val="600"/>
              </a:spcAft>
              <a:buNone/>
            </a:pPr>
            <a:r>
              <a:rPr lang="en-US" sz="1500" dirty="0">
                <a:solidFill>
                  <a:srgbClr val="4A5563"/>
                </a:solidFill>
                <a:latin typeface="Calibri" pitchFamily="34" charset="0"/>
                <a:ea typeface="Calibri" pitchFamily="34" charset="-122"/>
                <a:cs typeface="Calibri" pitchFamily="34" charset="-120"/>
              </a:rPr>
              <a:t>Many banner names signal many competitors. In our Toronto data, 5 of 8 banners belong to the big three parents, and switching between Loblaws and No Frills keeps spending in one portfolio.</a:t>
            </a:r>
            <a:endParaRPr lang="en-US" sz="1600" dirty="0"/>
          </a:p>
        </p:txBody>
      </p:sp>
      <p:sp>
        <p:nvSpPr>
          <p:cNvPr id="7" name="Shape 5"/>
          <p:cNvSpPr/>
          <p:nvPr/>
        </p:nvSpPr>
        <p:spPr>
          <a:xfrm>
            <a:off x="6233008" y="1463040"/>
            <a:ext cx="5410048" cy="2103120"/>
          </a:xfrm>
          <a:prstGeom prst="roundRect">
            <a:avLst>
              <a:gd name="adj" fmla="val 3478"/>
            </a:avLst>
          </a:prstGeom>
          <a:solidFill>
            <a:srgbClr val="F3F5F7"/>
          </a:solidFill>
          <a:ln w="12700">
            <a:solidFill>
              <a:srgbClr val="F3F5F7"/>
            </a:solidFill>
            <a:prstDash val="solid"/>
          </a:ln>
        </p:spPr>
      </p:sp>
      <p:sp>
        <p:nvSpPr>
          <p:cNvPr id="8" name="Badge"/>
          <p:cNvSpPr/>
          <p:nvPr/>
        </p:nvSpPr>
        <p:spPr>
          <a:xfrm>
            <a:off x="6461608" y="1691640"/>
            <a:ext cx="420624" cy="420624"/>
          </a:xfrm>
          <a:prstGeom prst="ellipse">
            <a:avLst/>
          </a:prstGeom>
          <a:solidFill>
            <a:srgbClr val="E4572E"/>
          </a:solidFill>
          <a:ln w="12700">
            <a:solidFill>
              <a:srgbClr val="E4572E"/>
            </a:solidFill>
            <a:prstDash val="solid"/>
          </a:ln>
        </p:spPr>
      </p:sp>
      <p:sp>
        <p:nvSpPr>
          <p:cNvPr id="9" name="Badge number"/>
          <p:cNvSpPr txBox="1"/>
          <p:nvPr/>
        </p:nvSpPr>
        <p:spPr>
          <a:xfrm>
            <a:off x="6461608" y="169164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0" name="Text 8"/>
          <p:cNvSpPr txBox="1"/>
          <p:nvPr/>
        </p:nvSpPr>
        <p:spPr>
          <a:xfrm>
            <a:off x="7055968" y="1645920"/>
            <a:ext cx="4358488" cy="1783080"/>
          </a:xfrm>
          <a:prstGeom prst="rect">
            <a:avLst/>
          </a:prstGeom>
          <a:noFill/>
          <a:ln/>
        </p:spPr>
        <p:txBody>
          <a:bodyPr wrap="square" lIns="0" tIns="0" rIns="0" bIns="0" rtlCol="0" anchor="t"/>
          <a:lstStyle/>
          <a:p>
            <a:pPr indent="0" marL="0">
              <a:spcAft>
                <a:spcPts val="600"/>
              </a:spcAft>
              <a:buNone/>
            </a:pPr>
            <a:r>
              <a:rPr lang="en-US" sz="1600" b="1" dirty="0">
                <a:solidFill>
                  <a:srgbClr val="16202C"/>
                </a:solidFill>
                <a:latin typeface="Calibri" pitchFamily="34" charset="0"/>
                <a:ea typeface="Calibri" pitchFamily="34" charset="-122"/>
                <a:cs typeface="Calibri" pitchFamily="34" charset="-120"/>
              </a:rPr>
              <a:t>Anchoring &amp; reference prices</a:t>
            </a:r>
            <a:endParaRPr lang="en-US" sz="1600" dirty="0"/>
          </a:p>
          <a:p>
            <a:pPr indent="0" marL="0">
              <a:spcAft>
                <a:spcPts val="600"/>
              </a:spcAft>
              <a:buNone/>
            </a:pPr>
            <a:r>
              <a:rPr lang="en-US" sz="1500" dirty="0">
                <a:solidFill>
                  <a:srgbClr val="4A5563"/>
                </a:solidFill>
                <a:latin typeface="Calibri" pitchFamily="34" charset="0"/>
                <a:ea typeface="Calibri" pitchFamily="34" charset="-122"/>
                <a:cs typeface="Calibri" pitchFamily="34" charset="-120"/>
              </a:rPr>
              <a:t>The conventional tier's regular price sets the internal reference; “was” prices and the discount tier are judged against it, so both feel like savings.</a:t>
            </a:r>
            <a:endParaRPr lang="en-US" sz="1600" dirty="0"/>
          </a:p>
        </p:txBody>
      </p:sp>
      <p:sp>
        <p:nvSpPr>
          <p:cNvPr id="11" name="Shape 9"/>
          <p:cNvSpPr/>
          <p:nvPr/>
        </p:nvSpPr>
        <p:spPr>
          <a:xfrm>
            <a:off x="548640" y="3749040"/>
            <a:ext cx="5410048" cy="2103120"/>
          </a:xfrm>
          <a:prstGeom prst="roundRect">
            <a:avLst>
              <a:gd name="adj" fmla="val 3478"/>
            </a:avLst>
          </a:prstGeom>
          <a:solidFill>
            <a:srgbClr val="F3F5F7"/>
          </a:solidFill>
          <a:ln w="12700">
            <a:solidFill>
              <a:srgbClr val="F3F5F7"/>
            </a:solidFill>
            <a:prstDash val="solid"/>
          </a:ln>
        </p:spPr>
      </p:sp>
      <p:sp>
        <p:nvSpPr>
          <p:cNvPr id="12" name="Badge"/>
          <p:cNvSpPr/>
          <p:nvPr/>
        </p:nvSpPr>
        <p:spPr>
          <a:xfrm>
            <a:off x="777240" y="3977640"/>
            <a:ext cx="420624" cy="420624"/>
          </a:xfrm>
          <a:prstGeom prst="ellipse">
            <a:avLst/>
          </a:prstGeom>
          <a:solidFill>
            <a:srgbClr val="E4572E"/>
          </a:solidFill>
          <a:ln w="12700">
            <a:solidFill>
              <a:srgbClr val="E4572E"/>
            </a:solidFill>
            <a:prstDash val="solid"/>
          </a:ln>
        </p:spPr>
      </p:sp>
      <p:sp>
        <p:nvSpPr>
          <p:cNvPr id="13" name="Badge number"/>
          <p:cNvSpPr txBox="1"/>
          <p:nvPr/>
        </p:nvSpPr>
        <p:spPr>
          <a:xfrm>
            <a:off x="777240" y="397764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txBox="1"/>
          <p:nvPr/>
        </p:nvSpPr>
        <p:spPr>
          <a:xfrm>
            <a:off x="1371600" y="3931920"/>
            <a:ext cx="4358488" cy="1783080"/>
          </a:xfrm>
          <a:prstGeom prst="rect">
            <a:avLst/>
          </a:prstGeom>
          <a:noFill/>
          <a:ln/>
        </p:spPr>
        <p:txBody>
          <a:bodyPr wrap="square" lIns="0" tIns="0" rIns="0" bIns="0" rtlCol="0" anchor="t"/>
          <a:lstStyle/>
          <a:p>
            <a:pPr indent="0" marL="0">
              <a:spcAft>
                <a:spcPts val="600"/>
              </a:spcAft>
              <a:buNone/>
            </a:pPr>
            <a:r>
              <a:rPr lang="en-US" sz="1600" b="1" dirty="0">
                <a:solidFill>
                  <a:srgbClr val="16202C"/>
                </a:solidFill>
                <a:latin typeface="Calibri" pitchFamily="34" charset="0"/>
                <a:ea typeface="Calibri" pitchFamily="34" charset="-122"/>
                <a:cs typeface="Calibri" pitchFamily="34" charset="-120"/>
              </a:rPr>
              <a:t>Tier sorting (compromise effect)</a:t>
            </a:r>
            <a:endParaRPr lang="en-US" sz="1600" dirty="0"/>
          </a:p>
          <a:p>
            <a:pPr indent="0" marL="0">
              <a:spcAft>
                <a:spcPts val="600"/>
              </a:spcAft>
              <a:buNone/>
            </a:pPr>
            <a:r>
              <a:rPr lang="en-US" sz="1500" dirty="0">
                <a:solidFill>
                  <a:srgbClr val="4A5563"/>
                </a:solidFill>
                <a:latin typeface="Calibri" pitchFamily="34" charset="0"/>
                <a:ea typeface="Calibri" pitchFamily="34" charset="-122"/>
                <a:cs typeface="Calibri" pitchFamily="34" charset="-120"/>
              </a:rPr>
              <a:t>Shoppers self-select into good / better / best banners by value proposition rather than comparing identical items — the 13% banner premium is paid for environment and convenience.</a:t>
            </a:r>
            <a:endParaRPr lang="en-US" sz="1600" dirty="0"/>
          </a:p>
        </p:txBody>
      </p:sp>
      <p:sp>
        <p:nvSpPr>
          <p:cNvPr id="15" name="Shape 13"/>
          <p:cNvSpPr/>
          <p:nvPr/>
        </p:nvSpPr>
        <p:spPr>
          <a:xfrm>
            <a:off x="6233008" y="3749040"/>
            <a:ext cx="5410048" cy="2103120"/>
          </a:xfrm>
          <a:prstGeom prst="roundRect">
            <a:avLst>
              <a:gd name="adj" fmla="val 3478"/>
            </a:avLst>
          </a:prstGeom>
          <a:solidFill>
            <a:srgbClr val="F3F5F7"/>
          </a:solidFill>
          <a:ln w="12700">
            <a:solidFill>
              <a:srgbClr val="F3F5F7"/>
            </a:solidFill>
            <a:prstDash val="solid"/>
          </a:ln>
        </p:spPr>
      </p:sp>
      <p:sp>
        <p:nvSpPr>
          <p:cNvPr id="16" name="Badge"/>
          <p:cNvSpPr/>
          <p:nvPr/>
        </p:nvSpPr>
        <p:spPr>
          <a:xfrm>
            <a:off x="6461608" y="3977640"/>
            <a:ext cx="420624" cy="420624"/>
          </a:xfrm>
          <a:prstGeom prst="ellipse">
            <a:avLst/>
          </a:prstGeom>
          <a:solidFill>
            <a:srgbClr val="E4572E"/>
          </a:solidFill>
          <a:ln w="12700">
            <a:solidFill>
              <a:srgbClr val="E4572E"/>
            </a:solidFill>
            <a:prstDash val="solid"/>
          </a:ln>
        </p:spPr>
      </p:sp>
      <p:sp>
        <p:nvSpPr>
          <p:cNvPr id="17" name="Badge number"/>
          <p:cNvSpPr txBox="1"/>
          <p:nvPr/>
        </p:nvSpPr>
        <p:spPr>
          <a:xfrm>
            <a:off x="6461608" y="397764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8" name="Text 16"/>
          <p:cNvSpPr txBox="1"/>
          <p:nvPr/>
        </p:nvSpPr>
        <p:spPr>
          <a:xfrm>
            <a:off x="7055968" y="3931920"/>
            <a:ext cx="4358488" cy="1783080"/>
          </a:xfrm>
          <a:prstGeom prst="rect">
            <a:avLst/>
          </a:prstGeom>
          <a:noFill/>
          <a:ln/>
        </p:spPr>
        <p:txBody>
          <a:bodyPr wrap="square" lIns="0" tIns="0" rIns="0" bIns="0" rtlCol="0" anchor="t"/>
          <a:lstStyle/>
          <a:p>
            <a:pPr indent="0" marL="0">
              <a:spcAft>
                <a:spcPts val="600"/>
              </a:spcAft>
              <a:buNone/>
            </a:pPr>
            <a:r>
              <a:rPr lang="en-US" sz="1600" b="1" dirty="0">
                <a:solidFill>
                  <a:srgbClr val="16202C"/>
                </a:solidFill>
                <a:latin typeface="Calibri" pitchFamily="34" charset="0"/>
                <a:ea typeface="Calibri" pitchFamily="34" charset="-122"/>
                <a:cs typeface="Calibri" pitchFamily="34" charset="-120"/>
              </a:rPr>
              <a:t>Price image over price facts</a:t>
            </a:r>
            <a:endParaRPr lang="en-US" sz="1600" dirty="0"/>
          </a:p>
          <a:p>
            <a:pPr indent="0" marL="0">
              <a:spcAft>
                <a:spcPts val="600"/>
              </a:spcAft>
              <a:buNone/>
            </a:pPr>
            <a:r>
              <a:rPr lang="en-US" sz="1500" dirty="0">
                <a:solidFill>
                  <a:srgbClr val="4A5563"/>
                </a:solidFill>
                <a:latin typeface="Calibri" pitchFamily="34" charset="0"/>
                <a:ea typeface="Calibri" pitchFamily="34" charset="-122"/>
                <a:cs typeface="Calibri" pitchFamily="34" charset="-120"/>
              </a:rPr>
              <a:t>Few shoppers can compare 1,700 items; they rely on a banner's price image. Identical price points among conventional rivals blunt comparison shopping where it would matter most.</a:t>
            </a:r>
            <a:endParaRPr lang="en-US" sz="1600" dirty="0"/>
          </a:p>
        </p:txBody>
      </p:sp>
      <p:sp>
        <p:nvSpPr>
          <p:cNvPr id="19" name="Source"/>
          <p:cNvSpPr txBox="1"/>
          <p:nvPr/>
        </p:nvSpPr>
        <p:spPr>
          <a:xfrm>
            <a:off x="548640" y="6144768"/>
            <a:ext cx="11094415" cy="274320"/>
          </a:xfrm>
          <a:prstGeom prst="rect">
            <a:avLst/>
          </a:prstGeom>
          <a:noFill/>
          <a:ln/>
        </p:spPr>
        <p:txBody>
          <a:bodyPr wrap="square" lIns="0" tIns="0" rIns="0" bIns="0" rtlCol="0" anchor="ctr"/>
          <a:lstStyle/>
          <a:p>
            <a:pPr indent="0" marL="0">
              <a:buNone/>
            </a:pPr>
            <a:r>
              <a:rPr lang="en-US" sz="1000" dirty="0">
                <a:solidFill>
                  <a:srgbClr val="8A8F98"/>
                </a:solidFill>
                <a:latin typeface="Calibri" pitchFamily="34" charset="0"/>
                <a:ea typeface="Calibri" pitchFamily="34" charset="-122"/>
                <a:cs typeface="Calibri" pitchFamily="34" charset="-120"/>
              </a:rPr>
              <a:t>Interpretation of the price evidence through standard consumer-behaviour constructs; no shopper survey was conducted.</a:t>
            </a:r>
            <a:endParaRPr lang="en-US" sz="1000" dirty="0"/>
          </a:p>
        </p:txBody>
      </p:sp>
      <p:sp>
        <p:nvSpPr>
          <p:cNvPr id="25" name="Slide Number Placeholder 0"/>
          <p:cNvSpPr>
            <a:spLocks noGrp="1"/>
          </p:cNvSpPr>
          <p:nvPr>
            <p:ph type="sldNum" sz="quarter" idx="4294967295"/>
          </p:nvPr>
        </p:nvSpPr>
        <p:spPr>
          <a:xfrm>
            <a:off x="1118585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F9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960120"/>
          </a:xfrm>
          <a:prstGeom prst="rect">
            <a:avLst/>
          </a:prstGeom>
          <a:noFill/>
          <a:ln/>
        </p:spPr>
        <p:txBody>
          <a:bodyPr wrap="square" lIns="0" tIns="0" rIns="0" bIns="0" rtlCol="0" anchor="t"/>
          <a:lstStyle/>
          <a:p>
            <a:pPr algn="l" indent="0" marL="0">
              <a:buNone/>
            </a:pPr>
            <a:r>
              <a:rPr lang="en-US" sz="2800" b="1" dirty="0">
                <a:solidFill>
                  <a:srgbClr val="16202C"/>
                </a:solidFill>
                <a:latin typeface="Cambria" pitchFamily="34" charset="0"/>
                <a:ea typeface="Cambria" pitchFamily="34" charset="-122"/>
                <a:cs typeface="Cambria" pitchFamily="34" charset="-120"/>
              </a:rPr>
              <a:t>What each stakeholder should do with this</a:t>
            </a:r>
            <a:endParaRPr lang="en-US" sz="2800" dirty="0"/>
          </a:p>
        </p:txBody>
      </p:sp>
      <p:sp>
        <p:nvSpPr>
          <p:cNvPr id="3" name="Shape 1"/>
          <p:cNvSpPr/>
          <p:nvPr/>
        </p:nvSpPr>
        <p:spPr>
          <a:xfrm>
            <a:off x="548640" y="1463040"/>
            <a:ext cx="2636444" cy="4480560"/>
          </a:xfrm>
          <a:prstGeom prst="roundRect">
            <a:avLst>
              <a:gd name="adj" fmla="val 2775"/>
            </a:avLst>
          </a:prstGeom>
          <a:solidFill>
            <a:srgbClr val="F3F5F7"/>
          </a:solidFill>
          <a:ln w="12700">
            <a:solidFill>
              <a:srgbClr val="F3F5F7"/>
            </a:solidFill>
            <a:prstDash val="solid"/>
          </a:ln>
        </p:spPr>
      </p:sp>
      <p:sp>
        <p:nvSpPr>
          <p:cNvPr id="4" name="Shape 2"/>
          <p:cNvSpPr/>
          <p:nvPr/>
        </p:nvSpPr>
        <p:spPr>
          <a:xfrm>
            <a:off x="777240" y="1691640"/>
            <a:ext cx="365760" cy="365760"/>
          </a:xfrm>
          <a:prstGeom prst="ellipse">
            <a:avLst/>
          </a:prstGeom>
          <a:solidFill>
            <a:srgbClr val="1F3A5F"/>
          </a:solidFill>
          <a:ln w="12700">
            <a:solidFill>
              <a:srgbClr val="1F3A5F"/>
            </a:solidFill>
            <a:prstDash val="solid"/>
          </a:ln>
        </p:spPr>
      </p:sp>
      <p:sp>
        <p:nvSpPr>
          <p:cNvPr id="5" name="Text 3"/>
          <p:cNvSpPr txBox="1"/>
          <p:nvPr/>
        </p:nvSpPr>
        <p:spPr>
          <a:xfrm>
            <a:off x="777240" y="2148840"/>
            <a:ext cx="2179244" cy="731520"/>
          </a:xfrm>
          <a:prstGeom prst="rect">
            <a:avLst/>
          </a:prstGeom>
          <a:noFill/>
          <a:ln/>
        </p:spPr>
        <p:txBody>
          <a:bodyPr wrap="square" lIns="0" tIns="0" rIns="0" bIns="0" rtlCol="0" anchor="t"/>
          <a:lstStyle/>
          <a:p>
            <a:pPr indent="0" marL="0">
              <a:buNone/>
            </a:pPr>
            <a:r>
              <a:rPr lang="en-US" sz="1600" b="1" dirty="0">
                <a:solidFill>
                  <a:srgbClr val="16202C"/>
                </a:solidFill>
                <a:latin typeface="Calibri" pitchFamily="34" charset="0"/>
                <a:ea typeface="Calibri" pitchFamily="34" charset="-122"/>
                <a:cs typeface="Calibri" pitchFamily="34" charset="-120"/>
              </a:rPr>
              <a:t>Policymakers &amp; regulators</a:t>
            </a:r>
            <a:endParaRPr lang="en-US" sz="1600" dirty="0"/>
          </a:p>
        </p:txBody>
      </p:sp>
      <p:sp>
        <p:nvSpPr>
          <p:cNvPr id="6" name="Text 4"/>
          <p:cNvSpPr txBox="1"/>
          <p:nvPr/>
        </p:nvSpPr>
        <p:spPr>
          <a:xfrm>
            <a:off x="777240" y="2926080"/>
            <a:ext cx="2224964" cy="28346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4A5563"/>
                </a:solidFill>
                <a:latin typeface="Calibri" pitchFamily="34" charset="0"/>
                <a:ea typeface="Calibri" pitchFamily="34" charset="-122"/>
                <a:cs typeface="Calibri" pitchFamily="34" charset="-120"/>
              </a:rPr>
              <a:t>Assess concentration at parent level, not banner level</a:t>
            </a:r>
            <a:endParaRPr lang="en-US" sz="1400" dirty="0"/>
          </a:p>
          <a:p>
            <a:pPr marL="342900" indent="-342900">
              <a:spcAft>
                <a:spcPts val="800"/>
              </a:spcAft>
              <a:buSzPct val="100000"/>
              <a:buChar char="•"/>
            </a:pPr>
            <a:r>
              <a:rPr lang="en-US" sz="1400" dirty="0">
                <a:solidFill>
                  <a:srgbClr val="4A5563"/>
                </a:solidFill>
                <a:latin typeface="Calibri" pitchFamily="34" charset="0"/>
                <a:ea typeface="Calibri" pitchFamily="34" charset="-122"/>
                <a:cs typeface="Calibri" pitchFamily="34" charset="-120"/>
              </a:rPr>
              <a:t>Mandate comparable unit pricing and ‘was’-price rules</a:t>
            </a:r>
            <a:endParaRPr lang="en-US" sz="1400" dirty="0"/>
          </a:p>
          <a:p>
            <a:pPr marL="342900" indent="-342900">
              <a:spcAft>
                <a:spcPts val="800"/>
              </a:spcAft>
              <a:buSzPct val="100000"/>
              <a:buChar char="•"/>
            </a:pPr>
            <a:r>
              <a:rPr lang="en-US" sz="1400" dirty="0">
                <a:solidFill>
                  <a:srgbClr val="4A5563"/>
                </a:solidFill>
                <a:latin typeface="Calibri" pitchFamily="34" charset="0"/>
                <a:ea typeface="Calibri" pitchFamily="34" charset="-122"/>
                <a:cs typeface="Calibri" pitchFamily="34" charset="-120"/>
              </a:rPr>
              <a:t>Use open scrape data (like Project Hammer) for ongoing monitoring</a:t>
            </a:r>
            <a:endParaRPr lang="en-US" sz="1400" dirty="0"/>
          </a:p>
        </p:txBody>
      </p:sp>
      <p:sp>
        <p:nvSpPr>
          <p:cNvPr id="7" name="Shape 5"/>
          <p:cNvSpPr/>
          <p:nvPr/>
        </p:nvSpPr>
        <p:spPr>
          <a:xfrm>
            <a:off x="3367964" y="1463040"/>
            <a:ext cx="2636444" cy="4480560"/>
          </a:xfrm>
          <a:prstGeom prst="roundRect">
            <a:avLst>
              <a:gd name="adj" fmla="val 2775"/>
            </a:avLst>
          </a:prstGeom>
          <a:solidFill>
            <a:srgbClr val="F3F5F7"/>
          </a:solidFill>
          <a:ln w="12700">
            <a:solidFill>
              <a:srgbClr val="F3F5F7"/>
            </a:solidFill>
            <a:prstDash val="solid"/>
          </a:ln>
        </p:spPr>
      </p:sp>
      <p:sp>
        <p:nvSpPr>
          <p:cNvPr id="8" name="Shape 6"/>
          <p:cNvSpPr/>
          <p:nvPr/>
        </p:nvSpPr>
        <p:spPr>
          <a:xfrm>
            <a:off x="3596564" y="1691640"/>
            <a:ext cx="365760" cy="365760"/>
          </a:xfrm>
          <a:prstGeom prst="ellipse">
            <a:avLst/>
          </a:prstGeom>
          <a:solidFill>
            <a:srgbClr val="1BAF7A"/>
          </a:solidFill>
          <a:ln w="12700">
            <a:solidFill>
              <a:srgbClr val="1BAF7A"/>
            </a:solidFill>
            <a:prstDash val="solid"/>
          </a:ln>
        </p:spPr>
      </p:sp>
      <p:sp>
        <p:nvSpPr>
          <p:cNvPr id="9" name="Text 7"/>
          <p:cNvSpPr txBox="1"/>
          <p:nvPr/>
        </p:nvSpPr>
        <p:spPr>
          <a:xfrm>
            <a:off x="3596564" y="2148840"/>
            <a:ext cx="2179244" cy="731520"/>
          </a:xfrm>
          <a:prstGeom prst="rect">
            <a:avLst/>
          </a:prstGeom>
          <a:noFill/>
          <a:ln/>
        </p:spPr>
        <p:txBody>
          <a:bodyPr wrap="square" lIns="0" tIns="0" rIns="0" bIns="0" rtlCol="0" anchor="t"/>
          <a:lstStyle/>
          <a:p>
            <a:pPr indent="0" marL="0">
              <a:buNone/>
            </a:pPr>
            <a:r>
              <a:rPr lang="en-US" sz="1600" b="1" dirty="0">
                <a:solidFill>
                  <a:srgbClr val="16202C"/>
                </a:solidFill>
                <a:latin typeface="Calibri" pitchFamily="34" charset="0"/>
                <a:ea typeface="Calibri" pitchFamily="34" charset="-122"/>
                <a:cs typeface="Calibri" pitchFamily="34" charset="-120"/>
              </a:rPr>
              <a:t>Challengers &amp; independents</a:t>
            </a:r>
            <a:endParaRPr lang="en-US" sz="1600" dirty="0"/>
          </a:p>
        </p:txBody>
      </p:sp>
      <p:sp>
        <p:nvSpPr>
          <p:cNvPr id="10" name="Text 8"/>
          <p:cNvSpPr txBox="1"/>
          <p:nvPr/>
        </p:nvSpPr>
        <p:spPr>
          <a:xfrm>
            <a:off x="3596564" y="2926080"/>
            <a:ext cx="2224964" cy="28346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4A5563"/>
                </a:solidFill>
                <a:latin typeface="Calibri" pitchFamily="34" charset="0"/>
                <a:ea typeface="Calibri" pitchFamily="34" charset="-122"/>
                <a:cs typeface="Calibri" pitchFamily="34" charset="-120"/>
              </a:rPr>
              <a:t>Position against the conventional tier, where identical price points leave room</a:t>
            </a:r>
            <a:endParaRPr lang="en-US" sz="1400" dirty="0"/>
          </a:p>
          <a:p>
            <a:pPr marL="342900" indent="-342900">
              <a:spcAft>
                <a:spcPts val="800"/>
              </a:spcAft>
              <a:buSzPct val="100000"/>
              <a:buChar char="•"/>
            </a:pPr>
            <a:r>
              <a:rPr lang="en-US" sz="1400" dirty="0">
                <a:solidFill>
                  <a:srgbClr val="4A5563"/>
                </a:solidFill>
                <a:latin typeface="Calibri" pitchFamily="34" charset="0"/>
                <a:ea typeface="Calibri" pitchFamily="34" charset="-122"/>
                <a:cs typeface="Calibri" pitchFamily="34" charset="-120"/>
              </a:rPr>
              <a:t>Win on transparent everyday pricing rather than high-low</a:t>
            </a:r>
            <a:endParaRPr lang="en-US" sz="1400" dirty="0"/>
          </a:p>
          <a:p>
            <a:pPr marL="342900" indent="-342900">
              <a:spcAft>
                <a:spcPts val="800"/>
              </a:spcAft>
              <a:buSzPct val="100000"/>
              <a:buChar char="•"/>
            </a:pPr>
            <a:r>
              <a:rPr lang="en-US" sz="1400" dirty="0">
                <a:solidFill>
                  <a:srgbClr val="4A5563"/>
                </a:solidFill>
                <a:latin typeface="Calibri" pitchFamily="34" charset="0"/>
                <a:ea typeface="Calibri" pitchFamily="34" charset="-122"/>
                <a:cs typeface="Calibri" pitchFamily="34" charset="-120"/>
              </a:rPr>
              <a:t>Target categories with the widest banner premium</a:t>
            </a:r>
            <a:endParaRPr lang="en-US" sz="1400" dirty="0"/>
          </a:p>
        </p:txBody>
      </p:sp>
      <p:sp>
        <p:nvSpPr>
          <p:cNvPr id="11" name="Shape 9"/>
          <p:cNvSpPr/>
          <p:nvPr/>
        </p:nvSpPr>
        <p:spPr>
          <a:xfrm>
            <a:off x="6187288" y="1463040"/>
            <a:ext cx="2636444" cy="4480560"/>
          </a:xfrm>
          <a:prstGeom prst="roundRect">
            <a:avLst>
              <a:gd name="adj" fmla="val 2775"/>
            </a:avLst>
          </a:prstGeom>
          <a:solidFill>
            <a:srgbClr val="F3F5F7"/>
          </a:solidFill>
          <a:ln w="12700">
            <a:solidFill>
              <a:srgbClr val="F3F5F7"/>
            </a:solidFill>
            <a:prstDash val="solid"/>
          </a:ln>
        </p:spPr>
      </p:sp>
      <p:sp>
        <p:nvSpPr>
          <p:cNvPr id="12" name="Shape 10"/>
          <p:cNvSpPr/>
          <p:nvPr/>
        </p:nvSpPr>
        <p:spPr>
          <a:xfrm>
            <a:off x="6415888" y="1691640"/>
            <a:ext cx="365760" cy="365760"/>
          </a:xfrm>
          <a:prstGeom prst="ellipse">
            <a:avLst/>
          </a:prstGeom>
          <a:solidFill>
            <a:srgbClr val="EB6834"/>
          </a:solidFill>
          <a:ln w="12700">
            <a:solidFill>
              <a:srgbClr val="EB6834"/>
            </a:solidFill>
            <a:prstDash val="solid"/>
          </a:ln>
        </p:spPr>
      </p:sp>
      <p:sp>
        <p:nvSpPr>
          <p:cNvPr id="13" name="Text 11"/>
          <p:cNvSpPr txBox="1"/>
          <p:nvPr/>
        </p:nvSpPr>
        <p:spPr>
          <a:xfrm>
            <a:off x="6415888" y="2148840"/>
            <a:ext cx="2179244" cy="731520"/>
          </a:xfrm>
          <a:prstGeom prst="rect">
            <a:avLst/>
          </a:prstGeom>
          <a:noFill/>
          <a:ln/>
        </p:spPr>
        <p:txBody>
          <a:bodyPr wrap="square" lIns="0" tIns="0" rIns="0" bIns="0" rtlCol="0" anchor="t"/>
          <a:lstStyle/>
          <a:p>
            <a:pPr indent="0" marL="0">
              <a:buNone/>
            </a:pPr>
            <a:r>
              <a:rPr lang="en-US" sz="1600" b="1" dirty="0">
                <a:solidFill>
                  <a:srgbClr val="16202C"/>
                </a:solidFill>
                <a:latin typeface="Calibri" pitchFamily="34" charset="0"/>
                <a:ea typeface="Calibri" pitchFamily="34" charset="-122"/>
                <a:cs typeface="Calibri" pitchFamily="34" charset="-120"/>
              </a:rPr>
              <a:t>National-brand manufacturers</a:t>
            </a:r>
            <a:endParaRPr lang="en-US" sz="1600" dirty="0"/>
          </a:p>
        </p:txBody>
      </p:sp>
      <p:sp>
        <p:nvSpPr>
          <p:cNvPr id="14" name="Text 12"/>
          <p:cNvSpPr txBox="1"/>
          <p:nvPr/>
        </p:nvSpPr>
        <p:spPr>
          <a:xfrm>
            <a:off x="6415888" y="2926080"/>
            <a:ext cx="2224964" cy="28346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4A5563"/>
                </a:solidFill>
                <a:latin typeface="Calibri" pitchFamily="34" charset="0"/>
                <a:ea typeface="Calibri" pitchFamily="34" charset="-122"/>
                <a:cs typeface="Calibri" pitchFamily="34" charset="-120"/>
              </a:rPr>
              <a:t>Recognise suggested prices become shared focal points</a:t>
            </a:r>
            <a:endParaRPr lang="en-US" sz="1400" dirty="0"/>
          </a:p>
          <a:p>
            <a:pPr marL="342900" indent="-342900">
              <a:spcAft>
                <a:spcPts val="800"/>
              </a:spcAft>
              <a:buSzPct val="100000"/>
              <a:buChar char="•"/>
            </a:pPr>
            <a:r>
              <a:rPr lang="en-US" sz="1400" dirty="0">
                <a:solidFill>
                  <a:srgbClr val="4A5563"/>
                </a:solidFill>
                <a:latin typeface="Calibri" pitchFamily="34" charset="0"/>
                <a:ea typeface="Calibri" pitchFamily="34" charset="-122"/>
                <a:cs typeface="Calibri" pitchFamily="34" charset="-120"/>
              </a:rPr>
              <a:t>Balance trade spend across tiers, not just banners</a:t>
            </a:r>
            <a:endParaRPr lang="en-US" sz="1400" dirty="0"/>
          </a:p>
          <a:p>
            <a:pPr marL="342900" indent="-342900">
              <a:spcAft>
                <a:spcPts val="800"/>
              </a:spcAft>
              <a:buSzPct val="100000"/>
              <a:buChar char="•"/>
            </a:pPr>
            <a:r>
              <a:rPr lang="en-US" sz="1400" dirty="0">
                <a:solidFill>
                  <a:srgbClr val="4A5563"/>
                </a:solidFill>
                <a:latin typeface="Calibri" pitchFamily="34" charset="0"/>
                <a:ea typeface="Calibri" pitchFamily="34" charset="-122"/>
                <a:cs typeface="Calibri" pitchFamily="34" charset="-120"/>
              </a:rPr>
              <a:t>Watch private-label promotion share</a:t>
            </a:r>
            <a:endParaRPr lang="en-US" sz="1400" dirty="0"/>
          </a:p>
        </p:txBody>
      </p:sp>
      <p:sp>
        <p:nvSpPr>
          <p:cNvPr id="15" name="Shape 13"/>
          <p:cNvSpPr/>
          <p:nvPr/>
        </p:nvSpPr>
        <p:spPr>
          <a:xfrm>
            <a:off x="9006611" y="1463040"/>
            <a:ext cx="2636444" cy="4480560"/>
          </a:xfrm>
          <a:prstGeom prst="roundRect">
            <a:avLst>
              <a:gd name="adj" fmla="val 2775"/>
            </a:avLst>
          </a:prstGeom>
          <a:solidFill>
            <a:srgbClr val="F3F5F7"/>
          </a:solidFill>
          <a:ln w="12700">
            <a:solidFill>
              <a:srgbClr val="F3F5F7"/>
            </a:solidFill>
            <a:prstDash val="solid"/>
          </a:ln>
        </p:spPr>
      </p:sp>
      <p:sp>
        <p:nvSpPr>
          <p:cNvPr id="16" name="Shape 14"/>
          <p:cNvSpPr/>
          <p:nvPr/>
        </p:nvSpPr>
        <p:spPr>
          <a:xfrm>
            <a:off x="9235211" y="1691640"/>
            <a:ext cx="365760" cy="365760"/>
          </a:xfrm>
          <a:prstGeom prst="ellipse">
            <a:avLst/>
          </a:prstGeom>
          <a:solidFill>
            <a:srgbClr val="E4572E"/>
          </a:solidFill>
          <a:ln w="12700">
            <a:solidFill>
              <a:srgbClr val="E4572E"/>
            </a:solidFill>
            <a:prstDash val="solid"/>
          </a:ln>
        </p:spPr>
      </p:sp>
      <p:sp>
        <p:nvSpPr>
          <p:cNvPr id="17" name="Text 15"/>
          <p:cNvSpPr txBox="1"/>
          <p:nvPr/>
        </p:nvSpPr>
        <p:spPr>
          <a:xfrm>
            <a:off x="9235211" y="2148840"/>
            <a:ext cx="2179244" cy="731520"/>
          </a:xfrm>
          <a:prstGeom prst="rect">
            <a:avLst/>
          </a:prstGeom>
          <a:noFill/>
          <a:ln/>
        </p:spPr>
        <p:txBody>
          <a:bodyPr wrap="square" lIns="0" tIns="0" rIns="0" bIns="0" rtlCol="0" anchor="t"/>
          <a:lstStyle/>
          <a:p>
            <a:pPr indent="0" marL="0">
              <a:buNone/>
            </a:pPr>
            <a:r>
              <a:rPr lang="en-US" sz="1600" b="1" dirty="0">
                <a:solidFill>
                  <a:srgbClr val="16202C"/>
                </a:solidFill>
                <a:latin typeface="Calibri" pitchFamily="34" charset="0"/>
                <a:ea typeface="Calibri" pitchFamily="34" charset="-122"/>
                <a:cs typeface="Calibri" pitchFamily="34" charset="-120"/>
              </a:rPr>
              <a:t>Shoppers</a:t>
            </a:r>
            <a:endParaRPr lang="en-US" sz="1600" dirty="0"/>
          </a:p>
        </p:txBody>
      </p:sp>
      <p:sp>
        <p:nvSpPr>
          <p:cNvPr id="18" name="Text 16"/>
          <p:cNvSpPr txBox="1"/>
          <p:nvPr/>
        </p:nvSpPr>
        <p:spPr>
          <a:xfrm>
            <a:off x="9235211" y="2926080"/>
            <a:ext cx="2224964" cy="283464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4A5563"/>
                </a:solidFill>
                <a:latin typeface="Calibri" pitchFamily="34" charset="0"/>
                <a:ea typeface="Calibri" pitchFamily="34" charset="-122"/>
                <a:cs typeface="Calibri" pitchFamily="34" charset="-120"/>
              </a:rPr>
              <a:t>Compare across owners, not just banners</a:t>
            </a:r>
            <a:endParaRPr lang="en-US" sz="1400" dirty="0"/>
          </a:p>
          <a:p>
            <a:pPr marL="342900" indent="-342900">
              <a:spcAft>
                <a:spcPts val="800"/>
              </a:spcAft>
              <a:buSzPct val="100000"/>
              <a:buChar char="•"/>
            </a:pPr>
            <a:r>
              <a:rPr lang="en-US" sz="1400" dirty="0">
                <a:solidFill>
                  <a:srgbClr val="4A5563"/>
                </a:solidFill>
                <a:latin typeface="Calibri" pitchFamily="34" charset="0"/>
                <a:ea typeface="Calibri" pitchFamily="34" charset="-122"/>
                <a:cs typeface="Calibri" pitchFamily="34" charset="-120"/>
              </a:rPr>
              <a:t>Treat ‘was’ prices as anchors, not savings</a:t>
            </a:r>
            <a:endParaRPr lang="en-US" sz="1400" dirty="0"/>
          </a:p>
          <a:p>
            <a:pPr marL="342900" indent="-342900">
              <a:spcAft>
                <a:spcPts val="800"/>
              </a:spcAft>
              <a:buSzPct val="100000"/>
              <a:buChar char="•"/>
            </a:pPr>
            <a:r>
              <a:rPr lang="en-US" sz="1400" dirty="0">
                <a:solidFill>
                  <a:srgbClr val="4A5563"/>
                </a:solidFill>
                <a:latin typeface="Calibri" pitchFamily="34" charset="0"/>
                <a:ea typeface="Calibri" pitchFamily="34" charset="-122"/>
                <a:cs typeface="Calibri" pitchFamily="34" charset="-120"/>
              </a:rPr>
              <a:t>The same SKU costs a median 13% more at Loblaws than at No Frills</a:t>
            </a:r>
            <a:endParaRPr lang="en-US" sz="1400" dirty="0"/>
          </a:p>
        </p:txBody>
      </p:sp>
      <p:sp>
        <p:nvSpPr>
          <p:cNvPr id="19" name="Source"/>
          <p:cNvSpPr txBox="1"/>
          <p:nvPr/>
        </p:nvSpPr>
        <p:spPr>
          <a:xfrm>
            <a:off x="548640" y="6144768"/>
            <a:ext cx="11094415" cy="274320"/>
          </a:xfrm>
          <a:prstGeom prst="rect">
            <a:avLst/>
          </a:prstGeom>
          <a:noFill/>
          <a:ln/>
        </p:spPr>
        <p:txBody>
          <a:bodyPr wrap="square" lIns="0" tIns="0" rIns="0" bIns="0" rtlCol="0" anchor="ctr"/>
          <a:lstStyle/>
          <a:p>
            <a:pPr indent="0" marL="0">
              <a:buNone/>
            </a:pPr>
            <a:r>
              <a:rPr lang="en-US" sz="1000" dirty="0">
                <a:solidFill>
                  <a:srgbClr val="8A8F98"/>
                </a:solidFill>
                <a:latin typeface="Calibri" pitchFamily="34" charset="0"/>
                <a:ea typeface="Calibri" pitchFamily="34" charset="-122"/>
                <a:cs typeface="Calibri" pitchFamily="34" charset="-120"/>
              </a:rPr>
              <a:t>Recommendations are the author's interpretation of the evidence in this deck.</a:t>
            </a:r>
            <a:endParaRPr lang="en-US" sz="1000" dirty="0"/>
          </a:p>
        </p:txBody>
      </p:sp>
      <p:sp>
        <p:nvSpPr>
          <p:cNvPr id="25" name="Slide Number Placeholder 0"/>
          <p:cNvSpPr>
            <a:spLocks noGrp="1"/>
          </p:cNvSpPr>
          <p:nvPr>
            <p:ph type="sldNum" sz="quarter" idx="4294967295"/>
          </p:nvPr>
        </p:nvSpPr>
        <p:spPr>
          <a:xfrm>
            <a:off x="1118585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F9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960120"/>
          </a:xfrm>
          <a:prstGeom prst="rect">
            <a:avLst/>
          </a:prstGeom>
          <a:noFill/>
          <a:ln/>
        </p:spPr>
        <p:txBody>
          <a:bodyPr wrap="square" lIns="0" tIns="0" rIns="0" bIns="0" rtlCol="0" anchor="t"/>
          <a:lstStyle/>
          <a:p>
            <a:pPr algn="l" indent="0" marL="0">
              <a:buNone/>
            </a:pPr>
            <a:r>
              <a:rPr lang="en-US" sz="2800" b="1" dirty="0">
                <a:solidFill>
                  <a:srgbClr val="16202C"/>
                </a:solidFill>
                <a:latin typeface="Cambria" pitchFamily="34" charset="0"/>
                <a:ea typeface="Cambria" pitchFamily="34" charset="-122"/>
                <a:cs typeface="Cambria" pitchFamily="34" charset="-120"/>
              </a:rPr>
              <a:t>Limits of the evidence and how to extend it</a:t>
            </a:r>
            <a:endParaRPr lang="en-US" sz="2800" dirty="0"/>
          </a:p>
        </p:txBody>
      </p:sp>
      <p:sp>
        <p:nvSpPr>
          <p:cNvPr id="3" name="Text 1"/>
          <p:cNvSpPr txBox="1"/>
          <p:nvPr/>
        </p:nvSpPr>
        <p:spPr>
          <a:xfrm>
            <a:off x="548640" y="1463040"/>
            <a:ext cx="5303520" cy="457200"/>
          </a:xfrm>
          <a:prstGeom prst="rect">
            <a:avLst/>
          </a:prstGeom>
          <a:noFill/>
          <a:ln/>
        </p:spPr>
        <p:txBody>
          <a:bodyPr wrap="square" lIns="0" tIns="0" rIns="0" bIns="0" rtlCol="0" anchor="ctr"/>
          <a:lstStyle/>
          <a:p>
            <a:pPr indent="0" marL="0">
              <a:buNone/>
            </a:pPr>
            <a:r>
              <a:rPr lang="en-US" sz="1800" b="1" dirty="0">
                <a:solidFill>
                  <a:srgbClr val="16202C"/>
                </a:solidFill>
                <a:latin typeface="Calibri" pitchFamily="34" charset="0"/>
                <a:ea typeface="Calibri" pitchFamily="34" charset="-122"/>
                <a:cs typeface="Calibri" pitchFamily="34" charset="-120"/>
              </a:rPr>
              <a:t>Limits</a:t>
            </a:r>
            <a:endParaRPr lang="en-US" sz="1800" dirty="0"/>
          </a:p>
        </p:txBody>
      </p:sp>
      <p:sp>
        <p:nvSpPr>
          <p:cNvPr id="4" name="Text 2"/>
          <p:cNvSpPr txBox="1"/>
          <p:nvPr/>
        </p:nvSpPr>
        <p:spPr>
          <a:xfrm>
            <a:off x="548640" y="2011680"/>
            <a:ext cx="5303520" cy="393192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4A5563"/>
                </a:solidFill>
                <a:latin typeface="Calibri" pitchFamily="34" charset="0"/>
                <a:ea typeface="Calibri" pitchFamily="34" charset="-122"/>
                <a:cs typeface="Calibri" pitchFamily="34" charset="-120"/>
              </a:rPr>
              <a:t>Online pickup prices for one Toronto neighbourhood — not every store, region or in-store price</a:t>
            </a:r>
            <a:endParaRPr lang="en-US" sz="1500" dirty="0"/>
          </a:p>
          <a:p>
            <a:pPr marL="342900" indent="-342900">
              <a:spcAft>
                <a:spcPts val="1000"/>
              </a:spcAft>
              <a:buSzPct val="100000"/>
              <a:buChar char="•"/>
            </a:pPr>
            <a:r>
              <a:rPr lang="en-US" sz="1500" dirty="0">
                <a:solidFill>
                  <a:srgbClr val="4A5563"/>
                </a:solidFill>
                <a:latin typeface="Calibri" pitchFamily="34" charset="0"/>
                <a:ea typeface="Calibri" pitchFamily="34" charset="-122"/>
                <a:cs typeface="Calibri" pitchFamily="34" charset="-120"/>
              </a:rPr>
              <a:t>No cost or volume data: margins and market shares are not observed</a:t>
            </a:r>
            <a:endParaRPr lang="en-US" sz="1500" dirty="0"/>
          </a:p>
          <a:p>
            <a:pPr marL="342900" indent="-342900">
              <a:spcAft>
                <a:spcPts val="1000"/>
              </a:spcAft>
              <a:buSzPct val="100000"/>
              <a:buChar char="•"/>
            </a:pPr>
            <a:r>
              <a:rPr lang="en-US" sz="1500" dirty="0">
                <a:solidFill>
                  <a:srgbClr val="4A5563"/>
                </a:solidFill>
                <a:latin typeface="Calibri" pitchFamily="34" charset="0"/>
                <a:ea typeface="Calibri" pitchFamily="34" charset="-122"/>
                <a:cs typeface="Calibri" pitchFamily="34" charset="-120"/>
              </a:rPr>
              <a:t>Synchronised or identical prices ≠ collusion; common supplier costs and suggested prices also explain them</a:t>
            </a:r>
            <a:endParaRPr lang="en-US" sz="1500" dirty="0"/>
          </a:p>
          <a:p>
            <a:pPr marL="342900" indent="-342900">
              <a:spcAft>
                <a:spcPts val="1000"/>
              </a:spcAft>
              <a:buSzPct val="100000"/>
              <a:buChar char="•"/>
            </a:pPr>
            <a:r>
              <a:rPr lang="en-US" sz="1500" dirty="0">
                <a:solidFill>
                  <a:srgbClr val="4A5563"/>
                </a:solidFill>
                <a:latin typeface="Calibri" pitchFamily="34" charset="0"/>
                <a:ea typeface="Calibri" pitchFamily="34" charset="-122"/>
                <a:cs typeface="Calibri" pitchFamily="34" charset="-120"/>
              </a:rPr>
              <a:t>UPC matching for Loblaw banners was fuzzy in the source; sanity checks applied, some error remains</a:t>
            </a:r>
            <a:endParaRPr lang="en-US" sz="1500" dirty="0"/>
          </a:p>
          <a:p>
            <a:pPr marL="342900" indent="-342900">
              <a:spcAft>
                <a:spcPts val="1000"/>
              </a:spcAft>
              <a:buSzPct val="100000"/>
              <a:buChar char="•"/>
            </a:pPr>
            <a:r>
              <a:rPr lang="en-US" sz="1500" dirty="0">
                <a:solidFill>
                  <a:srgbClr val="4A5563"/>
                </a:solidFill>
                <a:latin typeface="Calibri" pitchFamily="34" charset="0"/>
                <a:ea typeface="Calibri" pitchFamily="34" charset="-122"/>
                <a:cs typeface="Calibri" pitchFamily="34" charset="-120"/>
              </a:rPr>
              <a:t>Food Basics, FreshCo, Sobeys stores and Costco are not in the scrape</a:t>
            </a:r>
            <a:endParaRPr lang="en-US" sz="1500" dirty="0"/>
          </a:p>
        </p:txBody>
      </p:sp>
      <p:sp>
        <p:nvSpPr>
          <p:cNvPr id="5" name="Text 3"/>
          <p:cNvSpPr txBox="1"/>
          <p:nvPr/>
        </p:nvSpPr>
        <p:spPr>
          <a:xfrm>
            <a:off x="6309360" y="1463040"/>
            <a:ext cx="5303520" cy="457200"/>
          </a:xfrm>
          <a:prstGeom prst="rect">
            <a:avLst/>
          </a:prstGeom>
          <a:noFill/>
          <a:ln/>
        </p:spPr>
        <p:txBody>
          <a:bodyPr wrap="square" lIns="0" tIns="0" rIns="0" bIns="0" rtlCol="0" anchor="ctr"/>
          <a:lstStyle/>
          <a:p>
            <a:pPr indent="0" marL="0">
              <a:buNone/>
            </a:pPr>
            <a:r>
              <a:rPr lang="en-US" sz="1800" b="1" dirty="0">
                <a:solidFill>
                  <a:srgbClr val="E4572E"/>
                </a:solidFill>
                <a:latin typeface="Calibri" pitchFamily="34" charset="0"/>
                <a:ea typeface="Calibri" pitchFamily="34" charset="-122"/>
                <a:cs typeface="Calibri" pitchFamily="34" charset="-120"/>
              </a:rPr>
              <a:t>Next steps</a:t>
            </a:r>
            <a:endParaRPr lang="en-US" sz="1800" dirty="0"/>
          </a:p>
        </p:txBody>
      </p:sp>
      <p:sp>
        <p:nvSpPr>
          <p:cNvPr id="6" name="Text 4"/>
          <p:cNvSpPr txBox="1"/>
          <p:nvPr/>
        </p:nvSpPr>
        <p:spPr>
          <a:xfrm>
            <a:off x="6309360" y="2011680"/>
            <a:ext cx="5303520" cy="393192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4A5563"/>
                </a:solidFill>
                <a:latin typeface="Calibri" pitchFamily="34" charset="0"/>
                <a:ea typeface="Calibri" pitchFamily="34" charset="-122"/>
                <a:cs typeface="Calibri" pitchFamily="34" charset="-120"/>
              </a:rPr>
              <a:t>Add a shopper survey: awareness of banner ownership, perceived price image, trade-down paths</a:t>
            </a:r>
            <a:endParaRPr lang="en-US" sz="1500" dirty="0"/>
          </a:p>
          <a:p>
            <a:pPr marL="342900" indent="-342900">
              <a:spcAft>
                <a:spcPts val="1000"/>
              </a:spcAft>
              <a:buSzPct val="100000"/>
              <a:buChar char="•"/>
            </a:pPr>
            <a:r>
              <a:rPr lang="en-US" sz="1500" dirty="0">
                <a:solidFill>
                  <a:srgbClr val="4A5563"/>
                </a:solidFill>
                <a:latin typeface="Calibri" pitchFamily="34" charset="0"/>
                <a:ea typeface="Calibri" pitchFamily="34" charset="-122"/>
                <a:cs typeface="Calibri" pitchFamily="34" charset="-120"/>
              </a:rPr>
              <a:t>Link to supplier list-price changes to separate cost pass-through from strategic moves</a:t>
            </a:r>
            <a:endParaRPr lang="en-US" sz="1500" dirty="0"/>
          </a:p>
          <a:p>
            <a:pPr marL="342900" indent="-342900">
              <a:spcAft>
                <a:spcPts val="1000"/>
              </a:spcAft>
              <a:buSzPct val="100000"/>
              <a:buChar char="•"/>
            </a:pPr>
            <a:r>
              <a:rPr lang="en-US" sz="1500" dirty="0">
                <a:solidFill>
                  <a:srgbClr val="4A5563"/>
                </a:solidFill>
                <a:latin typeface="Calibri" pitchFamily="34" charset="0"/>
                <a:ea typeface="Calibri" pitchFamily="34" charset="-122"/>
                <a:cs typeface="Calibri" pitchFamily="34" charset="-120"/>
              </a:rPr>
              <a:t>Extend to the Empire and Metro discount banners as data allow</a:t>
            </a:r>
            <a:endParaRPr lang="en-US" sz="1500" dirty="0"/>
          </a:p>
          <a:p>
            <a:pPr marL="342900" indent="-342900">
              <a:spcAft>
                <a:spcPts val="1000"/>
              </a:spcAft>
              <a:buSzPct val="100000"/>
              <a:buChar char="•"/>
            </a:pPr>
            <a:r>
              <a:rPr lang="en-US" sz="1500" dirty="0">
                <a:solidFill>
                  <a:srgbClr val="4A5563"/>
                </a:solidFill>
                <a:latin typeface="Calibri" pitchFamily="34" charset="0"/>
                <a:ea typeface="Calibri" pitchFamily="34" charset="-122"/>
                <a:cs typeface="Calibri" pitchFamily="34" charset="-120"/>
              </a:rPr>
              <a:t>Track the Grocery Code of Conduct and unit-pricing changes as natural experiments</a:t>
            </a:r>
            <a:endParaRPr lang="en-US" sz="1500" dirty="0"/>
          </a:p>
        </p:txBody>
      </p:sp>
      <p:sp>
        <p:nvSpPr>
          <p:cNvPr id="7" name="Source"/>
          <p:cNvSpPr txBox="1"/>
          <p:nvPr/>
        </p:nvSpPr>
        <p:spPr>
          <a:xfrm>
            <a:off x="548640" y="6144768"/>
            <a:ext cx="11094415" cy="274320"/>
          </a:xfrm>
          <a:prstGeom prst="rect">
            <a:avLst/>
          </a:prstGeom>
          <a:noFill/>
          <a:ln/>
        </p:spPr>
        <p:txBody>
          <a:bodyPr wrap="square" lIns="0" tIns="0" rIns="0" bIns="0" rtlCol="0" anchor="ctr"/>
          <a:lstStyle/>
          <a:p>
            <a:pPr indent="0" marL="0">
              <a:buNone/>
            </a:pPr>
            <a:r>
              <a:rPr lang="en-US" sz="1000" dirty="0">
                <a:solidFill>
                  <a:srgbClr val="8A8F98"/>
                </a:solidFill>
                <a:latin typeface="Calibri" pitchFamily="34" charset="0"/>
                <a:ea typeface="Calibri" pitchFamily="34" charset="-122"/>
                <a:cs typeface="Calibri" pitchFamily="34" charset="-120"/>
              </a:rPr>
              <a:t>See README and memo for full methodology and data definitions.</a:t>
            </a:r>
            <a:endParaRPr lang="en-US" sz="1000" dirty="0"/>
          </a:p>
        </p:txBody>
      </p:sp>
      <p:sp>
        <p:nvSpPr>
          <p:cNvPr id="25" name="Slide Number Placeholder 0"/>
          <p:cNvSpPr>
            <a:spLocks noGrp="1"/>
          </p:cNvSpPr>
          <p:nvPr>
            <p:ph type="sldNum" sz="quarter" idx="4294967295"/>
          </p:nvPr>
        </p:nvSpPr>
        <p:spPr>
          <a:xfrm>
            <a:off x="1118585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F9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2377440"/>
            <a:ext cx="11094415" cy="1097280"/>
          </a:xfrm>
          <a:prstGeom prst="rect">
            <a:avLst/>
          </a:prstGeom>
          <a:noFill/>
          <a:ln/>
        </p:spPr>
        <p:txBody>
          <a:bodyPr wrap="square" lIns="0" tIns="0" rIns="0" bIns="0" rtlCol="0"/>
          <a:lstStyle/>
          <a:p>
            <a:pPr algn="l" indent="0" marL="0">
              <a:buNone/>
            </a:pPr>
            <a:r>
              <a:rPr lang="en-US" sz="4000" b="1" dirty="0">
                <a:solidFill>
                  <a:srgbClr val="FFFFFF"/>
                </a:solidFill>
                <a:latin typeface="Cambria" pitchFamily="34" charset="0"/>
                <a:ea typeface="Cambria" pitchFamily="34" charset="-122"/>
                <a:cs typeface="Cambria" pitchFamily="34" charset="-120"/>
              </a:rPr>
              <a:t>The shelf is a portfolio, not a marketplace</a:t>
            </a:r>
            <a:endParaRPr lang="en-US" sz="4000" dirty="0"/>
          </a:p>
        </p:txBody>
      </p:sp>
      <p:sp>
        <p:nvSpPr>
          <p:cNvPr id="3" name="Text 0"/>
          <p:cNvSpPr/>
          <p:nvPr>
            <p:ph idx="101" type="body" hasCustomPrompt="1"/>
          </p:nvPr>
        </p:nvSpPr>
        <p:spPr>
          <a:xfrm>
            <a:off x="548640" y="3566160"/>
            <a:ext cx="11094415" cy="914400"/>
          </a:xfrm>
          <a:prstGeom prst="rect">
            <a:avLst/>
          </a:prstGeom>
          <a:noFill/>
          <a:ln/>
        </p:spPr>
        <p:txBody>
          <a:bodyPr wrap="square" lIns="0" tIns="0" rIns="0" bIns="0" rtlCol="0"/>
          <a:lstStyle/>
          <a:p>
            <a:pPr algn="l" indent="0" marL="0">
              <a:buNone/>
            </a:pPr>
            <a:r>
              <a:rPr lang="en-US" sz="1800" dirty="0">
                <a:solidFill>
                  <a:srgbClr val="C9D4E3"/>
                </a:solidFill>
                <a:latin typeface="Calibri" pitchFamily="34" charset="0"/>
                <a:ea typeface="Calibri" pitchFamily="34" charset="-122"/>
                <a:cs typeface="Calibri" pitchFamily="34" charset="-120"/>
              </a:rPr>
              <a:t>Premium banners protect margin, discount banners defend volume, and rival conventional banners share price points — so the shopper's real choice is a tier, not a competitor.</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960120"/>
          </a:xfrm>
          <a:prstGeom prst="rect">
            <a:avLst/>
          </a:prstGeom>
          <a:noFill/>
          <a:ln/>
        </p:spPr>
        <p:txBody>
          <a:bodyPr wrap="square" lIns="0" tIns="0" rIns="0" bIns="0" rtlCol="0" anchor="t"/>
          <a:lstStyle/>
          <a:p>
            <a:pPr algn="l" indent="0" marL="0">
              <a:buNone/>
            </a:pPr>
            <a:r>
              <a:rPr lang="en-US" sz="2800" b="1" dirty="0">
                <a:solidFill>
                  <a:srgbClr val="16202C"/>
                </a:solidFill>
                <a:latin typeface="Cambria" pitchFamily="34" charset="0"/>
                <a:ea typeface="Cambria" pitchFamily="34" charset="-122"/>
                <a:cs typeface="Cambria" pitchFamily="34" charset="-120"/>
              </a:rPr>
              <a:t>Sources and definitions</a:t>
            </a:r>
            <a:endParaRPr lang="en-US" sz="2800" dirty="0"/>
          </a:p>
        </p:txBody>
      </p:sp>
      <p:sp>
        <p:nvSpPr>
          <p:cNvPr id="3" name="Text 1"/>
          <p:cNvSpPr txBox="1"/>
          <p:nvPr/>
        </p:nvSpPr>
        <p:spPr>
          <a:xfrm>
            <a:off x="548640" y="1463040"/>
            <a:ext cx="11094415" cy="448056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4A5563"/>
                </a:solidFill>
                <a:latin typeface="Calibri" pitchFamily="34" charset="0"/>
                <a:ea typeface="Calibri" pitchFamily="34" charset="-122"/>
                <a:cs typeface="Calibri" pitchFamily="34" charset="-120"/>
              </a:rPr>
              <a:t>Filipp, J. Project Hammer: Canadian grocery price data (2024–2026). jacobfilipp.com/hammer · projecthammer.org</a:t>
            </a:r>
            <a:endParaRPr lang="en-US" sz="1400" dirty="0"/>
          </a:p>
          <a:p>
            <a:pPr marL="342900" indent="-342900">
              <a:spcAft>
                <a:spcPts val="1000"/>
              </a:spcAft>
              <a:buSzPct val="100000"/>
              <a:buChar char="•"/>
            </a:pPr>
            <a:r>
              <a:rPr lang="en-US" sz="1400" dirty="0">
                <a:solidFill>
                  <a:srgbClr val="4A5563"/>
                </a:solidFill>
                <a:latin typeface="Calibri" pitchFamily="34" charset="0"/>
                <a:ea typeface="Calibri" pitchFamily="34" charset="-122"/>
                <a:cs typeface="Calibri" pitchFamily="34" charset="-120"/>
              </a:rPr>
              <a:t>Statistics Canada. Table 18-10-0004-01, Consumer Price Index, monthly, not seasonally adjusted. doi.org/10.25318/1810000401-eng</a:t>
            </a:r>
            <a:endParaRPr lang="en-US" sz="1400" dirty="0"/>
          </a:p>
          <a:p>
            <a:pPr marL="342900" indent="-342900">
              <a:spcAft>
                <a:spcPts val="1000"/>
              </a:spcAft>
              <a:buSzPct val="100000"/>
              <a:buChar char="•"/>
            </a:pPr>
            <a:r>
              <a:rPr lang="en-US" sz="1400" dirty="0">
                <a:solidFill>
                  <a:srgbClr val="4A5563"/>
                </a:solidFill>
                <a:latin typeface="Calibri" pitchFamily="34" charset="0"/>
                <a:ea typeface="Calibri" pitchFamily="34" charset="-122"/>
                <a:cs typeface="Calibri" pitchFamily="34" charset="-120"/>
              </a:rPr>
              <a:t>Statistics Canada. Table 18-10-0245-01, Monthly average retail prices for selected products. doi.org/10.25318/1810024501-eng</a:t>
            </a:r>
            <a:endParaRPr lang="en-US" sz="1400" dirty="0"/>
          </a:p>
          <a:p>
            <a:pPr marL="342900" indent="-342900">
              <a:spcAft>
                <a:spcPts val="1000"/>
              </a:spcAft>
              <a:buSzPct val="100000"/>
              <a:buChar char="•"/>
            </a:pPr>
            <a:r>
              <a:rPr lang="en-US" sz="1400" dirty="0">
                <a:solidFill>
                  <a:srgbClr val="4A5563"/>
                </a:solidFill>
                <a:latin typeface="Calibri" pitchFamily="34" charset="0"/>
                <a:ea typeface="Calibri" pitchFamily="34" charset="-122"/>
                <a:cs typeface="Calibri" pitchFamily="34" charset="-120"/>
              </a:rPr>
              <a:t>Competition Bureau Canada (2023). Canada needs more grocery competition: Retail Grocery Market Study Report.</a:t>
            </a:r>
            <a:endParaRPr lang="en-US" sz="1400" dirty="0"/>
          </a:p>
          <a:p>
            <a:pPr marL="342900" indent="-342900">
              <a:spcAft>
                <a:spcPts val="1000"/>
              </a:spcAft>
              <a:buSzPct val="100000"/>
              <a:buChar char="•"/>
            </a:pPr>
            <a:r>
              <a:rPr lang="en-US" sz="1400" dirty="0">
                <a:solidFill>
                  <a:srgbClr val="4A5563"/>
                </a:solidFill>
                <a:latin typeface="Calibri" pitchFamily="34" charset="0"/>
                <a:ea typeface="Calibri" pitchFamily="34" charset="-122"/>
                <a:cs typeface="Calibri" pitchFamily="34" charset="-120"/>
              </a:rPr>
              <a:t>Nakamura, E. &amp; Steinsson, J. (2008). Five facts about prices. Quarterly Journal of Economics — basis for the temporary-sale filter.</a:t>
            </a:r>
            <a:endParaRPr lang="en-US" sz="1400" dirty="0"/>
          </a:p>
          <a:p>
            <a:pPr marL="342900" indent="-342900">
              <a:spcAft>
                <a:spcPts val="1000"/>
              </a:spcAft>
              <a:buSzPct val="100000"/>
              <a:buChar char="•"/>
            </a:pPr>
            <a:r>
              <a:rPr lang="en-US" sz="1400" dirty="0">
                <a:solidFill>
                  <a:srgbClr val="4A5563"/>
                </a:solidFill>
                <a:latin typeface="Calibri" pitchFamily="34" charset="0"/>
                <a:ea typeface="Calibri" pitchFamily="34" charset="-122"/>
                <a:cs typeface="Calibri" pitchFamily="34" charset="-120"/>
              </a:rPr>
              <a:t>Regular price: shelf price without promotion (or the 'was' price when promoted). Persistent change: not reversed within 14 days.</a:t>
            </a:r>
            <a:endParaRPr lang="en-US" sz="1400" dirty="0"/>
          </a:p>
          <a:p>
            <a:pPr marL="342900" indent="-342900">
              <a:spcAft>
                <a:spcPts val="1000"/>
              </a:spcAft>
              <a:buSzPct val="100000"/>
              <a:buChar char="•"/>
            </a:pPr>
            <a:r>
              <a:rPr lang="en-US" sz="1400" dirty="0">
                <a:solidFill>
                  <a:srgbClr val="4A5563"/>
                </a:solidFill>
                <a:latin typeface="Calibri" pitchFamily="34" charset="0"/>
                <a:ea typeface="Calibri" pitchFamily="34" charset="-122"/>
                <a:cs typeface="Calibri" pitchFamily="34" charset="-120"/>
              </a:rPr>
              <a:t>Synchronisation lift: matched-change rate ÷ placebo rate with dates shifted ±2–6 months. Index: geometric mean on identical UPC basket.</a:t>
            </a:r>
            <a:endParaRPr lang="en-US" sz="1400" dirty="0"/>
          </a:p>
        </p:txBody>
      </p:sp>
      <p:sp>
        <p:nvSpPr>
          <p:cNvPr id="25" name="Slide Number Placeholder 0"/>
          <p:cNvSpPr>
            <a:spLocks noGrp="1"/>
          </p:cNvSpPr>
          <p:nvPr>
            <p:ph type="sldNum" sz="quarter" idx="4294967295"/>
          </p:nvPr>
        </p:nvSpPr>
        <p:spPr>
          <a:xfrm>
            <a:off x="11185855" y="6473952"/>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F9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Same Owner, Different Shelf</dc:title>
  <dc:subject>Consumer-behaviour perspective on Canada's grocery oligopoly</dc:subject>
  <dc:creator>Independent research project</dc:creator>
  <cp:lastModifiedBy>Independent research project</cp:lastModifiedBy>
  <cp:revision>1</cp:revision>
  <dcterms:created xsi:type="dcterms:W3CDTF">2026-10-13T04:48:40Z</dcterms:created>
  <dcterms:modified xsi:type="dcterms:W3CDTF">2026-10-13T04:48:40Z</dcterms:modified>
</cp:coreProperties>
</file>